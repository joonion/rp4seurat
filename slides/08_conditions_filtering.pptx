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Relationship Id="rId2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조건식과 데이터 필터링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QC 기준으로 분석할 세포 선택하기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8회차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비교 연산자와 논리 연산자로 필터 조건을 작성할 수 있다.</a:t>
            </a:r>
          </a:p>
          <a:p>
            <a:pPr lvl="0" indent="-457200" marL="457200">
              <a:buAutoNum type="arabicPeriod"/>
            </a:pPr>
            <a:r>
              <a:rPr/>
              <a:t>여러 QC 기준을 하나의 논리식으로 결합할 수 있다.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subset()</a:t>
            </a:r>
            <a:r>
              <a:rPr/>
              <a:t>을 사용해 조건을 만족하는 세포를 선택할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1회차의 QC 필터를 해체합니다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subset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subset =</a:t>
            </a:r>
            <a:r>
              <a:rPr>
                <a:solidFill>
                  <a:srgbClr val="003B4F"/>
                </a:solidFill>
                <a:latin typeface="Consolas"/>
              </a:rPr>
              <a:t> 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nFeature_RNA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 가지 질문에 모두 </a:t>
            </a:r>
            <a:r>
              <a:rPr>
                <a:latin typeface="Consolas"/>
              </a:rPr>
              <a:t>TRUE</a:t>
            </a:r>
            <a:r>
              <a:rPr/>
              <a:t>인 세포만 남깁니다.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비교 연산자는 logical 값을 만듭니다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초과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nFeature_RNA &gt; 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&lt;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미만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percent.mt &lt; 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&gt;=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nCount_RNA &gt;= 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&lt;=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percent.mt &lt;= 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같음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sample == "control"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!=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같지 않음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cluster != "Doublet"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=와 ==는 역할이 다릅니다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sample &lt;- </a:t>
            </a:r>
            <a:r>
              <a:rPr>
                <a:solidFill>
                  <a:srgbClr val="20794D"/>
                </a:solidFill>
                <a:latin typeface="Consolas"/>
              </a:rPr>
              <a:t>"control"</a:t>
            </a:r>
            <a:r>
              <a:rPr>
                <a:solidFill>
                  <a:srgbClr val="003B4F"/>
                </a:solidFill>
                <a:latin typeface="Consolas"/>
              </a:rPr>
              <a:t>       </a:t>
            </a:r>
            <a:r>
              <a:rPr>
                <a:solidFill>
                  <a:srgbClr val="5E5E5E"/>
                </a:solidFill>
                <a:latin typeface="Consolas"/>
              </a:rPr>
              <a:t># 값을 저장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sample </a:t>
            </a:r>
            <a:r>
              <a:rPr>
                <a:solidFill>
                  <a:srgbClr val="5E5E5E"/>
                </a:solidFill>
                <a:latin typeface="Consolas"/>
              </a:rPr>
              <a:t>==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"control"</a:t>
            </a:r>
            <a:r>
              <a:rPr>
                <a:solidFill>
                  <a:srgbClr val="003B4F"/>
                </a:solidFill>
                <a:latin typeface="Consolas"/>
              </a:rPr>
              <a:t>       </a:t>
            </a:r>
            <a:r>
              <a:rPr>
                <a:solidFill>
                  <a:srgbClr val="5E5E5E"/>
                </a:solidFill>
                <a:latin typeface="Consolas"/>
              </a:rPr>
              <a:t># 같은지 비교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data &lt;- </a:t>
            </a:r>
            <a:r>
              <a:rPr>
                <a:solidFill>
                  <a:srgbClr val="4758AB"/>
                </a:solidFill>
                <a:latin typeface="Consolas"/>
              </a:rPr>
              <a:t>data.frame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sample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"control"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"treatment"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"control"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value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(dplyr)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dplyr</a:t>
            </a:r>
            <a:r>
              <a:rPr>
                <a:solidFill>
                  <a:srgbClr val="5E5E5E"/>
                </a:solidFill>
                <a:latin typeface="Consolas"/>
              </a:rPr>
              <a:t>::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(data, </a:t>
            </a:r>
            <a:r>
              <a:rPr>
                <a:solidFill>
                  <a:srgbClr val="657422"/>
                </a:solidFill>
                <a:latin typeface="Consolas"/>
              </a:rPr>
              <a:t>sample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"control"</a:t>
            </a:r>
            <a:r>
              <a:rPr>
                <a:solidFill>
                  <a:srgbClr val="003B4F"/>
                </a:solidFill>
                <a:latin typeface="Consolas"/>
              </a:rPr>
              <a:t>)   </a:t>
            </a:r>
            <a:r>
              <a:rPr>
                <a:solidFill>
                  <a:srgbClr val="5E5E5E"/>
                </a:solidFill>
                <a:latin typeface="Consolas"/>
              </a:rPr>
              <a:t># 잘못된 비교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dplyr</a:t>
            </a:r>
            <a:r>
              <a:rPr>
                <a:solidFill>
                  <a:srgbClr val="5E5E5E"/>
                </a:solidFill>
                <a:latin typeface="Consolas"/>
              </a:rPr>
              <a:t>::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(data, sample </a:t>
            </a:r>
            <a:r>
              <a:rPr>
                <a:solidFill>
                  <a:srgbClr val="5E5E5E"/>
                </a:solidFill>
                <a:latin typeface="Consolas"/>
              </a:rPr>
              <a:t>==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"control"</a:t>
            </a:r>
            <a:r>
              <a:rPr>
                <a:solidFill>
                  <a:srgbClr val="003B4F"/>
                </a:solidFill>
                <a:latin typeface="Consolas"/>
              </a:rPr>
              <a:t>)  </a:t>
            </a:r>
            <a:r>
              <a:rPr>
                <a:solidFill>
                  <a:srgbClr val="5E5E5E"/>
                </a:solidFill>
                <a:latin typeface="Consolas"/>
              </a:rPr>
              <a:t># 올바른 비교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=</a:t>
            </a:r>
            <a:r>
              <a:rPr/>
              <a:t>는 주로 함수 인자에 값을 전달할 때 사용합니다.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&amp;는 두 조건을 모두 만족해야 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n_feature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150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600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1200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2800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n_feature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r>
              <a:rPr>
                <a:solidFill>
                  <a:srgbClr val="003B4F"/>
                </a:solidFill>
                <a:latin typeface="Consolas"/>
              </a:rPr>
              <a:t> n_feature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QC에서 허용 범위의 아래쪽과 위쪽을 동시에 적용할 때 사용합니다.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|는 둘 중 하나를 만족하면 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cluster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"B"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"Mono"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"T"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cluster </a:t>
            </a:r>
            <a:r>
              <a:rPr>
                <a:solidFill>
                  <a:srgbClr val="5E5E5E"/>
                </a:solidFill>
                <a:latin typeface="Consolas"/>
              </a:rPr>
              <a:t>==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"B"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|</a:t>
            </a:r>
            <a:r>
              <a:rPr>
                <a:solidFill>
                  <a:srgbClr val="003B4F"/>
                </a:solidFill>
                <a:latin typeface="Consolas"/>
              </a:rPr>
              <a:t> cluster </a:t>
            </a:r>
            <a:r>
              <a:rPr>
                <a:solidFill>
                  <a:srgbClr val="5E5E5E"/>
                </a:solidFill>
                <a:latin typeface="Consolas"/>
              </a:rPr>
              <a:t>==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"NK"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cluster </a:t>
            </a:r>
            <a:r>
              <a:rPr>
                <a:solidFill>
                  <a:srgbClr val="5E5E5E"/>
                </a:solidFill>
                <a:latin typeface="Consolas"/>
              </a:rPr>
              <a:t>%in%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"B"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값 중 하나를 선택할 때 </a:t>
            </a:r>
            <a:r>
              <a:rPr>
                <a:latin typeface="Consolas"/>
              </a:rPr>
              <a:t>%in%</a:t>
            </a:r>
            <a:r>
              <a:rPr/>
              <a:t>이 더 읽기 쉽습니다.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!는 조건을 반대로 바꿉니다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is.na</a:t>
            </a:r>
            <a:r>
              <a:rPr>
                <a:solidFill>
                  <a:srgbClr val="003B4F"/>
                </a:solidFill>
                <a:latin typeface="Consolas"/>
              </a:rPr>
              <a:t>(percent_mt)</a:t>
            </a:r>
            <a:br/>
            <a:r>
              <a:rPr>
                <a:solidFill>
                  <a:srgbClr val="5E5E5E"/>
                </a:solidFill>
                <a:latin typeface="Consolas"/>
              </a:rPr>
              <a:t>!</a:t>
            </a:r>
            <a:r>
              <a:rPr>
                <a:solidFill>
                  <a:srgbClr val="4758AB"/>
                </a:solidFill>
                <a:latin typeface="Consolas"/>
              </a:rPr>
              <a:t>is.na</a:t>
            </a:r>
            <a:r>
              <a:rPr>
                <a:solidFill>
                  <a:srgbClr val="003B4F"/>
                </a:solidFill>
                <a:latin typeface="Consolas"/>
              </a:rPr>
              <a:t>(percent_mt)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cluster </a:t>
            </a:r>
            <a:r>
              <a:rPr>
                <a:solidFill>
                  <a:srgbClr val="5E5E5E"/>
                </a:solidFill>
                <a:latin typeface="Consolas"/>
              </a:rPr>
              <a:t>%in%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"Doublet"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"LowQuality"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5E5E5E"/>
                </a:solidFill>
                <a:latin typeface="Consolas"/>
              </a:rPr>
              <a:t>!</a:t>
            </a:r>
            <a:r>
              <a:rPr>
                <a:solidFill>
                  <a:srgbClr val="003B4F"/>
                </a:solidFill>
                <a:latin typeface="Consolas"/>
              </a:rPr>
              <a:t>(cluster </a:t>
            </a:r>
            <a:r>
              <a:rPr>
                <a:solidFill>
                  <a:srgbClr val="5E5E5E"/>
                </a:solidFill>
                <a:latin typeface="Consolas"/>
              </a:rPr>
              <a:t>%in%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"Doublet"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"LowQuality"</a:t>
            </a:r>
            <a:r>
              <a:rPr>
                <a:solidFill>
                  <a:srgbClr val="003B4F"/>
                </a:solidFill>
                <a:latin typeface="Consolas"/>
              </a:rPr>
              <a:t>))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제외할 대상을 정의한 뒤 반대로 뒤집을 수 있습니다.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괄호로 조건의 의미를 분명하게 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keep &lt;-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nFeature_RNA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keep &lt;- sample </a:t>
            </a:r>
            <a:r>
              <a:rPr>
                <a:solidFill>
                  <a:srgbClr val="5E5E5E"/>
                </a:solidFill>
                <a:latin typeface="Consolas"/>
              </a:rPr>
              <a:t>==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"control"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(cluster </a:t>
            </a:r>
            <a:r>
              <a:rPr>
                <a:solidFill>
                  <a:srgbClr val="5E5E5E"/>
                </a:solidFill>
                <a:latin typeface="Consolas"/>
              </a:rPr>
              <a:t>==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"B"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|</a:t>
            </a:r>
            <a:r>
              <a:rPr>
                <a:solidFill>
                  <a:srgbClr val="003B4F"/>
                </a:solidFill>
                <a:latin typeface="Consolas"/>
              </a:rPr>
              <a:t> cluster </a:t>
            </a:r>
            <a:r>
              <a:rPr>
                <a:solidFill>
                  <a:srgbClr val="5E5E5E"/>
                </a:solidFill>
                <a:latin typeface="Consolas"/>
              </a:rPr>
              <a:t>==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"NK"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복잡한 조건은 계산 우선순위에 의존하지 말고 괄호를 사용합니다.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logical 인덱싱으로 행을 필터링합니다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keep &lt;- 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nFeature_RNA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filtered_meta &lt;- cell_meta[keep, ]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(keep)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nrow</a:t>
            </a:r>
            <a:r>
              <a:rPr>
                <a:solidFill>
                  <a:srgbClr val="003B4F"/>
                </a:solidFill>
                <a:latin typeface="Consolas"/>
              </a:rPr>
              <a:t>(filtered_meta)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필터 전후 세포 수를 항상 기록합니다.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subset()으로 데이터 프레임을 필터링합니다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filtered_meta &lt;- </a:t>
            </a:r>
            <a:r>
              <a:rPr>
                <a:solidFill>
                  <a:srgbClr val="4758AB"/>
                </a:solidFill>
                <a:latin typeface="Consolas"/>
              </a:rPr>
              <a:t>subset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cell_meta,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nFeature_RNA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간결하지만 열 이름을 자동으로 찾는 규칙을 이해해야 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Seurat의 subset()은 객체 전체를 함께 줄입니다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pbmc.filtered &lt;- </a:t>
            </a:r>
            <a:r>
              <a:rPr>
                <a:solidFill>
                  <a:srgbClr val="4758AB"/>
                </a:solidFill>
                <a:latin typeface="Consolas"/>
              </a:rPr>
              <a:t>subset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subset =</a:t>
            </a:r>
            <a:r>
              <a:rPr>
                <a:solidFill>
                  <a:srgbClr val="003B4F"/>
                </a:solidFill>
                <a:latin typeface="Consolas"/>
              </a:rPr>
              <a:t> 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nFeature_RNA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 matrix, metadata 등 세포와 연결된 구성 요소가 함께 필터링됩니다.</a:t>
            </a:r>
          </a:p>
          <a:p>
            <a:pPr lvl="0" indent="0" marL="0">
              <a:buNone/>
            </a:pPr>
            <a:r>
              <a:rPr/>
              <a:t>원본과 비교하려면 새 객체 이름에 저장할 수 있습니다.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유전자 또는 identity도 선택할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pbmc.cd3 &lt;- </a:t>
            </a:r>
            <a:r>
              <a:rPr>
                <a:solidFill>
                  <a:srgbClr val="4758AB"/>
                </a:solidFill>
                <a:latin typeface="Consolas"/>
              </a:rPr>
              <a:t>subset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subset =</a:t>
            </a:r>
            <a:r>
              <a:rPr>
                <a:solidFill>
                  <a:srgbClr val="003B4F"/>
                </a:solidFill>
                <a:latin typeface="Consolas"/>
              </a:rPr>
              <a:t> CD3D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b_cells &lt;- </a:t>
            </a:r>
            <a:r>
              <a:rPr>
                <a:solidFill>
                  <a:srgbClr val="4758AB"/>
                </a:solidFill>
                <a:latin typeface="Consolas"/>
              </a:rPr>
              <a:t>subset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idents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"B"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어떤 값과 layer를 기준으로 선택하는지 명확히 기록합니다.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if는 하나의 상황에 따라 흐름을 결정합니다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cell_count &lt;- </a:t>
            </a:r>
            <a:r>
              <a:rPr>
                <a:solidFill>
                  <a:srgbClr val="4758AB"/>
                </a:solidFill>
                <a:latin typeface="Consolas"/>
              </a:rPr>
              <a:t>ncol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br/>
            <a:r>
              <a:rPr b="1">
                <a:solidFill>
                  <a:srgbClr val="003B4F"/>
                </a:solidFill>
                <a:latin typeface="Consolas"/>
              </a:rPr>
              <a:t>if</a:t>
            </a:r>
            <a:r>
              <a:rPr>
                <a:solidFill>
                  <a:srgbClr val="003B4F"/>
                </a:solidFill>
                <a:latin typeface="Consolas"/>
              </a:rPr>
              <a:t> (cell_count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1000</a:t>
            </a:r>
            <a:r>
              <a:rPr>
                <a:solidFill>
                  <a:srgbClr val="003B4F"/>
                </a:solidFill>
                <a:latin typeface="Consolas"/>
              </a:rPr>
              <a:t>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message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"세포 수가 적습니다."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 </a:t>
            </a:r>
            <a:r>
              <a:rPr b="1">
                <a:solidFill>
                  <a:srgbClr val="003B4F"/>
                </a:solidFill>
                <a:latin typeface="Consolas"/>
              </a:rPr>
              <a:t>else</a:t>
            </a:r>
            <a:r>
              <a:rPr>
                <a:solidFill>
                  <a:srgbClr val="003B4F"/>
                </a:solidFill>
                <a:latin typeface="Consolas"/>
              </a:rPr>
              <a:t>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message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"분석을 계속합니다."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 전체 필터링에는 </a:t>
            </a:r>
            <a:r>
              <a:rPr>
                <a:latin typeface="Consolas"/>
              </a:rPr>
              <a:t>if</a:t>
            </a:r>
            <a:r>
              <a:rPr/>
              <a:t>보다 logical 인덱싱을 사용합니다.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if는 길이 1인 조건을 기대합니다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percent_mt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6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 b="1">
                <a:solidFill>
                  <a:srgbClr val="003B4F"/>
                </a:solidFill>
                <a:latin typeface="Consolas"/>
              </a:rPr>
              <a:t>if</a:t>
            </a:r>
            <a:r>
              <a:rPr>
                <a:solidFill>
                  <a:srgbClr val="003B4F"/>
                </a:solidFill>
                <a:latin typeface="Consolas"/>
              </a:rPr>
              <a:t> (percent_mt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print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"pass"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pass_qc &lt;- percent_mt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세포를 판정하려면 다음처럼 벡터화된 조건을 만듭니다.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NA가 조건에 포함되면 결과도 NA입니다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percent_mt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8F5902"/>
                </a:solidFill>
                <a:latin typeface="Consolas"/>
              </a:rPr>
              <a:t>NA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6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percent_mt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keep &lt;- </a:t>
            </a:r>
            <a:r>
              <a:rPr>
                <a:solidFill>
                  <a:srgbClr val="5E5E5E"/>
                </a:solidFill>
                <a:latin typeface="Consolas"/>
              </a:rPr>
              <a:t>!</a:t>
            </a:r>
            <a:r>
              <a:rPr>
                <a:solidFill>
                  <a:srgbClr val="4758AB"/>
                </a:solidFill>
                <a:latin typeface="Consolas"/>
              </a:rPr>
              <a:t>is.na</a:t>
            </a:r>
            <a:r>
              <a:rPr>
                <a:solidFill>
                  <a:srgbClr val="003B4F"/>
                </a:solidFill>
                <a:latin typeface="Consolas"/>
              </a:rPr>
              <a:t>(percent_mt)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r>
              <a:rPr>
                <a:solidFill>
                  <a:srgbClr val="003B4F"/>
                </a:solidFill>
                <a:latin typeface="Consolas"/>
              </a:rPr>
              <a:t> percent_mt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 세포를 제거할지, 원인을 확인할지 분석 계획에 따라 결정합니다.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필터 결과를 검증합니다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before &lt;- </a:t>
            </a:r>
            <a:r>
              <a:rPr>
                <a:solidFill>
                  <a:srgbClr val="4758AB"/>
                </a:solidFill>
                <a:latin typeface="Consolas"/>
              </a:rPr>
              <a:t>ncol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after &lt;- </a:t>
            </a:r>
            <a:r>
              <a:rPr>
                <a:solidFill>
                  <a:srgbClr val="4758AB"/>
                </a:solidFill>
                <a:latin typeface="Consolas"/>
              </a:rPr>
              <a:t>ncol</a:t>
            </a:r>
            <a:r>
              <a:rPr>
                <a:solidFill>
                  <a:srgbClr val="003B4F"/>
                </a:solidFill>
                <a:latin typeface="Consolas"/>
              </a:rPr>
              <a:t>(pbmc.filtered)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before =</a:t>
            </a:r>
            <a:r>
              <a:rPr>
                <a:solidFill>
                  <a:srgbClr val="003B4F"/>
                </a:solidFill>
                <a:latin typeface="Consolas"/>
              </a:rPr>
              <a:t> before, </a:t>
            </a:r>
            <a:r>
              <a:rPr>
                <a:solidFill>
                  <a:srgbClr val="657422"/>
                </a:solidFill>
                <a:latin typeface="Consolas"/>
              </a:rPr>
              <a:t>after =</a:t>
            </a:r>
            <a:r>
              <a:rPr>
                <a:solidFill>
                  <a:srgbClr val="003B4F"/>
                </a:solidFill>
                <a:latin typeface="Consolas"/>
              </a:rPr>
              <a:t> after, </a:t>
            </a:r>
            <a:r>
              <a:rPr>
                <a:solidFill>
                  <a:srgbClr val="657422"/>
                </a:solidFill>
                <a:latin typeface="Consolas"/>
              </a:rPr>
              <a:t>removed =</a:t>
            </a:r>
            <a:r>
              <a:rPr>
                <a:solidFill>
                  <a:srgbClr val="003B4F"/>
                </a:solidFill>
                <a:latin typeface="Consolas"/>
              </a:rPr>
              <a:t> before </a:t>
            </a:r>
            <a:r>
              <a:rPr>
                <a:solidFill>
                  <a:srgbClr val="5E5E5E"/>
                </a:solidFill>
                <a:latin typeface="Consolas"/>
              </a:rPr>
              <a:t>-</a:t>
            </a:r>
            <a:r>
              <a:rPr>
                <a:solidFill>
                  <a:srgbClr val="003B4F"/>
                </a:solidFill>
                <a:latin typeface="Consolas"/>
              </a:rPr>
              <a:t> after)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summary</a:t>
            </a:r>
            <a:r>
              <a:rPr>
                <a:solidFill>
                  <a:srgbClr val="003B4F"/>
                </a:solidFill>
                <a:latin typeface="Consolas"/>
              </a:rPr>
              <a:t>(pbmc.filtered</a:t>
            </a:r>
            <a:r>
              <a:rPr>
                <a:solidFill>
                  <a:srgbClr val="5E5E5E"/>
                </a:solidFill>
                <a:latin typeface="Consolas"/>
              </a:rPr>
              <a:t>@</a:t>
            </a:r>
            <a:r>
              <a:rPr>
                <a:solidFill>
                  <a:srgbClr val="003B4F"/>
                </a:solidFill>
                <a:latin typeface="Consolas"/>
              </a:rPr>
              <a:t>meta.data)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남은 세포 수</a:t>
            </a:r>
          </a:p>
          <a:p>
            <a:pPr lvl="0"/>
            <a:r>
              <a:rPr/>
              <a:t>제외된 비율</a:t>
            </a:r>
          </a:p>
          <a:p>
            <a:pPr lvl="0"/>
            <a:r>
              <a:rPr/>
              <a:t>필터 후 QC 분포</a:t>
            </a:r>
          </a:p>
          <a:p>
            <a:pPr lvl="0"/>
            <a:r>
              <a:rPr/>
              <a:t>특정 샘플이 과도하게 제거되지 않았는지 확인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1: QC 조건 단계별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enough_features &lt;- 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not_too_many &lt;- 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nFeature_RNA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low_mito &lt;- cell_meta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각 조건을 별도 객체로 만든 뒤 결합하세요.</a:t>
            </a:r>
          </a:p>
          <a:p>
            <a:pPr lvl="0" indent="0" marL="0">
              <a:buNone/>
            </a:pPr>
            <a:r>
              <a:rPr/>
              <a:t>각 조건과 최종 조건의 </a:t>
            </a:r>
            <a:r>
              <a:rPr>
                <a:latin typeface="Consolas"/>
              </a:rPr>
              <a:t>table()</a:t>
            </a:r>
            <a:r>
              <a:rPr/>
              <a:t> 결과를 비교하세요.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2: 기준 변화 비교하기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strict &lt;- 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r>
              <a:rPr>
                <a:solidFill>
                  <a:srgbClr val="003B4F"/>
                </a:solidFill>
                <a:latin typeface="Consolas"/>
              </a:rPr>
              <a:t> 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lenient &lt;- 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r>
              <a:rPr>
                <a:solidFill>
                  <a:srgbClr val="003B4F"/>
                </a:solidFill>
                <a:latin typeface="Consolas"/>
              </a:rPr>
              <a:t> 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두 기준으로 남는 세포 수를 비교하세요.</a:t>
            </a:r>
          </a:p>
          <a:p>
            <a:pPr lvl="0" indent="0" marL="0">
              <a:buNone/>
            </a:pPr>
            <a:r>
              <a:rPr/>
              <a:t>어느 조건 때문에 차이가 생겼는지 QC 분포를 이용해 설명하세요.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핵심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비교 연산은 세포별 logical 값을 만듭니다.</a:t>
            </a:r>
          </a:p>
          <a:p>
            <a:pPr lvl="0"/>
            <a:r>
              <a:rPr>
                <a:latin typeface="Consolas"/>
              </a:rPr>
              <a:t>&amp;</a:t>
            </a:r>
            <a:r>
              <a:rPr/>
              <a:t>는 모두, </a:t>
            </a:r>
            <a:r>
              <a:rPr>
                <a:latin typeface="Consolas"/>
              </a:rPr>
              <a:t>|</a:t>
            </a:r>
            <a:r>
              <a:rPr/>
              <a:t>는 하나 이상, </a:t>
            </a:r>
            <a:r>
              <a:rPr>
                <a:latin typeface="Consolas"/>
              </a:rPr>
              <a:t>!</a:t>
            </a:r>
            <a:r>
              <a:rPr/>
              <a:t>는 반대를 뜻합니다.</a:t>
            </a:r>
          </a:p>
          <a:p>
            <a:pPr lvl="0"/>
            <a:r>
              <a:rPr/>
              <a:t>괄호로 복잡한 조건의 의미를 명확히 합니다.</a:t>
            </a:r>
          </a:p>
          <a:p>
            <a:pPr lvl="0"/>
            <a:r>
              <a:rPr/>
              <a:t>Seurat의 </a:t>
            </a:r>
            <a:r>
              <a:rPr>
                <a:latin typeface="Consolas"/>
              </a:rPr>
              <a:t>subset()</a:t>
            </a:r>
            <a:r>
              <a:rPr/>
              <a:t>은 객체의 연결된 정보를 함께 필터링합니다.</a:t>
            </a:r>
          </a:p>
          <a:p>
            <a:pPr lvl="0"/>
            <a:r>
              <a:rPr/>
              <a:t>필터 전후 세포 수와 분포를 반드시 비교합니다.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nsolas"/>
              </a:rPr>
              <a:t>=</a:t>
            </a:r>
            <a:r>
              <a:rPr/>
              <a:t>와 </a:t>
            </a:r>
            <a:r>
              <a:rPr>
                <a:latin typeface="Consolas"/>
              </a:rPr>
              <a:t>==</a:t>
            </a:r>
            <a:r>
              <a:rPr/>
              <a:t>는 어떻게 다른가요?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&amp;</a:t>
            </a:r>
            <a:r>
              <a:rPr/>
              <a:t>와 </a:t>
            </a:r>
            <a:r>
              <a:rPr>
                <a:latin typeface="Consolas"/>
              </a:rPr>
              <a:t>|</a:t>
            </a:r>
            <a:r>
              <a:rPr/>
              <a:t>는 어떤 상황에서 사용하나요?</a:t>
            </a:r>
          </a:p>
          <a:p>
            <a:pPr lvl="0" indent="-457200" marL="457200">
              <a:buAutoNum type="arabicPeriod"/>
            </a:pPr>
            <a:r>
              <a:rPr/>
              <a:t>여러 세포를 필터링할 때 </a:t>
            </a:r>
            <a:r>
              <a:rPr>
                <a:latin typeface="Consolas"/>
              </a:rPr>
              <a:t>if</a:t>
            </a:r>
            <a:r>
              <a:rPr/>
              <a:t>보다 logical 벡터가 적합한 이유는 무엇인가요?</a:t>
            </a:r>
          </a:p>
          <a:p>
            <a:pPr lvl="0" indent="-457200" marL="457200">
              <a:buAutoNum type="arabicPeriod"/>
            </a:pPr>
            <a:r>
              <a:rPr/>
              <a:t>QC 필터 적용 후 무엇을 검증해야 하나요?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필터링된 Seurat 객체 안에는 count, metadata, PCA, UMAP 등 여러 종류의 정보가 함께 저장됩니다.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조건식과 데이터 필터링</dc:title>
  <dc:creator>8회차</dc:creator>
  <cp:keywords/>
  <dcterms:created xsi:type="dcterms:W3CDTF">2026-07-13T14:36:57Z</dcterms:created>
  <dcterms:modified xsi:type="dcterms:W3CDTF">2026-07-13T14:36:57Z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QC 기준으로 분석할 세포 선택하기</vt:lpwstr>
  </property>
  <property fmtid="{D5CDD505-2E9C-101B-9397-08002B2CF9AE}" pid="10" name="toc-title">
    <vt:lpwstr>목차</vt:lpwstr>
  </property>
</Properties>
</file>