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Relationship Id="rId23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행렬과 희소 행렬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유전자 × 세포 count matrix 이해하기</a:t>
            </a:r>
          </a:p>
        </p:txBody>
      </p:sp>
      <p:sp>
        <p:nvSpPr>
          <p:cNvPr id="4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6회차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행렬의 행, 열, 차원과 이름을 확인할 수 있다.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[행, 열]</a:t>
            </a:r>
            <a:r>
              <a:rPr/>
              <a:t> 인덱싱으로 원하는 유전자와 세포를 선택할 수 있다.</a:t>
            </a:r>
          </a:p>
          <a:p>
            <a:pPr lvl="0" indent="-457200" marL="457200">
              <a:buAutoNum type="arabicPeriod"/>
            </a:pPr>
            <a:r>
              <a:rPr/>
              <a:t>단일세포 count matrix가 희소 행렬로 저장되는 이유를 설명할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1회차 분석의 출발점은 행렬입니다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pbmc.data &lt;- </a:t>
            </a:r>
            <a:r>
              <a:rPr>
                <a:solidFill>
                  <a:srgbClr val="4758AB"/>
                </a:solidFill>
                <a:latin typeface="Consolas"/>
              </a:rPr>
              <a:t>Read10X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data.dir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"data/pbmc3k/"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pbmc.data[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"CD3D"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"TCL1A"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),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행: 유전자 또는 feature</a:t>
            </a:r>
          </a:p>
          <a:p>
            <a:pPr lvl="0"/>
            <a:r>
              <a:rPr/>
              <a:t>열: 세포 barcode</a:t>
            </a:r>
          </a:p>
          <a:p>
            <a:pPr lvl="0"/>
            <a:r>
              <a:rPr/>
              <a:t>값: UMI count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행렬은 같은 자료형의 2차원 구조입니다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counts &lt;- </a:t>
            </a:r>
            <a:r>
              <a:rPr>
                <a:solidFill>
                  <a:srgbClr val="4758AB"/>
                </a:solidFill>
                <a:latin typeface="Consolas"/>
              </a:rPr>
              <a:t>matrix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4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6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nrow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ncol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counts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벡터에 행과 열 차원을 부여한 구조로 생각할 수 있습니다.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차원을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dim</a:t>
            </a:r>
            <a:r>
              <a:rPr>
                <a:solidFill>
                  <a:srgbClr val="003B4F"/>
                </a:solidFill>
                <a:latin typeface="Consolas"/>
              </a:rPr>
              <a:t>(counts)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nrow</a:t>
            </a:r>
            <a:r>
              <a:rPr>
                <a:solidFill>
                  <a:srgbClr val="003B4F"/>
                </a:solidFill>
                <a:latin typeface="Consolas"/>
              </a:rPr>
              <a:t>(counts)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ncol</a:t>
            </a:r>
            <a:r>
              <a:rPr>
                <a:solidFill>
                  <a:srgbClr val="003B4F"/>
                </a:solidFill>
                <a:latin typeface="Consolas"/>
              </a:rPr>
              <a:t>(counts)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length</a:t>
            </a:r>
            <a:r>
              <a:rPr>
                <a:solidFill>
                  <a:srgbClr val="003B4F"/>
                </a:solidFill>
                <a:latin typeface="Consolas"/>
              </a:rPr>
              <a:t>(counts)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dim()</a:t>
            </a:r>
            <a:r>
              <a:rPr/>
              <a:t>: 행 수와 열 수</a:t>
            </a:r>
          </a:p>
          <a:p>
            <a:pPr lvl="0"/>
            <a:r>
              <a:rPr>
                <a:latin typeface="Consolas"/>
              </a:rPr>
              <a:t>nrow()</a:t>
            </a:r>
            <a:r>
              <a:rPr/>
              <a:t>: 행 수</a:t>
            </a:r>
          </a:p>
          <a:p>
            <a:pPr lvl="0"/>
            <a:r>
              <a:rPr>
                <a:latin typeface="Consolas"/>
              </a:rPr>
              <a:t>ncol()</a:t>
            </a:r>
            <a:r>
              <a:rPr/>
              <a:t>: 열 수</a:t>
            </a:r>
          </a:p>
          <a:p>
            <a:pPr lvl="0"/>
            <a:r>
              <a:rPr>
                <a:latin typeface="Consolas"/>
              </a:rPr>
              <a:t>length()</a:t>
            </a:r>
            <a:r>
              <a:rPr/>
              <a:t>: 전체 원소 수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행과 열에 이름을 붙입니다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rownames</a:t>
            </a:r>
            <a:r>
              <a:rPr>
                <a:solidFill>
                  <a:srgbClr val="003B4F"/>
                </a:solidFill>
                <a:latin typeface="Consolas"/>
              </a:rPr>
              <a:t>(counts)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"CD3D"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colnames</a:t>
            </a:r>
            <a:r>
              <a:rPr>
                <a:solidFill>
                  <a:srgbClr val="003B4F"/>
                </a:solidFill>
                <a:latin typeface="Consolas"/>
              </a:rPr>
              <a:t>(counts)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"cell_A"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"cell_B"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rownames</a:t>
            </a:r>
            <a:r>
              <a:rPr>
                <a:solidFill>
                  <a:srgbClr val="003B4F"/>
                </a:solidFill>
                <a:latin typeface="Consolas"/>
              </a:rPr>
              <a:t>(counts)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colnames</a:t>
            </a:r>
            <a:r>
              <a:rPr>
                <a:solidFill>
                  <a:srgbClr val="003B4F"/>
                </a:solidFill>
                <a:latin typeface="Consolas"/>
              </a:rPr>
              <a:t>(counts)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단일세포 행렬에서는 위치보다 유전자명과 barcode가 중요합니다.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[행, 열] 순서로 선택합니다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counts[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counts[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),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counts[,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counts[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 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쉼표 앞: 행</a:t>
            </a:r>
          </a:p>
          <a:p>
            <a:pPr lvl="0"/>
            <a:r>
              <a:rPr/>
              <a:t>쉼표 뒤: 열</a:t>
            </a:r>
          </a:p>
          <a:p>
            <a:pPr lvl="0"/>
            <a:r>
              <a:rPr/>
              <a:t>한쪽을 비우면 해당 방향 전체를 선택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이름으로도 선택할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counts[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"cell_B"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counts[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"CD3D"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), 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counts[,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"cell_A"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"cell_B"</a:t>
            </a:r>
            <a:r>
              <a:rPr>
                <a:solidFill>
                  <a:srgbClr val="003B4F"/>
                </a:solidFill>
                <a:latin typeface="Consolas"/>
              </a:rPr>
              <a:t>)]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코드에서는 행과 열의 의미를 보존하기 위해 이름 선택이 안전한 경우가 많습니다.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drop에 따라 결과 구조가 달라질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counts[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counts[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, drop = </a:t>
            </a:r>
            <a:r>
              <a:rPr>
                <a:solidFill>
                  <a:srgbClr val="8F5902"/>
                </a:solidFill>
                <a:latin typeface="Consolas"/>
              </a:rPr>
              <a:t>FALSE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한 행만 선택하면 기본적으로 벡터가 될 수 있습니다.</a:t>
            </a:r>
          </a:p>
          <a:p>
            <a:pPr lvl="0"/>
            <a:r>
              <a:rPr>
                <a:latin typeface="Consolas"/>
              </a:rPr>
              <a:t>drop = FALSE</a:t>
            </a:r>
            <a:r>
              <a:rPr/>
              <a:t>는 행렬 구조를 유지합니다.</a:t>
            </a:r>
          </a:p>
          <a:p>
            <a:pPr lvl="0" indent="0" marL="0">
              <a:buNone/>
            </a:pPr>
            <a:r>
              <a:rPr/>
              <a:t>함수가 행렬 입력을 기대한다면 차원이 유지되는지 확인합니다.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행과 열 단위로 요약합니다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rowSums</a:t>
            </a:r>
            <a:r>
              <a:rPr>
                <a:solidFill>
                  <a:srgbClr val="003B4F"/>
                </a:solidFill>
                <a:latin typeface="Consolas"/>
              </a:rPr>
              <a:t>(counts)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colSums</a:t>
            </a:r>
            <a:r>
              <a:rPr>
                <a:solidFill>
                  <a:srgbClr val="003B4F"/>
                </a:solidFill>
                <a:latin typeface="Consolas"/>
              </a:rPr>
              <a:t>(counts)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rowMeans</a:t>
            </a:r>
            <a:r>
              <a:rPr>
                <a:solidFill>
                  <a:srgbClr val="003B4F"/>
                </a:solidFill>
                <a:latin typeface="Consolas"/>
              </a:rPr>
              <a:t>(counts)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colMeans</a:t>
            </a:r>
            <a:r>
              <a:rPr>
                <a:solidFill>
                  <a:srgbClr val="003B4F"/>
                </a:solidFill>
                <a:latin typeface="Consolas"/>
              </a:rPr>
              <a:t>(counts)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rowSums()</a:t>
            </a:r>
            <a:r>
              <a:rPr/>
              <a:t>: 유전자별 전체 count</a:t>
            </a:r>
          </a:p>
          <a:p>
            <a:pPr lvl="0"/>
            <a:r>
              <a:rPr>
                <a:latin typeface="Consolas"/>
              </a:rPr>
              <a:t>colSums()</a:t>
            </a:r>
            <a:r>
              <a:rPr/>
              <a:t>: 세포별 전체 UMI count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nCount_RNA</a:t>
            </a:r>
            <a:r>
              <a:rPr/>
              <a:t>는 세포별 count 합계와 연결됩니다.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조건을 만족하는 값의 개수를 셉니다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counts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rowSums</a:t>
            </a:r>
            <a:r>
              <a:rPr>
                <a:solidFill>
                  <a:srgbClr val="003B4F"/>
                </a:solidFill>
                <a:latin typeface="Consolas"/>
              </a:rPr>
              <a:t>(counts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colSums</a:t>
            </a:r>
            <a:r>
              <a:rPr>
                <a:solidFill>
                  <a:srgbClr val="003B4F"/>
                </a:solidFill>
                <a:latin typeface="Consolas"/>
              </a:rPr>
              <a:t>(counts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rowSums(counts &gt; 0)</a:t>
            </a:r>
            <a:r>
              <a:rPr/>
              <a:t>: 각 유전자가 검출된 세포 수</a:t>
            </a:r>
          </a:p>
          <a:p>
            <a:pPr lvl="0"/>
            <a:r>
              <a:rPr>
                <a:latin typeface="Consolas"/>
              </a:rPr>
              <a:t>colSums(counts &gt; 0)</a:t>
            </a:r>
            <a:r>
              <a:rPr/>
              <a:t>: 각 세포에서 검출된 유전자 수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nFeature_RNA</a:t>
            </a:r>
            <a:r>
              <a:rPr/>
              <a:t>의 직관적 의미입니다.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단일세포 행렬은 대부분 0입니다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nsolas"/>
              </a:rPr>
              <a:t>3 x 5 sparse Matrix
       cell1 cell2 cell3 cell4 cell5
CD3D       4     .    10     .     1
TCL1A      .     .     .     1     .
MS4A1      .     6     .     .     1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.</a:t>
            </a:r>
            <a:r>
              <a:rPr/>
              <a:t>은 0을 압축하여 표시한 것입니다.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희소 행렬은 0이 아닌 값만 중심으로 저장합니다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object.size</a:t>
            </a:r>
            <a:r>
              <a:rPr>
                <a:solidFill>
                  <a:srgbClr val="003B4F"/>
                </a:solidFill>
                <a:latin typeface="Consolas"/>
              </a:rPr>
              <a:t>(pbmc.data)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object.size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as.matrix</a:t>
            </a:r>
            <a:r>
              <a:rPr>
                <a:solidFill>
                  <a:srgbClr val="003B4F"/>
                </a:solidFill>
                <a:latin typeface="Consolas"/>
              </a:rPr>
              <a:t>(pbmc.data))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dense matrix: 모든 0까지 저장</a:t>
            </a:r>
          </a:p>
          <a:p>
            <a:pPr lvl="0"/>
            <a:r>
              <a:rPr/>
              <a:t>sparse matrix: 0이 아닌 값과 위치를 저장</a:t>
            </a:r>
          </a:p>
          <a:p>
            <a:pPr lvl="0"/>
            <a:r>
              <a:rPr/>
              <a:t>대규모 단일세포 데이터의 메모리와 계산 시간을 절약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as.matrix()</a:t>
            </a:r>
            <a:r>
              <a:rPr/>
              <a:t>로 무심코 변환하면 매우 큰 메모리를 사용할 수 있습니다.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희소 행렬도 기본적인 방식으로 탐색합니다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class</a:t>
            </a:r>
            <a:r>
              <a:rPr>
                <a:solidFill>
                  <a:srgbClr val="003B4F"/>
                </a:solidFill>
                <a:latin typeface="Consolas"/>
              </a:rPr>
              <a:t>(pbmc.data)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dim</a:t>
            </a:r>
            <a:r>
              <a:rPr>
                <a:solidFill>
                  <a:srgbClr val="003B4F"/>
                </a:solidFill>
                <a:latin typeface="Consolas"/>
              </a:rPr>
              <a:t>(pbmc.data)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pbmc.data[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Matrix</a:t>
            </a:r>
            <a:r>
              <a:rPr>
                <a:solidFill>
                  <a:srgbClr val="5E5E5E"/>
                </a:solidFill>
                <a:latin typeface="Consolas"/>
              </a:rPr>
              <a:t>::</a:t>
            </a:r>
            <a:r>
              <a:rPr>
                <a:solidFill>
                  <a:srgbClr val="4758AB"/>
                </a:solidFill>
                <a:latin typeface="Consolas"/>
              </a:rPr>
              <a:t>colSums</a:t>
            </a:r>
            <a:r>
              <a:rPr>
                <a:solidFill>
                  <a:srgbClr val="003B4F"/>
                </a:solidFill>
                <a:latin typeface="Consolas"/>
              </a:rPr>
              <a:t>(pbmc.data)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객체 클래스는 다르지만 차원 확인과 인덱싱 원리는 같습니다.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행렬 방향을 항상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dim</a:t>
            </a:r>
            <a:r>
              <a:rPr>
                <a:solidFill>
                  <a:srgbClr val="003B4F"/>
                </a:solidFill>
                <a:latin typeface="Consolas"/>
              </a:rPr>
              <a:t>(pbmc.data)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rownames</a:t>
            </a:r>
            <a:r>
              <a:rPr>
                <a:solidFill>
                  <a:srgbClr val="003B4F"/>
                </a:solidFill>
                <a:latin typeface="Consolas"/>
              </a:rPr>
              <a:t>(pbmc.data))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colnames</a:t>
            </a:r>
            <a:r>
              <a:rPr>
                <a:solidFill>
                  <a:srgbClr val="003B4F"/>
                </a:solidFill>
                <a:latin typeface="Consolas"/>
              </a:rPr>
              <a:t>(pbmc.data))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도구에 따라 행과 열의 방향이 다를 수 있습니다.</a:t>
            </a:r>
          </a:p>
          <a:p>
            <a:pPr lvl="0" indent="0" marL="0">
              <a:buNone/>
            </a:pPr>
            <a:r>
              <a:rPr/>
              <a:t>확인 질문:</a:t>
            </a:r>
          </a:p>
          <a:p>
            <a:pPr lvl="0" indent="-457200" marL="457200">
              <a:buAutoNum type="arabicPeriod"/>
            </a:pPr>
            <a:r>
              <a:rPr/>
              <a:t>행 이름이 유전자인가?</a:t>
            </a:r>
          </a:p>
          <a:p>
            <a:pPr lvl="0" indent="-457200" marL="457200">
              <a:buAutoNum type="arabicPeriod"/>
            </a:pPr>
            <a:r>
              <a:rPr/>
              <a:t>열 이름이 cell barcode인가?</a:t>
            </a:r>
          </a:p>
          <a:p>
            <a:pPr lvl="0" indent="-457200" marL="457200">
              <a:buAutoNum type="arabicPeriod"/>
            </a:pPr>
            <a:r>
              <a:rPr/>
              <a:t>값이 count인가, 정규화된 값인가?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1: 작은 count matrix 탐색하기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toy &lt;- </a:t>
            </a:r>
            <a:r>
              <a:rPr>
                <a:solidFill>
                  <a:srgbClr val="4758AB"/>
                </a:solidFill>
                <a:latin typeface="Consolas"/>
              </a:rPr>
              <a:t>matrix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4</a:t>
            </a:r>
            <a:r>
              <a:rPr>
                <a:solidFill>
                  <a:srgbClr val="003B4F"/>
                </a:solidFill>
                <a:latin typeface="Consolas"/>
              </a:rPr>
              <a:t>), </a:t>
            </a:r>
            <a:r>
              <a:rPr>
                <a:solidFill>
                  <a:srgbClr val="657422"/>
                </a:solidFill>
                <a:latin typeface="Consolas"/>
              </a:rPr>
              <a:t>nrow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rownames</a:t>
            </a:r>
            <a:r>
              <a:rPr>
                <a:solidFill>
                  <a:srgbClr val="003B4F"/>
                </a:solidFill>
                <a:latin typeface="Consolas"/>
              </a:rPr>
              <a:t>(toy)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"CD3D"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colnames</a:t>
            </a:r>
            <a:r>
              <a:rPr>
                <a:solidFill>
                  <a:srgbClr val="003B4F"/>
                </a:solidFill>
                <a:latin typeface="Consolas"/>
              </a:rPr>
              <a:t>(toy)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"cell1"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"cell2"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"cell3"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차원을 확인하세요.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MS4A1</a:t>
            </a:r>
            <a:r>
              <a:rPr/>
              <a:t> 행을 행렬로 유지해 선택하세요.</a:t>
            </a:r>
          </a:p>
          <a:p>
            <a:pPr lvl="0" indent="-457200" marL="457200">
              <a:buAutoNum type="arabicPeriod"/>
            </a:pPr>
            <a:r>
              <a:rPr/>
              <a:t>세포별 전체 count와 검출 유전자 수를 계산하세요.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2: sparse와 dense 비교하기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sparse_size &lt;- </a:t>
            </a:r>
            <a:r>
              <a:rPr>
                <a:solidFill>
                  <a:srgbClr val="4758AB"/>
                </a:solidFill>
                <a:latin typeface="Consolas"/>
              </a:rPr>
              <a:t>object.size</a:t>
            </a:r>
            <a:r>
              <a:rPr>
                <a:solidFill>
                  <a:srgbClr val="003B4F"/>
                </a:solidFill>
                <a:latin typeface="Consolas"/>
              </a:rPr>
              <a:t>(pbmc.data)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dense_size &lt;- </a:t>
            </a:r>
            <a:r>
              <a:rPr>
                <a:solidFill>
                  <a:srgbClr val="4758AB"/>
                </a:solidFill>
                <a:latin typeface="Consolas"/>
              </a:rPr>
              <a:t>object.size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as.matrix</a:t>
            </a:r>
            <a:r>
              <a:rPr>
                <a:solidFill>
                  <a:srgbClr val="003B4F"/>
                </a:solidFill>
                <a:latin typeface="Consolas"/>
              </a:rPr>
              <a:t>(pbmc.data))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dense_size </a:t>
            </a:r>
            <a:r>
              <a:rPr>
                <a:solidFill>
                  <a:srgbClr val="5E5E5E"/>
                </a:solidFill>
                <a:latin typeface="Consolas"/>
              </a:rPr>
              <a:t>/</a:t>
            </a:r>
            <a:r>
              <a:rPr>
                <a:solidFill>
                  <a:srgbClr val="003B4F"/>
                </a:solidFill>
                <a:latin typeface="Consolas"/>
              </a:rPr>
              <a:t> sparse_size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PBMC 행렬이 준비되어 있다면 다음을 비교하세요.</a:t>
            </a:r>
          </a:p>
          <a:p>
            <a:pPr lvl="0" indent="0" marL="0">
              <a:buNone/>
            </a:pPr>
            <a:r>
              <a:rPr/>
              <a:t>두 객체의 크기가 다른 이유를 한 문장으로 설명하세요.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핵심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count matrix의 행은 유전자, 열은 세포입니다.</a:t>
            </a:r>
          </a:p>
          <a:p>
            <a:pPr lvl="0"/>
            <a:r>
              <a:rPr/>
              <a:t>행렬은 </a:t>
            </a:r>
            <a:r>
              <a:rPr>
                <a:latin typeface="Consolas"/>
              </a:rPr>
              <a:t>[행, 열]</a:t>
            </a:r>
            <a:r>
              <a:rPr/>
              <a:t>로 선택합니다.</a:t>
            </a:r>
          </a:p>
          <a:p>
            <a:pPr lvl="0"/>
            <a:r>
              <a:rPr>
                <a:latin typeface="Consolas"/>
              </a:rPr>
              <a:t>rowSums()</a:t>
            </a:r>
            <a:r>
              <a:rPr/>
              <a:t>와 </a:t>
            </a:r>
            <a:r>
              <a:rPr>
                <a:latin typeface="Consolas"/>
              </a:rPr>
              <a:t>colSums()</a:t>
            </a:r>
            <a:r>
              <a:rPr/>
              <a:t>는 방향별 요약을 계산합니다.</a:t>
            </a:r>
          </a:p>
          <a:p>
            <a:pPr lvl="0"/>
            <a:r>
              <a:rPr/>
              <a:t>희소 행렬은 많은 0을 효율적으로 저장합니다.</a:t>
            </a:r>
          </a:p>
          <a:p>
            <a:pPr lvl="0"/>
            <a:r>
              <a:rPr/>
              <a:t>큰 희소 행렬을 dense matrix로 변환할 때 주의합니다.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nsolas"/>
              </a:rPr>
              <a:t>x[2, ]</a:t>
            </a:r>
            <a:r>
              <a:rPr/>
              <a:t>와 </a:t>
            </a:r>
            <a:r>
              <a:rPr>
                <a:latin typeface="Consolas"/>
              </a:rPr>
              <a:t>x[, 2]</a:t>
            </a:r>
            <a:r>
              <a:rPr/>
              <a:t>는 어떻게 다른가요?</a:t>
            </a:r>
          </a:p>
          <a:p>
            <a:pPr lvl="0" indent="-457200" marL="457200">
              <a:buAutoNum type="arabicPeriod"/>
            </a:pPr>
            <a:r>
              <a:rPr/>
              <a:t>세포별 전체 UMI count는 어느 방향으로 합산하나요?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drop = FALSE</a:t>
            </a:r>
            <a:r>
              <a:rPr/>
              <a:t>는 왜 사용하나요?</a:t>
            </a:r>
          </a:p>
          <a:p>
            <a:pPr lvl="0" indent="-457200" marL="457200">
              <a:buAutoNum type="arabicPeriod"/>
            </a:pPr>
            <a:r>
              <a:rPr/>
              <a:t>단일세포 데이터에 희소 행렬이 적합한 이유는 무엇인가요?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회차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 matrix가 발현값을 저장한다면, cell metadata는 각 세포의 QC와 그룹 정보를 표로 저장합니다.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행렬과 희소 행렬</dc:title>
  <dc:creator>6회차</dc:creator>
  <cp:keywords/>
  <dcterms:created xsi:type="dcterms:W3CDTF">2026-07-13T14:36:53Z</dcterms:created>
  <dcterms:modified xsi:type="dcterms:W3CDTF">2026-07-13T14:36:53Z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유전자 × 세포 count matrix 이해하기</vt:lpwstr>
  </property>
  <property fmtid="{D5CDD505-2E9C-101B-9397-08002B2CF9AE}" pid="10" name="toc-title">
    <vt:lpwstr>목차</vt:lpwstr>
  </property>
</Properties>
</file>