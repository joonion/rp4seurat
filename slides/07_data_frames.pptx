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Relationship Id="rId2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데이터 프레임과 tibble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cell metadata를 표로 탐색하기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7회차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데이터 프레임의 행과 열이 나타내는 의미를 설명할 수 있다.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$</a:t>
            </a:r>
            <a:r>
              <a:rPr/>
              <a:t>, </a:t>
            </a:r>
            <a:r>
              <a:rPr>
                <a:latin typeface="Consolas"/>
              </a:rPr>
              <a:t>[[ ]]</a:t>
            </a:r>
            <a:r>
              <a:rPr/>
              <a:t>, </a:t>
            </a:r>
            <a:r>
              <a:rPr>
                <a:latin typeface="Consolas"/>
              </a:rPr>
              <a:t>[ ]</a:t>
            </a:r>
            <a:r>
              <a:rPr/>
              <a:t>를 사용해 열과 값을 선택할 수 있다.</a:t>
            </a:r>
          </a:p>
          <a:p>
            <a:pPr lvl="0" indent="-457200" marL="457200">
              <a:buAutoNum type="arabicPeriod"/>
            </a:pPr>
            <a:r>
              <a:rPr/>
              <a:t>Seurat metadata에서 세포별 QC 지표를 확인하고 요약할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1회차에서 metadata를 확인했습니다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meta.data,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latin typeface="Consolas"/>
              </a:rPr>
              <a:t>                  orig.ident nCount_RNA nFeature_RNA percent.mt
AAACATACAACCAC-1  pbmc3k          2419          779       3.02
AAACATTGAGCTAC-1  pbmc3k          4903         1352       3.79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 하나는 세포 하나, 열 하나는 세포의 변수 하나입니다.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데이터 프레임은 열마다 자료형이 다를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cell_meta &lt;- </a:t>
            </a:r>
            <a:r>
              <a:rPr>
                <a:solidFill>
                  <a:srgbClr val="4758AB"/>
                </a:solidFill>
                <a:latin typeface="Consolas"/>
              </a:rPr>
              <a:t>data.frame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cell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"cell1"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"cell2"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"cell3"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nCount_RNA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2419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4903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980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percent_mt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3.02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3.79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1.22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pass_qc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cell</a:t>
            </a:r>
            <a:r>
              <a:rPr/>
              <a:t>: character</a:t>
            </a:r>
          </a:p>
          <a:p>
            <a:pPr lvl="0"/>
            <a:r>
              <a:rPr>
                <a:latin typeface="Consolas"/>
              </a:rPr>
              <a:t>nCount_RNA</a:t>
            </a:r>
            <a:r>
              <a:rPr/>
              <a:t>, </a:t>
            </a:r>
            <a:r>
              <a:rPr>
                <a:latin typeface="Consolas"/>
              </a:rPr>
              <a:t>percent_mt</a:t>
            </a:r>
            <a:r>
              <a:rPr/>
              <a:t>: numeric</a:t>
            </a:r>
          </a:p>
          <a:p>
            <a:pPr lvl="0"/>
            <a:r>
              <a:rPr>
                <a:latin typeface="Consolas"/>
              </a:rPr>
              <a:t>pass_qc</a:t>
            </a:r>
            <a:r>
              <a:rPr/>
              <a:t>: logical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구조를 먼저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names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str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summary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전에 “행이 무엇이고 열이 무엇인지” 확인하는 습관을 만듭니다.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$로 한 열을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nCount_RNA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percent_mt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결과는 보통 벡터입니다.</a:t>
            </a:r>
          </a:p>
          <a:p>
            <a:pPr lvl="0"/>
            <a:r>
              <a:rPr/>
              <a:t>코드에 열 이름을 직접 작성할 때 간단합니다.</a:t>
            </a:r>
          </a:p>
          <a:p>
            <a:pPr lvl="0"/>
            <a:r>
              <a:rPr/>
              <a:t>존재하지 않는 열 이름은 의도하지 않은 결과를 만들 수 있으므로 확인합니다.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[[ ]]도 한 열을 벡터로 꺼냅니다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cell_meta[[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column_name &lt;- </a:t>
            </a:r>
            <a:r>
              <a:rPr>
                <a:solidFill>
                  <a:srgbClr val="20794D"/>
                </a:solidFill>
                <a:latin typeface="Consolas"/>
              </a:rPr>
              <a:t>"percent_mt"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cell_meta[[column_name]]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 이름이 다른 객체에 저장되어 있을 때 </a:t>
            </a:r>
            <a:r>
              <a:rPr>
                <a:latin typeface="Consolas"/>
              </a:rPr>
              <a:t>[[ ]]</a:t>
            </a:r>
            <a:r>
              <a:rPr/>
              <a:t>가 유용합니다.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[ ]는 데이터 프레임 구조를 유지합니다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cell_meta[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cell_meta[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"percent_mt"</a:t>
            </a:r>
            <a:r>
              <a:rPr>
                <a:solidFill>
                  <a:srgbClr val="003B4F"/>
                </a:solidFill>
                <a:latin typeface="Consolas"/>
              </a:rPr>
              <a:t>)]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cell_meta[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"cell"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"percent_mt"</a:t>
            </a:r>
            <a:r>
              <a:rPr>
                <a:solidFill>
                  <a:srgbClr val="003B4F"/>
                </a:solidFill>
                <a:latin typeface="Consolas"/>
              </a:rPr>
              <a:t>)]</a:t>
            </a:r>
          </a:p>
          <a:p>
            <a:pPr lvl="0" indent="0">
              <a:buNone/>
            </a:pPr>
            <a:r>
              <a:rPr>
                <a:latin typeface="Consolas"/>
              </a:rPr>
              <a:t>data[행, 열]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행과 열을 함께 선택할 수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 접근 방식의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일반적인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용도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df$col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벡터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고정된 열 이름을 직접 사용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df[["col"]]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벡터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문자 객체로 열 선택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df["col"]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프레임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 구조 유지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결과를 함수에 전달할 때 벡터가 필요한지 표가 필요한지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 이름은 세포 식별자입니다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meta.data)[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all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meta.data)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colnames</a:t>
            </a:r>
            <a:r>
              <a:rPr>
                <a:solidFill>
                  <a:srgbClr val="003B4F"/>
                </a:solidFill>
                <a:latin typeface="Consolas"/>
              </a:rPr>
              <a:t>(pbmc))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metadata의 행 이름은 일반적으로 cell barcode입니다.</a:t>
            </a:r>
          </a:p>
          <a:p>
            <a:pPr lvl="0" indent="0" marL="0">
              <a:buNone/>
            </a:pPr>
            <a:r>
              <a:rPr/>
              <a:t>metadata 행과 count matrix 열이 같은 세포를 같은 순서로 나타내는지 확인할 수 있습니다.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새 열을 추가할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high_mt &lt;-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percent_mt </a:t>
            </a:r>
            <a:r>
              <a:rPr>
                <a:solidFill>
                  <a:srgbClr val="5E5E5E"/>
                </a:solidFill>
                <a:latin typeface="Consolas"/>
              </a:rPr>
              <a:t>&gt;=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log_count &lt;- </a:t>
            </a:r>
            <a:r>
              <a:rPr>
                <a:solidFill>
                  <a:srgbClr val="4758AB"/>
                </a:solidFill>
                <a:latin typeface="Consolas"/>
              </a:rPr>
              <a:t>log1p</a:t>
            </a:r>
            <a:r>
              <a:rPr>
                <a:solidFill>
                  <a:srgbClr val="003B4F"/>
                </a:solidFill>
                <a:latin typeface="Consolas"/>
              </a:rPr>
              <a:t>(cell_meta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nCount_RNA)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pbmc[[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]] &lt;- </a:t>
            </a:r>
            <a:r>
              <a:rPr>
                <a:solidFill>
                  <a:srgbClr val="4758AB"/>
                </a:solidFill>
                <a:latin typeface="Consolas"/>
              </a:rPr>
              <a:t>PercentageFeatureSet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pattern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"^MT-"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Seurat에서는 다음과 같은 코드도 metadata 열을 추가합니다.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조건으로 행을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cell_meta[cell_meta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 ]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keep &lt;-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nCount_RNA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cell_meta[keep, 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쉼표를 빠뜨리면 행이 아니라 열 선택으로 해석될 수 있습니다.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tibble은 데이터 프레임의 현대적인 변형입니다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(tibble)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cell_tbl &lt;- </a:t>
            </a:r>
            <a:r>
              <a:rPr>
                <a:solidFill>
                  <a:srgbClr val="4758AB"/>
                </a:solidFill>
                <a:latin typeface="Consolas"/>
              </a:rPr>
              <a:t>as_tibble</a:t>
            </a:r>
            <a:r>
              <a:rPr>
                <a:solidFill>
                  <a:srgbClr val="003B4F"/>
                </a:solidFill>
                <a:latin typeface="Consolas"/>
              </a:rPr>
              <a:t>(cell_meta)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cell_tbl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큰 표를 콘솔에 보기 좋게 출력합니다.</a:t>
            </a:r>
          </a:p>
          <a:p>
            <a:pPr lvl="0"/>
            <a:r>
              <a:rPr/>
              <a:t>열 자료형을 함께 보여줍니다.</a:t>
            </a:r>
          </a:p>
          <a:p>
            <a:pPr lvl="0"/>
            <a:r>
              <a:rPr/>
              <a:t>tidyverse 함수와 함께 자주 사용합니다.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tibble은 행 이름보다 명시적인 열을 권장합니다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meta_tbl &lt;- 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rownames_to_column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var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"cell_id"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as_tibble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cell barcode를 일반 열로 만들면 join, filter, export가 명확해집니다.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기본 요약 통계를 계산합니다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mean</a:t>
            </a:r>
            <a:r>
              <a:rPr>
                <a:solidFill>
                  <a:srgbClr val="003B4F"/>
                </a:solidFill>
                <a:latin typeface="Consolas"/>
              </a:rPr>
              <a:t>(cell_meta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nCount_RNA)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median</a:t>
            </a:r>
            <a:r>
              <a:rPr>
                <a:solidFill>
                  <a:srgbClr val="003B4F"/>
                </a:solidFill>
                <a:latin typeface="Consolas"/>
              </a:rPr>
              <a:t>(cell_meta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nCount_RNA)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min</a:t>
            </a:r>
            <a:r>
              <a:rPr>
                <a:solidFill>
                  <a:srgbClr val="003B4F"/>
                </a:solidFill>
                <a:latin typeface="Consolas"/>
              </a:rPr>
              <a:t>(cell_meta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percent_mt)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max</a:t>
            </a:r>
            <a:r>
              <a:rPr>
                <a:solidFill>
                  <a:srgbClr val="003B4F"/>
                </a:solidFill>
                <a:latin typeface="Consolas"/>
              </a:rPr>
              <a:t>(cell_meta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percent_mt)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pass_qc)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분포가 치우친 QC 값은 평균과 중앙값을 함께 확인합니다.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CSV로 내보내고 다시 읽을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write.csv</a:t>
            </a:r>
            <a:r>
              <a:rPr>
                <a:solidFill>
                  <a:srgbClr val="003B4F"/>
                </a:solidFill>
                <a:latin typeface="Consolas"/>
              </a:rPr>
              <a:t>(cell_meta, </a:t>
            </a:r>
            <a:r>
              <a:rPr>
                <a:solidFill>
                  <a:srgbClr val="20794D"/>
                </a:solidFill>
                <a:latin typeface="Consolas"/>
              </a:rPr>
              <a:t>"output/cell_metadata.csv"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row.names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metadata_copy &lt;- </a:t>
            </a:r>
            <a:r>
              <a:rPr>
                <a:solidFill>
                  <a:srgbClr val="4758AB"/>
                </a:solidFill>
                <a:latin typeface="Consolas"/>
              </a:rPr>
              <a:t>read.csv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"output/cell_metadata.csv"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내보낸 뒤 다음을 확인합니다.</a:t>
            </a:r>
          </a:p>
          <a:p>
            <a:pPr lvl="0"/>
            <a:r>
              <a:rPr/>
              <a:t>행 수와 열 수</a:t>
            </a:r>
          </a:p>
          <a:p>
            <a:pPr lvl="0"/>
            <a:r>
              <a:rPr/>
              <a:t>열 이름</a:t>
            </a:r>
          </a:p>
          <a:p>
            <a:pPr lvl="0"/>
            <a:r>
              <a:rPr/>
              <a:t>자료형</a:t>
            </a:r>
          </a:p>
          <a:p>
            <a:pPr lvl="0"/>
            <a:r>
              <a:rPr/>
              <a:t>cell ID 보존 여부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metadata 탐색하기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pbmc@meta.data</a:t>
            </a:r>
            <a:r>
              <a:rPr/>
              <a:t>에서 다음을 확인하세요.</a:t>
            </a:r>
          </a:p>
          <a:p>
            <a:pPr lvl="0" indent="-457200" marL="457200">
              <a:buAutoNum type="arabicPeriod"/>
            </a:pPr>
            <a:r>
              <a:rPr/>
              <a:t>행과 열의 수</a:t>
            </a:r>
          </a:p>
          <a:p>
            <a:pPr lvl="0" indent="-457200" marL="457200">
              <a:buAutoNum type="arabicPeriod"/>
            </a:pPr>
            <a:r>
              <a:rPr/>
              <a:t>모든 열 이름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nFeature_RNA</a:t>
            </a:r>
            <a:r>
              <a:rPr/>
              <a:t>의 최소값, 중앙값, 최대값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percent.mt</a:t>
            </a:r>
            <a:r>
              <a:rPr/>
              <a:t>가 가장 높은 세포의 barcode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QC 상태 열 추가하기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작은 </a:t>
            </a:r>
            <a:r>
              <a:rPr>
                <a:latin typeface="Consolas"/>
              </a:rPr>
              <a:t>cell_meta</a:t>
            </a:r>
            <a:r>
              <a:rPr/>
              <a:t> 데이터 프레임에 다음 조건을 만족하는 </a:t>
            </a:r>
            <a:r>
              <a:rPr>
                <a:latin typeface="Consolas"/>
              </a:rPr>
              <a:t>pass_qc</a:t>
            </a:r>
            <a:r>
              <a:rPr/>
              <a:t> 열을 추가하세요.</a:t>
            </a:r>
          </a:p>
          <a:p>
            <a:pPr lvl="0"/>
            <a:r>
              <a:rPr>
                <a:latin typeface="Consolas"/>
              </a:rPr>
              <a:t>nFeature_RNA &gt; 200</a:t>
            </a:r>
          </a:p>
          <a:p>
            <a:pPr lvl="0"/>
            <a:r>
              <a:rPr>
                <a:latin typeface="Consolas"/>
              </a:rPr>
              <a:t>nFeature_RNA &lt; 2500</a:t>
            </a:r>
          </a:p>
          <a:p>
            <a:pPr lvl="0"/>
            <a:r>
              <a:rPr>
                <a:latin typeface="Consolas"/>
              </a:rPr>
              <a:t>percent.mt &lt; 5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table(cell_meta$pass_qc)</a:t>
            </a:r>
            <a:r>
              <a:rPr/>
              <a:t>로 결과를 확인하세요.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프레임의 행은 관측값, 열은 변수입니다.</a:t>
            </a:r>
          </a:p>
          <a:p>
            <a:pPr lvl="0"/>
            <a:r>
              <a:rPr>
                <a:latin typeface="Consolas"/>
              </a:rPr>
              <a:t>$</a:t>
            </a:r>
            <a:r>
              <a:rPr/>
              <a:t>와 </a:t>
            </a:r>
            <a:r>
              <a:rPr>
                <a:latin typeface="Consolas"/>
              </a:rPr>
              <a:t>[[ ]]</a:t>
            </a:r>
            <a:r>
              <a:rPr/>
              <a:t>는 한 열을 벡터로 꺼냅니다.</a:t>
            </a:r>
          </a:p>
          <a:p>
            <a:pPr lvl="0"/>
            <a:r>
              <a:rPr>
                <a:latin typeface="Consolas"/>
              </a:rPr>
              <a:t>[행, 열]</a:t>
            </a:r>
            <a:r>
              <a:rPr/>
              <a:t>은 표 형태로 행과 열을 선택합니다.</a:t>
            </a:r>
          </a:p>
          <a:p>
            <a:pPr lvl="0"/>
            <a:r>
              <a:rPr/>
              <a:t>Seurat metadata의 행은 세포, 열은 QC·그룹 정보입니다.</a:t>
            </a:r>
          </a:p>
          <a:p>
            <a:pPr lvl="0"/>
            <a:r>
              <a:rPr>
                <a:latin typeface="Consolas"/>
              </a:rPr>
              <a:t>str()</a:t>
            </a:r>
            <a:r>
              <a:rPr/>
              <a:t>, </a:t>
            </a:r>
            <a:r>
              <a:rPr>
                <a:latin typeface="Consolas"/>
              </a:rPr>
              <a:t>head()</a:t>
            </a:r>
            <a:r>
              <a:rPr/>
              <a:t>, </a:t>
            </a:r>
            <a:r>
              <a:rPr>
                <a:latin typeface="Consolas"/>
              </a:rPr>
              <a:t>summary()</a:t>
            </a:r>
            <a:r>
              <a:rPr/>
              <a:t>로 구조와 값을 점검합니다.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행렬과 데이터 프레임의 가장 중요한 차이는 무엇인가요?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df["x"]</a:t>
            </a:r>
            <a:r>
              <a:rPr/>
              <a:t>와 </a:t>
            </a:r>
            <a:r>
              <a:rPr>
                <a:latin typeface="Consolas"/>
              </a:rPr>
              <a:t>df[["x"]]</a:t>
            </a:r>
            <a:r>
              <a:rPr/>
              <a:t>의 결과는 어떻게 다른가요?</a:t>
            </a:r>
          </a:p>
          <a:p>
            <a:pPr lvl="0" indent="-457200" marL="457200">
              <a:buAutoNum type="arabicPeriod"/>
            </a:pPr>
            <a:r>
              <a:rPr/>
              <a:t>Seurat metadata의 행 이름은 무엇을 나타내나요?</a:t>
            </a:r>
          </a:p>
          <a:p>
            <a:pPr lvl="0" indent="-457200" marL="457200">
              <a:buAutoNum type="arabicPeriod"/>
            </a:pPr>
            <a:r>
              <a:rPr/>
              <a:t>cell barcode를 일반 열로 만들면 어떤 장점이 있나요?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metadata의 QC 열을 조건식으로 결합하여 분석에 사용할 세포를 선택합니다.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프레임과 tibble</dc:title>
  <dc:creator>7회차</dc:creator>
  <cp:keywords/>
  <dcterms:created xsi:type="dcterms:W3CDTF">2026-07-13T14:36:55Z</dcterms:created>
  <dcterms:modified xsi:type="dcterms:W3CDTF">2026-07-13T14:36:55Z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Seurat cell metadata를 표로 탐색하기</vt:lpwstr>
  </property>
  <property fmtid="{D5CDD505-2E9C-101B-9397-08002B2CF9AE}" pid="10" name="toc-title">
    <vt:lpwstr>목차</vt:lpwstr>
  </property>
</Properties>
</file>