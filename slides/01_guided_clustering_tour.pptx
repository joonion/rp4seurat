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ko-KR"/>
    </a:defPPr>
    <a:lvl1pPr algn="l" defTabSz="914400" eaLnBrk="1" hangingPunct="1" latinLnBrk="1" marL="0" rtl="0">
      <a:defRPr altLang="en-US" b="1" kern="1200" lang="ko-KR" sz="3000">
        <a:solidFill>
          <a:srgbClr val="172033"/>
        </a:solidFill>
        <a:latin charset="-127" panose="02000503000000020004" pitchFamily="50" typeface="Pretendard"/>
        <a:ea charset="-127" panose="02000503000000020004" pitchFamily="50" typeface="Pretendard"/>
        <a:cs typeface="+mn-cs"/>
      </a:defRPr>
    </a:lvl1pPr>
    <a:lvl2pPr algn="l" defTabSz="914400" eaLnBrk="1" hangingPunct="1" latinLnBrk="1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1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1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1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1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1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1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1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howGuides="1" snapToGrid="0">
      <p:cViewPr varScale="1">
        <p:scale>
          <a:sx d="100" n="113"/>
          <a:sy d="100" n="113"/>
        </p:scale>
        <p:origin x="312" y="108"/>
      </p:cViewPr>
      <p:guideLst>
        <p:guide orient="horz" pos="2160"/>
        <p:guide pos="3840"/>
      </p:guideLst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8" Type="http://schemas.openxmlformats.org/officeDocument/2006/relationships/tableStyles" Target="tableStyles.xml" /><Relationship Id="rId57" Type="http://schemas.openxmlformats.org/officeDocument/2006/relationships/theme" Target="theme/theme1.xml" /><Relationship Id="rId56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36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 b="0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C1111F-D4A6-4DDC-A3B6-DB854C09A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E00F29-6221-4882-B252-1E5B86612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397973-2611-47C1-943B-471D9636F684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827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AB2DA81-A7AC-4FA3-9E79-EA52F99DCEB9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354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xercise">
    <p:bg>
      <p:bgPr>
        <a:solidFill>
          <a:srgbClr val="17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 b="1">
                <a:solidFill>
                  <a:srgbClr val="FFFFFF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3D15491-48F6-48DC-A8A0-6ED609435487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F766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6E432EE-5CB6-4863-B2FE-2722A5E85385}"/>
              </a:ext>
            </a:extLst>
          </p:cNvPr>
          <p:cNvSpPr/>
          <p:nvPr userDrawn="1"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A3998-CCB3-4584-A130-14F2F23D1501}"/>
              </a:ext>
            </a:extLst>
          </p:cNvPr>
          <p:cNvSpPr txBox="1"/>
          <p:nvPr userDrawn="1"/>
        </p:nvSpPr>
        <p:spPr>
          <a:xfrm>
            <a:off x="508000" y="990600"/>
            <a:ext cx="2286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ko-KR" sz="1100" b="1">
                <a:solidFill>
                  <a:srgbClr val="0F766E"/>
                </a:solidFill>
                <a:latin typeface="Pretendard" panose="02000503000000020004" pitchFamily="50" charset="-127"/>
                <a:ea typeface="Pretendard" panose="02000503000000020004" pitchFamily="50" charset="-127"/>
              </a:rPr>
              <a:t>PRACTICE</a:t>
            </a:r>
            <a:endParaRPr lang="ko-KR" altLang="en-US" sz="1100" b="1">
              <a:solidFill>
                <a:srgbClr val="0F766E"/>
              </a:solidFill>
              <a:latin typeface="Pretendard" panose="02000503000000020004" pitchFamily="50" charset="-127"/>
              <a:ea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4635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/ Demonstra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0751E4-C413-4C31-916D-AB62A51B2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E3C44C-83FE-40C7-A9AC-6676312F0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195D92-E097-41F5-BBDA-309FAD9A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93B7E7E-5A4C-4700-AE76-29AD4945D71B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962B536-2756-4475-B870-BA08607C731E}"/>
              </a:ext>
            </a:extLst>
          </p:cNvPr>
          <p:cNvSpPr/>
          <p:nvPr userDrawn="1"/>
        </p:nvSpPr>
        <p:spPr>
          <a:xfrm>
            <a:off x="457200" y="1422400"/>
            <a:ext cx="11277600" cy="4572000"/>
          </a:xfrm>
          <a:prstGeom prst="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6854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C3834-6561-4D02-93C1-AF78EEF81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D4036D5-7428-404C-AA58-099C3A1A0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5C39C-67C1-44B4-9DC0-87890F2E8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DAB0A8-1703-40BE-B958-3AF10F150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B6EA6A-FC56-49B5-9E49-66A8A6585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52185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655F8304-2049-41FC-AAD9-BBD4A8F343F4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3710CA-8068-42D2-85EE-BD68F5F1BCA0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346200"/>
            <a:ext cx="10972800" cy="2565400"/>
          </a:xfrm>
        </p:spPr>
        <p:txBody>
          <a:bodyPr lIns="127000" tIns="101600" rIns="127000" bIns="1016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3935DD-ACEE-45E4-B4BD-30A3D4277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504E98-A62B-4D8C-99F6-C814548CD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A786A78-DB35-4F2F-9B87-1F1B7CD39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AF2B1A-0DE5-485A-8240-C74CB4588F13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873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D97CC56-799F-4D9D-A45B-9371D2E101D6}"/>
              </a:ext>
            </a:extLst>
          </p:cNvPr>
          <p:cNvSpPr/>
          <p:nvPr userDrawn="1"/>
        </p:nvSpPr>
        <p:spPr>
          <a:xfrm>
            <a:off x="457200" y="1219200"/>
            <a:ext cx="76200" cy="28448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F53997F-2273-41DA-8EE8-A0580C37D1D4}"/>
              </a:ext>
            </a:extLst>
          </p:cNvPr>
          <p:cNvSpPr/>
          <p:nvPr userDrawn="1"/>
        </p:nvSpPr>
        <p:spPr>
          <a:xfrm>
            <a:off x="457200" y="1219200"/>
            <a:ext cx="11277600" cy="284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5C9BF5-D4CA-4A9D-B3CC-3696C2D9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78CD79-4472-4851-AC47-52064FC300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346200"/>
            <a:ext cx="10972800" cy="2565400"/>
          </a:xfrm>
        </p:spPr>
        <p:txBody>
          <a:bodyPr lIns="127000" tIns="101600" rIns="127000" bIns="101600"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1600" b="0">
                <a:solidFill>
                  <a:srgbClr val="172033"/>
                </a:solidFill>
                <a:latin typeface="Consolas" panose="020B0609020204030204" pitchFamily="49" charset="0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B73B0A-7F59-43AC-9270-C8D4A2516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" y="4191000"/>
            <a:ext cx="10972800" cy="2133600"/>
          </a:xfrm>
        </p:spPr>
        <p:txBody>
          <a:bodyPr lIns="50800" tIns="50800" rIns="50800" bIns="50800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16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F9A5DDC-261E-408E-BADA-468297FD9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8856005-C35C-4F30-A01E-196A8E43C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8CBD36-65BD-4C30-B17A-68E5F6877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A2EF8E-2996-4A35-8C23-84C859128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053470C-DA9C-40AF-96D1-2A8D0EF20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2EC9CC-BF5B-4E49-A6C9-A08698C07BC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190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0489-8C81-4D6D-B4F9-EA760530F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648D865-27F4-495D-A14B-C12A33E75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2FB284-B061-4C21-B170-7E66007B3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59104D2-2EA7-4CBD-B23E-93D72DC3A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1121AD-A0CB-4A20-A461-5A3908089EC5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2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F2C04E2-1016-4EC9-9574-FE6DF2B2C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B6236A-F372-438E-A07C-98AFC2C47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3BE033-D2B2-4FBA-A6A6-0E19F0688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474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E4450C-D018-44C1-BF1C-753E0C5C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83CC7B-F271-4AC1-9EBC-D504D6AE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E24BF8-9A5E-403C-A1BD-AD5AFCC79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574247-A0BB-4FEA-9973-F0E5AD8E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29ADC-9C2C-4ABB-B96B-8C4F0D2DA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A3613E9-8945-40A0-8AE9-B5D084C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FD7A986-9CE7-4C62-BE39-AB5D7A9A148F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948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F5D591-4783-4DD1-BB9D-F95977F42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E6F4968-9ADA-494A-B384-CE62B10D5C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87E7F8D-E247-4863-9BFD-7C2911B3FA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>
            <a:normAutofit/>
          </a:bodyPr>
          <a:lstStyle>
            <a:lvl1pPr marL="0" indent="0">
              <a:lnSpc>
                <a:spcPct val="108000"/>
              </a:lnSpc>
              <a:spcAft>
                <a:spcPts val="700"/>
              </a:spcAft>
              <a:buNone/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54F979-D8CF-4A5F-8B60-F0EE50B15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613FAA-406C-4B34-8790-CFCBEF6A8D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039A12-A651-4662-B40E-01F9A708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CF12B4F-4BFE-41D8-9969-EDB74A3B708E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6732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ACF20E-706F-46A0-99C2-4FFA67BEE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780F76-4475-4560-B091-7250390A7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8C844E-8C08-458B-8407-8DF80561B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77E75-4ACA-4778-9FC7-7FD3DC325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23534-6728-491E-B8CE-2616A58E9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BC5A219-0890-49AF-A3E5-E99E3E47A6D6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03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077ED7-0604-4A79-A160-68FA9D67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>
            <a:normAutofit/>
          </a:bodyPr>
          <a:lstStyle>
            <a:lvl1pPr>
              <a:defRPr sz="3000" b="1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1C85836-7B81-414B-9733-503CB9C078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>
            <a:normAutofit/>
          </a:bodyPr>
          <a:lstStyle>
            <a:lvl1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  <a:lvl2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2pPr>
            <a:lvl3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3pPr>
            <a:lvl4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4pPr>
            <a:lvl5pPr>
              <a:lnSpc>
                <a:spcPct val="108000"/>
              </a:lnSpc>
              <a:spcAft>
                <a:spcPts val="700"/>
              </a:spcAft>
              <a:defRPr sz="2000" b="0">
                <a:solidFill>
                  <a:srgbClr val="172033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41591-9FD7-48AB-87A6-0BEA46B0D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9D35394C-156E-482D-9CB9-8B56DD9F82D9}" type="datetimeFigureOut">
              <a:rPr lang="en-US" altLang="ko-KR" smtClean="0"/>
              <a:pPr/>
              <a:t>2026-07-13</a:t>
            </a:fld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6F33A1-2948-4A7E-AB5F-1532ED6FD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BE4748-2F81-4DE5-956A-B333238A5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 b="0">
                <a:solidFill>
                  <a:srgbClr val="526077"/>
                </a:solidFill>
                <a:latin typeface="Pretendard" panose="02000503000000020004" pitchFamily="50" charset="-127"/>
                <a:ea typeface="Pretendard" panose="02000503000000020004" pitchFamily="50" charset="-127"/>
              </a:defRPr>
            </a:lvl1pPr>
          </a:lstStyle>
          <a:p>
            <a:fld id="{31FD3EBB-2A0A-4C5A-9F34-FCE5E973995F}" type="slidenum">
              <a:rPr lang="en-US" altLang="ko-KR" smtClean="0"/>
              <a:pPr/>
              <a:t>‹#›</a:t>
            </a:fld>
            <a:endParaRPr lang="en-US" altLang="ko-KR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8C4CB4-E15A-4ACC-8111-C79334CE8D0D}"/>
              </a:ext>
            </a:extLst>
          </p:cNvPr>
          <p:cNvSpPr/>
          <p:nvPr userDrawn="1"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9396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theme/theme1.xml" Type="http://schemas.openxmlformats.org/officeDocument/2006/relationships/them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95588-4790-461A-B72E-3E4D7D34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altLang="en-US" lang="ko-KR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73A353-2D16-47F2-BB23-23C5D300AA04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lang="ko-KR"/>
              <a:t>마스터 텍스트 스타일을 편집하려면 클릭</a:t>
            </a:r>
          </a:p>
          <a:p>
            <a:pPr lvl="1"/>
            <a:r>
              <a:rPr altLang="en-US" lang="ko-KR"/>
              <a:t>두 번째 수준</a:t>
            </a:r>
          </a:p>
          <a:p>
            <a:pPr lvl="2"/>
            <a:r>
              <a:rPr altLang="en-US" lang="ko-KR"/>
              <a:t>세 번째 수준</a:t>
            </a:r>
          </a:p>
          <a:p>
            <a:pPr lvl="3"/>
            <a:r>
              <a:rPr altLang="en-US" lang="ko-KR"/>
              <a:t>네 번째 수준</a:t>
            </a:r>
          </a:p>
          <a:p>
            <a:pPr lvl="4"/>
            <a:r>
              <a:rPr altLang="en-US" lang="ko-KR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BD76-130E-46EA-BF79-C98F1CC5390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9D35394C-156E-482D-9CB9-8B56DD9F82D9}" type="datetimeFigureOut">
              <a:rPr altLang="ko-KR" lang="en-US" smtClean="0"/>
              <a:pPr/>
              <a:t>2026-07-13</a:t>
            </a:fld>
            <a:endParaRPr altLang="ko-KR"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D33F89-0CF3-4F77-AEF8-F1BC23221316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endParaRPr altLang="en-US" 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479EA8-5A3E-4BA3-A094-1929D80D3EE9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b="0" sz="900">
                <a:solidFill>
                  <a:srgbClr val="526077"/>
                </a:solidFill>
                <a:latin charset="-127" panose="02000503000000020004" pitchFamily="50" typeface="Pretendard"/>
                <a:ea charset="-127" panose="02000503000000020004" pitchFamily="50" typeface="Pretendard"/>
              </a:defRPr>
            </a:lvl1pPr>
          </a:lstStyle>
          <a:p>
            <a:fld id="{31FD3EBB-2A0A-4C5A-9F34-FCE5E973995F}" type="slidenum">
              <a:rPr altLang="ko-KR" lang="en-US" smtClean="0"/>
              <a:pPr/>
              <a:t>‹#›</a:t>
            </a:fld>
            <a:endParaRPr altLang="ko-KR" lang="en-US"/>
          </a:p>
        </p:txBody>
      </p:sp>
    </p:spTree>
    <p:extLst>
      <p:ext uri="{BB962C8B-B14F-4D97-AF65-F5344CB8AC3E}">
        <p14:creationId xmlns:p14="http://schemas.microsoft.com/office/powerpoint/2010/main" val="8743109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61" r:id="rId3"/>
    <p:sldLayoutId id="214748366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400" eaLnBrk="1" hangingPunct="1" latinLnBrk="1" rtl="0">
        <a:lnSpc>
          <a:spcPct val="108000"/>
        </a:lnSpc>
        <a:spcBef>
          <a:spcPct val="0"/>
        </a:spcBef>
        <a:spcAft>
          <a:spcPts val="700"/>
        </a:spcAft>
        <a:buNone/>
        <a:defRPr b="0" kern="1200" sz="20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j-cs"/>
        </a:defRPr>
      </a:lvl1pPr>
    </p:titleStyle>
    <p:bodyStyle>
      <a:lvl1pPr algn="l" defTabSz="914400" eaLnBrk="1" hangingPunct="1" indent="-228600" latinLnBrk="1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1pPr>
      <a:lvl2pPr algn="l" defTabSz="914400" eaLnBrk="1" hangingPunct="1" indent="-228600" latinLnBrk="1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2pPr>
      <a:lvl3pPr algn="l" defTabSz="914400" eaLnBrk="1" hangingPunct="1" indent="-228600" latinLnBrk="1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3pPr>
      <a:lvl4pPr algn="l" defTabSz="914400" eaLnBrk="1" hangingPunct="1" indent="-228600" latinLnBrk="1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4pPr>
      <a:lvl5pPr algn="l" defTabSz="914400" eaLnBrk="1" hangingPunct="1" indent="-228600" latinLnBrk="1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b="0" kern="1200" sz="1800">
          <a:solidFill>
            <a:srgbClr val="172033"/>
          </a:solidFill>
          <a:latin charset="-127" panose="02000503000000020004" pitchFamily="50" typeface="Pretendard"/>
          <a:ea charset="-127" panose="02000503000000020004" pitchFamily="50" typeface="Pretendard"/>
          <a:cs typeface="+mn-cs"/>
        </a:defRPr>
      </a:lvl5pPr>
      <a:lvl6pPr algn="l" defTabSz="914400" eaLnBrk="1" hangingPunct="1" indent="-228600" latinLnBrk="1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1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1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1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algn="l" defTabSz="914400" eaLnBrk="1" hangingPunct="1" latinLnBrk="1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1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1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1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1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1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1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1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1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atijalab.org/seurat/articles/pbmc3k_tutorial.html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qc2-1.png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qc2-2.png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var_features-1.png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pca_viz-1.png" TargetMode="Externa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pca_viz-2.png" TargetMode="External" /><Relationship Id="rId3" Type="http://schemas.openxmlformats.org/officeDocument/2006/relationships/hyperlink" Target="https://satijalab.org/seurat/articles/pbmc3k_tutorial_files/figure-html/single-heatmap-1.png" TargetMode="Externa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elbow_plot-1.png" TargetMode="Externa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umapplot-1.png" TargetMode="Externa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markerplots-1.png" TargetMode="External" /><Relationship Id="rId3" Type="http://schemas.openxmlformats.org/officeDocument/2006/relationships/hyperlink" Target="https://satijalab.org/seurat/articles/pbmc3k_tutorial_files/figure-html/markerplots-2.png" TargetMode="Externa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unnamed-chunk-3-1.png" TargetMode="Externa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clusterHeatmap-1.png" TargetMode="Externa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Relationship Id="rId2" Type="http://schemas.openxmlformats.org/officeDocument/2006/relationships/hyperlink" Target="https://satijalab.org/seurat/articles/pbmc3k_tutorial_files/figure-html/labelplot-1.png" TargetMode="Externa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satijalab.org/seurat/articles/pbmc3k_tutorial.html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D9272C-EBA3-439B-9FBC-CB759BCF57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05000"/>
            <a:ext cx="9144000" cy="14224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Guided Clustering Tour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2FF77-EB2E-4A97-8418-D170E6986AF0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r>
              <a:rPr/>
              <a:t>단일세포 전사체 분석의 전체 흐름 만나기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AE61F1-720A-4C21-B65B-4A3173A2C0E2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2026-07-13</a:t>
            </a:r>
          </a:p>
        </p:txBody>
      </p:sp>
      <p:sp>
        <p:nvSpPr>
          <p:cNvPr id="5" name="Lesson Label"/>
          <p:cNvSpPr txBox="1"/>
          <p:nvPr/>
        </p:nvSpPr>
        <p:spPr>
          <a:xfrm>
            <a:off x="1524000" y="863600"/>
            <a:ext cx="9144000" cy="787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/>
          <a:p>
            <a:pPr algn="l"/>
            <a:r>
              <a:rPr lang="ko-KR" sz="3600" b="1">
                <a:solidFill>
                  <a:srgbClr val="2563EB"/>
                </a:solidFill>
                <a:latin typeface="Pretendard"/>
                <a:ea typeface="Pretendard"/>
                <a:cs typeface="Pretendard"/>
              </a:rPr>
              <a:t>1회차</a:t>
            </a:r>
            <a:endParaRPr lang="ko-KR" sz="3600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오늘의 학습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전사체 분석을 연구하는 연구자가 R을 배워야 하는 이유를 이해할 수 있다.</a:t>
            </a:r>
          </a:p>
          <a:p>
            <a:pPr lvl="0" indent="-457200" marL="457200">
              <a:buAutoNum type="arabicPeriod"/>
            </a:pPr>
            <a:r>
              <a:rPr/>
              <a:t>Seurat를 이용하여 단일세포 RNA 시퀀스 데이터를 분석하는 과정을 살펴본다.</a:t>
            </a:r>
          </a:p>
          <a:p>
            <a:pPr lvl="0" indent="-457200" marL="457200">
              <a:buAutoNum type="arabicPeriod"/>
            </a:pPr>
            <a:r>
              <a:rPr/>
              <a:t>PBMC 3k 데이터셋에서 군집 분석하는 과정을 이해할 수 있다.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오늘은 전체 지도를 먼저 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모든 R 문법을 지금 이해할 필요는 없습니다.</a:t>
            </a:r>
          </a:p>
          <a:p>
            <a:pPr lvl="0"/>
            <a:r>
              <a:rPr b="1"/>
              <a:t>어떤 순서로</a:t>
            </a:r>
            <a:r>
              <a:rPr/>
              <a:t>, </a:t>
            </a:r>
            <a:r>
              <a:rPr b="1"/>
              <a:t>무엇을 위해</a:t>
            </a:r>
            <a:r>
              <a:rPr/>
              <a:t> 실행하는지 살펴봅니다.</a:t>
            </a:r>
          </a:p>
          <a:p>
            <a:pPr lvl="0"/>
            <a:r>
              <a:rPr/>
              <a:t>2~12회차에서 오늘의 코드를 다시 읽고 직접 수정합니다.</a:t>
            </a:r>
          </a:p>
          <a:p>
            <a:pPr lvl="0" indent="0" marL="0">
              <a:buNone/>
            </a:pPr>
            <a:r>
              <a:rPr/>
              <a:t>연구 질문: 각 세포에서 측정한 RNA 정보를 이용하여, 어떻게 특정 마커 유전자가 많이 발현되는 세포의 군집을 찾을 수 있을까?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공식 튜토리얼과 같은 순서로 진행합니다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1. 데이터와 객체</a:t>
            </a:r>
          </a:p>
          <a:p>
            <a:pPr lvl="0" indent="0" marL="0">
              <a:buNone/>
            </a:pPr>
            <a:r>
              <a:rPr/>
              <a:t>입력 · QC</a:t>
            </a:r>
          </a:p>
          <a:p>
            <a:pPr lvl="0" indent="0" marL="0">
              <a:buNone/>
            </a:pPr>
            <a:r>
              <a:rPr b="1"/>
              <a:t>2. 전처리와 축소</a:t>
            </a:r>
          </a:p>
          <a:p>
            <a:pPr lvl="0" indent="0" marL="0">
              <a:buNone/>
            </a:pPr>
            <a:r>
              <a:rPr/>
              <a:t>정규화 · PCA</a:t>
            </a:r>
          </a:p>
          <a:p>
            <a:pPr lvl="0" indent="0" marL="0">
              <a:buNone/>
            </a:pPr>
            <a:r>
              <a:rPr b="1"/>
              <a:t>3. 군집과 해석</a:t>
            </a:r>
          </a:p>
          <a:p>
            <a:pPr lvl="0" indent="0" marL="0">
              <a:buNone/>
            </a:pPr>
            <a:r>
              <a:rPr/>
              <a:t>클러스터 · 마커</a:t>
            </a:r>
          </a:p>
          <a:p>
            <a:pPr lvl="0" indent="0" marL="0">
              <a:buNone/>
            </a:pPr>
            <a:r>
              <a:rPr/>
              <a:t>출처: </a:t>
            </a:r>
            <a:r>
              <a:rPr>
                <a:hlinkClick r:id="rId2"/>
              </a:rPr>
              <a:t>Seurat - Guided Clustering Tutorial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분석할 데이터: PBMC 3K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                 세포 1   세포 2   세포 3   ...
유전자 CD3D          4        0       10
유전자 MS4A1         0        6        0
유전자 NKG7          1        0        5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사람 말초혈액 단핵세포(PBMC) 약 2,700개</a:t>
            </a:r>
          </a:p>
          <a:p>
            <a:pPr lvl="0"/>
            <a:r>
              <a:rPr/>
              <a:t>10x Genomics 플랫폼으로 생성된 단일세포 RNA-seq 데이터</a:t>
            </a:r>
          </a:p>
          <a:p>
            <a:pPr lvl="0"/>
            <a:r>
              <a:rPr/>
              <a:t>각 값은 특정 세포에서 검출된 특정 유전자의 UMI count</a:t>
            </a:r>
          </a:p>
          <a:p>
            <a:pPr lvl="0"/>
            <a:r>
              <a:rPr/>
              <a:t>UMI count는 한 세포에서 특정 유전자에 대해 포획·검출된 고유 RNA 분자의 수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Seurat 객체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count matrix를 읽고 분석을 담을 객체를 만듭니다.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필요한 패키지를 불러옵니다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(dplyr)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(Seurat)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(patchwork)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Seurat</a:t>
            </a:r>
            <a:r>
              <a:rPr/>
              <a:t>: 단일세포 데이터 분석 패키지</a:t>
            </a:r>
          </a:p>
          <a:p>
            <a:pPr lvl="0"/>
            <a:r>
              <a:rPr>
                <a:latin typeface="Consolas"/>
              </a:rPr>
              <a:t>dplyr</a:t>
            </a:r>
            <a:r>
              <a:rPr/>
              <a:t>: 표 형태 결과 정리 패키지</a:t>
            </a:r>
          </a:p>
          <a:p>
            <a:pPr lvl="0"/>
            <a:r>
              <a:rPr>
                <a:latin typeface="Consolas"/>
              </a:rPr>
              <a:t>patchwork</a:t>
            </a:r>
            <a:r>
              <a:rPr/>
              <a:t>: 여러 plot 조합 패키지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library()</a:t>
            </a:r>
            <a:r>
              <a:rPr/>
              <a:t>와 패키지는 2회차에서 자세히 배웁니다.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count matrix를 읽습니다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pbmc.data &lt;- </a:t>
            </a:r>
            <a:r>
              <a:rPr>
                <a:solidFill>
                  <a:srgbClr val="4758AB"/>
                </a:solidFill>
                <a:latin typeface="Consolas"/>
              </a:rPr>
              <a:t>Read10X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data.dir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"data/pbmc3k/filtered_gene_bc_matrices/hg19/"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pbmc.data[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"CD3D"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"TCL1A"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),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]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입력</a:t>
            </a:r>
            <a:r>
              <a:rPr/>
              <a:t>: Cell Ranger 출력 폴더</a:t>
            </a:r>
            <a:br/>
            <a:r>
              <a:rPr b="1"/>
              <a:t>출력</a:t>
            </a:r>
            <a:r>
              <a:rPr/>
              <a:t>: 유전자 × 세포 UMI count matrix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Seurat 객체를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CreateSeuratObject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counts =</a:t>
            </a:r>
            <a:r>
              <a:rPr>
                <a:solidFill>
                  <a:srgbClr val="003B4F"/>
                </a:solidFill>
                <a:latin typeface="Consolas"/>
              </a:rPr>
              <a:t> pbmc.data,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project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"pbmc3k"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min.cells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min.features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원시 count matrix를 </a:t>
            </a:r>
            <a:r>
              <a:rPr>
                <a:latin typeface="Consolas"/>
              </a:rPr>
              <a:t>pbmc</a:t>
            </a:r>
            <a:r>
              <a:rPr/>
              <a:t> 객체에 저장합니다.</a:t>
            </a:r>
          </a:p>
          <a:p>
            <a:pPr lvl="0"/>
            <a:r>
              <a:rPr/>
              <a:t>너무 적은 세포에서 검출된 유전자와 유전자가 거의 없는 세포를 1차로 제외합니다.</a:t>
            </a:r>
          </a:p>
          <a:p>
            <a:pPr lvl="0"/>
            <a:r>
              <a:rPr/>
              <a:t>이후 분석 결과도 같은 객체에 차례로 추가됩니다.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count matrix는 대부분 0입니다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dense.size &lt;- </a:t>
            </a:r>
            <a:r>
              <a:rPr>
                <a:solidFill>
                  <a:srgbClr val="4758AB"/>
                </a:solidFill>
                <a:latin typeface="Consolas"/>
              </a:rPr>
              <a:t>object.size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as.matrix</a:t>
            </a:r>
            <a:r>
              <a:rPr>
                <a:solidFill>
                  <a:srgbClr val="003B4F"/>
                </a:solidFill>
                <a:latin typeface="Consolas"/>
              </a:rPr>
              <a:t>(pbmc.data))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sparse.size &lt;- </a:t>
            </a:r>
            <a:r>
              <a:rPr>
                <a:solidFill>
                  <a:srgbClr val="4758AB"/>
                </a:solidFill>
                <a:latin typeface="Consolas"/>
              </a:rPr>
              <a:t>object.size</a:t>
            </a:r>
            <a:r>
              <a:rPr>
                <a:solidFill>
                  <a:srgbClr val="003B4F"/>
                </a:solidFill>
                <a:latin typeface="Consolas"/>
              </a:rPr>
              <a:t>(pbmc.data)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dense.size </a:t>
            </a:r>
            <a:r>
              <a:rPr>
                <a:solidFill>
                  <a:srgbClr val="5E5E5E"/>
                </a:solidFill>
                <a:latin typeface="Consolas"/>
              </a:rPr>
              <a:t>/</a:t>
            </a:r>
            <a:r>
              <a:rPr>
                <a:solidFill>
                  <a:srgbClr val="003B4F"/>
                </a:solidFill>
                <a:latin typeface="Consolas"/>
              </a:rPr>
              <a:t> sparse.size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한 세포에서는 전체 유전자 중 일부만 검출됩니다.</a:t>
            </a:r>
          </a:p>
          <a:p>
            <a:pPr lvl="0"/>
            <a:r>
              <a:rPr/>
              <a:t>0을 모두 저장하면 메모리를 많이 사용합니다.</a:t>
            </a:r>
          </a:p>
          <a:p>
            <a:pPr lvl="0"/>
            <a:r>
              <a:rPr/>
              <a:t>Seurat는 가능한 경우 </a:t>
            </a:r>
            <a:r>
              <a:rPr b="1"/>
              <a:t>희소 행렬</a:t>
            </a:r>
            <a:r>
              <a:rPr/>
              <a:t>을 사용합니다.</a:t>
            </a:r>
          </a:p>
          <a:p>
            <a:pPr lvl="0" indent="0" marL="0">
              <a:buNone/>
            </a:pPr>
            <a:r>
              <a:rPr/>
              <a:t>행렬과 희소 행렬은 6회차에서 다시 다룹니다.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QC와 세포 선택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분석에 사용할 품질 좋은 세포를 선택합니다.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 가지 QC 지표를 확인합니다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QC 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의미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지나치게 높거나 낮을 때 의심할 점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nFeature_RNA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검출된 유전자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빈 방울, 저품질 세포, doublet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nCount_RNA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전체 UMI 수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RNA가 적은 세포 또는 doublet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nsolas"/>
                        </a:rPr>
                        <a:t>percent.mt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미토콘드리아 유전자 비율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손상되거나 죽어가는 세포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QC 기준은 모든 데이터에 동일하게 적용하는 정답이 아닙니다. 분포와 실험 조건을 함께 확인해야 합니다.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미토콘드리아 유전자 비율을 계산합니다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pbmc[[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]] &lt;- </a:t>
            </a:r>
            <a:r>
              <a:rPr>
                <a:solidFill>
                  <a:srgbClr val="4758AB"/>
                </a:solidFill>
                <a:latin typeface="Consolas"/>
              </a:rPr>
              <a:t>PercentageFeatureSet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pattern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"^MT-"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(pbmc</a:t>
            </a:r>
            <a:r>
              <a:rPr>
                <a:solidFill>
                  <a:srgbClr val="5E5E5E"/>
                </a:solidFill>
                <a:latin typeface="Consolas"/>
              </a:rPr>
              <a:t>@</a:t>
            </a:r>
            <a:r>
              <a:rPr>
                <a:solidFill>
                  <a:srgbClr val="003B4F"/>
                </a:solidFill>
                <a:latin typeface="Consolas"/>
              </a:rPr>
              <a:t>meta.data,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이름이 </a:t>
            </a:r>
            <a:r>
              <a:rPr>
                <a:latin typeface="Consolas"/>
              </a:rPr>
              <a:t>MT-</a:t>
            </a:r>
            <a:r>
              <a:rPr/>
              <a:t>로 시작하는 유전자 count의 비율을 계산합니다.</a:t>
            </a:r>
          </a:p>
          <a:p>
            <a:pPr lvl="0"/>
            <a:r>
              <a:rPr/>
              <a:t>결과는 각 세포의 metadata에 </a:t>
            </a:r>
            <a:r>
              <a:rPr>
                <a:latin typeface="Consolas"/>
              </a:rPr>
              <a:t>percent.mt</a:t>
            </a:r>
            <a:r>
              <a:rPr/>
              <a:t> 열로 추가됩니다.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QC 지표의 분포를 시각화합니다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VlnPlot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"nFeature_RNA"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ncol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플롯 보기</a:t>
            </a:r>
          </a:p>
          <a:p>
            <a:pPr lvl="0" indent="0" marL="0">
              <a:buNone/>
            </a:pPr>
            <a:r>
              <a:rPr b="1"/>
              <a:t>확인할 것</a:t>
            </a:r>
          </a:p>
          <a:p>
            <a:pPr lvl="0"/>
            <a:r>
              <a:rPr/>
              <a:t>대부분의 세포가 모여 있는 범위</a:t>
            </a:r>
          </a:p>
          <a:p>
            <a:pPr lvl="0"/>
            <a:r>
              <a:rPr/>
              <a:t>극단적으로 유전자 또는 UMI 수가 많은 세포</a:t>
            </a:r>
          </a:p>
          <a:p>
            <a:pPr lvl="0"/>
            <a:r>
              <a:rPr/>
              <a:t>미토콘드리아 비율이 높은 세포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QC 지표 사이의 관계도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plot1 &lt;- </a:t>
            </a:r>
            <a:r>
              <a:rPr>
                <a:solidFill>
                  <a:srgbClr val="4758AB"/>
                </a:solidFill>
                <a:latin typeface="Consolas"/>
              </a:rPr>
              <a:t>FeatureScatter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 </a:t>
            </a:r>
            <a:r>
              <a:rPr>
                <a:solidFill>
                  <a:srgbClr val="657422"/>
                </a:solidFill>
                <a:latin typeface="Consolas"/>
              </a:rPr>
              <a:t>feature1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feature2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"percent.mt"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plot2 &lt;- </a:t>
            </a:r>
            <a:r>
              <a:rPr>
                <a:solidFill>
                  <a:srgbClr val="4758AB"/>
                </a:solidFill>
                <a:latin typeface="Consolas"/>
              </a:rPr>
              <a:t>FeatureScatter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 </a:t>
            </a:r>
            <a:r>
              <a:rPr>
                <a:solidFill>
                  <a:srgbClr val="657422"/>
                </a:solidFill>
                <a:latin typeface="Consolas"/>
              </a:rPr>
              <a:t>feature1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"nCount_RNA"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feature2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"nFeature_RNA"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plot1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plot2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플롯 보기</a:t>
            </a:r>
          </a:p>
          <a:p>
            <a:pPr lvl="0" indent="0" marL="0">
              <a:buNone/>
            </a:pPr>
            <a:r>
              <a:rPr/>
              <a:t>산점도를 이용하면 한 지표만 볼 때 놓칠 수 있는 세포를 확인할 수 있습니다.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QC 조건으로 세포를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subset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subset =</a:t>
            </a:r>
            <a:r>
              <a:rPr>
                <a:solidFill>
                  <a:srgbClr val="003B4F"/>
                </a:solidFill>
                <a:latin typeface="Consolas"/>
              </a:rPr>
              <a:t> nFeature_RNA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nFeature_RNA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2500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5E5E5E"/>
                </a:solidFill>
                <a:latin typeface="Consolas"/>
              </a:rPr>
              <a:t>&amp;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percent.mt </a:t>
            </a:r>
            <a:r>
              <a:rPr>
                <a:solidFill>
                  <a:srgbClr val="5E5E5E"/>
                </a:solidFill>
                <a:latin typeface="Consolas"/>
              </a:rPr>
              <a:t>&lt;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검출 유전자가 너무 적거나 많은 세포를 제외합니다.</a:t>
            </a:r>
          </a:p>
          <a:p>
            <a:pPr lvl="0"/>
            <a:r>
              <a:rPr/>
              <a:t>미토콘드리아 비율이 5% 이상인 세포를 제외합니다.</a:t>
            </a:r>
          </a:p>
          <a:p>
            <a:pPr lvl="0" indent="0" marL="0">
              <a:buNone/>
            </a:pPr>
            <a:r>
              <a:rPr>
                <a:latin typeface="Consolas"/>
              </a:rPr>
              <a:t>&gt;</a:t>
            </a:r>
            <a:r>
              <a:rPr/>
              <a:t>, </a:t>
            </a:r>
            <a:r>
              <a:rPr>
                <a:latin typeface="Consolas"/>
              </a:rPr>
              <a:t>&lt;</a:t>
            </a:r>
            <a:r>
              <a:rPr/>
              <a:t>, </a:t>
            </a:r>
            <a:r>
              <a:rPr>
                <a:latin typeface="Consolas"/>
              </a:rPr>
              <a:t>&amp;</a:t>
            </a:r>
            <a:r>
              <a:rPr/>
              <a:t>와 필터 조건은 8회차에서 자세히 배웁니다.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표준 전처리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세포를 비교하고 주요 생물학적 변이를 찾을 준비를 합니다.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세포 간 발현량을 비교할 수 있게 정규화합니다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normalization.method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"LogNormalize"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scale.factor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nsolas"/>
              </a:rPr>
              <a:t>LogNormalize</a:t>
            </a:r>
            <a:r>
              <a:rPr/>
              <a:t>는 각 세포의 발현량을 전체 count로 나누고, 일정한 크기로 맞춘 뒤 log 변환합니다.</a:t>
            </a:r>
          </a:p>
          <a:p>
            <a:pPr lvl="0" indent="0" marL="0">
              <a:buNone/>
            </a:pPr>
            <a:r>
              <a:rPr/>
              <a:t>오늘은 수식보다 “세포 간 비교를 준비한다”는 목적에 집중합니다.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세포 간 차이를 잘 보여주는 유전자를 선택합니다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FindVariableFeatures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selection.method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"vst"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nfeatures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2000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top10 &lt;- </a:t>
            </a:r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(pbmc),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세포마다 발현량 차이가 큰 유전자 2,000개를 선택합니다.</a:t>
            </a:r>
          </a:p>
          <a:p>
            <a:pPr lvl="0"/>
            <a:r>
              <a:rPr/>
              <a:t>이후 PCA는 주로 이 유전자들의 정보를 사용합니다.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고변이 유전자를 시각화합니다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plot1 &lt;- </a:t>
            </a:r>
            <a:r>
              <a:rPr>
                <a:solidFill>
                  <a:srgbClr val="4758AB"/>
                </a:solidFill>
                <a:latin typeface="Consolas"/>
              </a:rPr>
              <a:t>VariableFeaturePlot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plot2 &lt;- </a:t>
            </a:r>
            <a:r>
              <a:rPr>
                <a:solidFill>
                  <a:srgbClr val="4758AB"/>
                </a:solidFill>
                <a:latin typeface="Consolas"/>
              </a:rPr>
              <a:t>LabelPoints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plot =</a:t>
            </a:r>
            <a:r>
              <a:rPr>
                <a:solidFill>
                  <a:srgbClr val="003B4F"/>
                </a:solidFill>
                <a:latin typeface="Consolas"/>
              </a:rPr>
              <a:t> plot1,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points =</a:t>
            </a:r>
            <a:r>
              <a:rPr>
                <a:solidFill>
                  <a:srgbClr val="003B4F"/>
                </a:solidFill>
                <a:latin typeface="Consolas"/>
              </a:rPr>
              <a:t> top10,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repel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plot1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plot2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플롯 보기</a:t>
            </a:r>
          </a:p>
          <a:p>
            <a:pPr lvl="0" indent="0" marL="0">
              <a:buNone/>
            </a:pPr>
            <a:r>
              <a:rPr/>
              <a:t>점 하나는 유전자 하나를 나타냅니다. 라벨은 변이가 큰 대표 유전자입니다.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유전자별 값의 크기를 맞춥니다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all.genes &lt;- </a:t>
            </a:r>
            <a:r>
              <a:rPr>
                <a:solidFill>
                  <a:srgbClr val="4758AB"/>
                </a:solidFill>
                <a:latin typeface="Consolas"/>
              </a:rPr>
              <a:t>rownames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ScaleData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all.genes)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유전자별 평균을 0에 가깝게 맞춥니다.</a:t>
            </a:r>
          </a:p>
          <a:p>
            <a:pPr lvl="0"/>
            <a:r>
              <a:rPr/>
              <a:t>유전자별 분산을 1에 가깝게 맞춥니다.</a:t>
            </a:r>
          </a:p>
          <a:p>
            <a:pPr lvl="0"/>
            <a:r>
              <a:rPr/>
              <a:t>발현량이 큰 일부 유전자만 PCA를 지배하는 것을 줄입니다.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PCA와 차원 선택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수천 개 유전자의 정보를 차원 축소를 통해 더 적은 축으로 요약합니다.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PCA(Principal Component Analysis)를 실행합니다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RunPCA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VariableFeatures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object =</a:t>
            </a:r>
            <a:r>
              <a:rPr>
                <a:solidFill>
                  <a:srgbClr val="003B4F"/>
                </a:solidFill>
                <a:latin typeface="Consolas"/>
              </a:rPr>
              <a:t> 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PCA(주성분 분석)는 많은 변수에 포함된 정보를 소수의 새로운 변수로 요약합니다.</a:t>
            </a:r>
          </a:p>
          <a:p>
            <a:pPr lvl="0" indent="0" marL="0">
              <a:buNone/>
            </a:pPr>
            <a:r>
              <a:rPr b="1"/>
              <a:t>입력</a:t>
            </a:r>
            <a:r>
              <a:rPr/>
              <a:t>: 스케일링된 고변이 유전자</a:t>
            </a:r>
            <a:br/>
            <a:r>
              <a:rPr b="1"/>
              <a:t>출력</a:t>
            </a:r>
            <a:r>
              <a:rPr/>
              <a:t>: 세포의 PC 좌표와 유전자의 PC loading</a:t>
            </a:r>
          </a:p>
          <a:p>
            <a:pPr lvl="0" indent="0" marL="0">
              <a:buNone/>
            </a:pPr>
            <a:r>
              <a:rPr/>
              <a:t>각 PC는 세포 사이의 주요한 발현 변화 패턴을 요약합니다.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어떤 유전자가 PC를 만드는지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print</a:t>
            </a:r>
            <a:r>
              <a:rPr>
                <a:solidFill>
                  <a:srgbClr val="003B4F"/>
                </a:solidFill>
                <a:latin typeface="Consolas"/>
              </a:rPr>
              <a:t>(pbmc[[</a:t>
            </a:r>
            <a:r>
              <a:rPr>
                <a:solidFill>
                  <a:srgbClr val="20794D"/>
                </a:solidFill>
                <a:latin typeface="Consolas"/>
              </a:rPr>
              <a:t>"pca"</a:t>
            </a:r>
            <a:r>
              <a:rPr>
                <a:solidFill>
                  <a:srgbClr val="003B4F"/>
                </a:solidFill>
                <a:latin typeface="Consolas"/>
              </a:rPr>
              <a:t>]],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nfeatures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VizDimLoadings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"pca"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출력 보기</a:t>
            </a:r>
          </a:p>
          <a:p>
            <a:pPr lvl="0" indent="0" marL="0">
              <a:buNone/>
            </a:pPr>
            <a:r>
              <a:rPr/>
              <a:t>loading의 절댓값이 큰 유전자는 해당 PC를 구분하는 데 크게 기여합니다.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공간의 세포와 유전자를 시각화합니다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"pca"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DimHeatmap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cells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500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balanced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DimPlot()</a:t>
            </a:r>
            <a:r>
              <a:rPr/>
              <a:t>: PCA 공간에서 세포의 분포 </a:t>
            </a:r>
            <a:r>
              <a:rPr>
                <a:hlinkClick r:id="rId2"/>
              </a:rPr>
              <a:t>출력 보기</a:t>
            </a:r>
          </a:p>
          <a:p>
            <a:pPr lvl="0"/>
            <a:r>
              <a:rPr>
                <a:latin typeface="Consolas"/>
              </a:rPr>
              <a:t>DimHeatmap()</a:t>
            </a:r>
            <a:r>
              <a:rPr/>
              <a:t>: PC를 정의하는 유전자와 세포의 패턴 </a:t>
            </a:r>
            <a:r>
              <a:rPr>
                <a:hlinkClick r:id="rId3"/>
              </a:rPr>
              <a:t>출력 보기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사용할 PC 수를 결정합니다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ElbowPlot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출력 보기</a:t>
            </a:r>
          </a:p>
          <a:p>
            <a:pPr lvl="0"/>
            <a:r>
              <a:rPr/>
              <a:t>PC를 늘릴수록 설명하는 새로운 정보는 점차 줄어듭니다.</a:t>
            </a:r>
          </a:p>
          <a:p>
            <a:pPr lvl="0"/>
            <a:r>
              <a:rPr/>
              <a:t>elbow가 완만해지는 구간과 PC별 유전자를 함께 확인합니다.</a:t>
            </a:r>
          </a:p>
          <a:p>
            <a:pPr lvl="0"/>
            <a:r>
              <a:rPr/>
              <a:t>공식 PBMC 3K 예제는 이후 분석에 </a:t>
            </a:r>
            <a:r>
              <a:rPr b="1"/>
              <a:t>PC 1~10</a:t>
            </a:r>
            <a:r>
              <a:rPr/>
              <a:t>을 사용합니다.</a:t>
            </a:r>
          </a:p>
          <a:p>
            <a:pPr lvl="0" indent="0" marL="0">
              <a:buNone/>
            </a:pPr>
            <a:r>
              <a:rPr/>
              <a:t>PC 수는 정답 하나로 결정되지 않습니다. 공식 튜토리얼도 여러 PC 수로 결과를 비교하도록 권장합니다.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그래프 기반 클러스터링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PCA 공간에서 비슷한 세포를 연결하고 군집을 찾습니다.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비슷한 세포의 이웃 그래프를 만듭니다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FindNeighbors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PC 1~10에서 가까운 세포를 찾습니다.</a:t>
            </a:r>
          </a:p>
          <a:p>
            <a:pPr lvl="0"/>
            <a:r>
              <a:rPr/>
              <a:t>이웃을 많이 공유하는 세포 사이의 연결을 강화합니다.</a:t>
            </a:r>
          </a:p>
          <a:p>
            <a:pPr lvl="0"/>
            <a:r>
              <a:rPr/>
              <a:t>결과 그래프는 </a:t>
            </a:r>
            <a:r>
              <a:rPr>
                <a:latin typeface="Consolas"/>
              </a:rPr>
              <a:t>pbmc</a:t>
            </a:r>
            <a:r>
              <a:rPr/>
              <a:t> 객체에 저장됩니다.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연결이 조밀한 세포들을 군집으로 나눕니다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4758AB"/>
                </a:solidFill>
                <a:latin typeface="Consolas"/>
              </a:rPr>
              <a:t>Idents</a:t>
            </a:r>
            <a:r>
              <a:rPr>
                <a:solidFill>
                  <a:srgbClr val="003B4F"/>
                </a:solidFill>
                <a:latin typeface="Consolas"/>
              </a:rPr>
              <a:t>(pbmc),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resolution</a:t>
            </a:r>
            <a:r>
              <a:rPr/>
              <a:t>이 높을수록 일반적으로 더 세분된 군집이 만들어집니다.</a:t>
            </a:r>
          </a:p>
          <a:p>
            <a:pPr lvl="0"/>
            <a:r>
              <a:rPr/>
              <a:t>공식 예제에서는 9개 군집(0~8)이 생성됩니다.</a:t>
            </a:r>
          </a:p>
          <a:p>
            <a:pPr lvl="0"/>
            <a:r>
              <a:rPr/>
              <a:t>군집 번호 자체에는 아직 생물학적 이름이 없습니다.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UMAP 시각화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세포 사이의 국소적인 관계를 2차원에서 살펴봅니다.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UMAP을 계산하고 군집을 표시합니다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RunUMAP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UMAP(Uniform Manifold Approximation and Projection)은 고차원 데이터를 2차원 또는 3차원 공간으로 축소하여 시각화하는 방법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출력 보기</a:t>
            </a:r>
          </a:p>
          <a:p>
            <a:pPr lvl="0"/>
            <a:r>
              <a:rPr/>
              <a:t>점 하나는 세포 하나입니다.</a:t>
            </a:r>
          </a:p>
          <a:p>
            <a:pPr lvl="0"/>
            <a:r>
              <a:rPr/>
              <a:t>색은 </a:t>
            </a:r>
            <a:r>
              <a:rPr>
                <a:latin typeface="Consolas"/>
              </a:rPr>
              <a:t>FindClusters()</a:t>
            </a:r>
            <a:r>
              <a:rPr/>
              <a:t>가 지정한 군집입니다.</a:t>
            </a:r>
          </a:p>
          <a:p>
            <a:pPr lvl="0"/>
            <a:r>
              <a:rPr/>
              <a:t>가까운 점들은 선택한 특징 공간에서 서로 유사합니다.</a:t>
            </a:r>
          </a:p>
          <a:p>
            <a:pPr lvl="0" indent="0" marL="0">
              <a:buNone/>
            </a:pPr>
            <a:r>
              <a:rPr/>
              <a:t>UMAP은 고차원 데이터의 완전한 지도가 아닙니다. 군집 사이 거리나 모양만으로 생물학적 결론을 내리지 않습니다.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중간 객체를 저장할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saveRDS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file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"output/pbmc_tutorial.rds"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시간이 오래 걸리는 앞 단계를 다시 실행하지 않아도 됩니다.</a:t>
            </a:r>
          </a:p>
          <a:p>
            <a:pPr lvl="0"/>
            <a:r>
              <a:rPr>
                <a:latin typeface="Consolas"/>
              </a:rPr>
              <a:t>readRDS()</a:t>
            </a:r>
            <a:r>
              <a:rPr/>
              <a:t>로 같은 객체를 다시 불러올 수 있습니다.</a:t>
            </a:r>
          </a:p>
          <a:p>
            <a:pPr lvl="0"/>
            <a:r>
              <a:rPr/>
              <a:t>분석 단계와 파일명을 기록하면 재현성이 좋아집니다.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클러스터 마커 탐색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각 군집을 다른 세포들과 구분하는 유전자를 찾습니다.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한 군집의 마커를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cluster2.markers &lt;- </a:t>
            </a:r>
            <a:r>
              <a:rPr>
                <a:solidFill>
                  <a:srgbClr val="4758AB"/>
                </a:solidFill>
                <a:latin typeface="Consolas"/>
              </a:rPr>
              <a:t>FindMarkers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ident.1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2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head</a:t>
            </a:r>
            <a:r>
              <a:rPr>
                <a:solidFill>
                  <a:srgbClr val="003B4F"/>
                </a:solidFill>
                <a:latin typeface="Consolas"/>
              </a:rPr>
              <a:t>(cluster2.markers, 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군집 2와 나머지 모든 세포를 비교하여 차등 발현 유전자를 찾습니다.</a:t>
            </a:r>
          </a:p>
          <a:p>
            <a:pPr lvl="0" indent="0" marL="0">
              <a:buNone/>
            </a:pPr>
            <a:r>
              <a:rPr b="1"/>
              <a:t>확인할 열</a:t>
            </a:r>
            <a:r>
              <a:rPr/>
              <a:t>: </a:t>
            </a:r>
            <a:r>
              <a:rPr>
                <a:latin typeface="Consolas"/>
              </a:rPr>
              <a:t>avg_log2FC</a:t>
            </a:r>
            <a:r>
              <a:rPr/>
              <a:t>, </a:t>
            </a:r>
            <a:r>
              <a:rPr>
                <a:latin typeface="Consolas"/>
              </a:rPr>
              <a:t>pct.1</a:t>
            </a:r>
            <a:r>
              <a:rPr/>
              <a:t>, </a:t>
            </a:r>
            <a:r>
              <a:rPr>
                <a:latin typeface="Consolas"/>
              </a:rPr>
              <a:t>pct.2</a:t>
            </a:r>
            <a:r>
              <a:rPr/>
              <a:t>, </a:t>
            </a:r>
            <a:r>
              <a:rPr>
                <a:latin typeface="Consolas"/>
              </a:rPr>
              <a:t>p_val_adj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지정한 군집끼리 비교할 수도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cluster5.markers &lt;- </a:t>
            </a:r>
            <a:r>
              <a:rPr>
                <a:solidFill>
                  <a:srgbClr val="4758AB"/>
                </a:solidFill>
                <a:latin typeface="Consolas"/>
              </a:rPr>
              <a:t>FindMarkers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ident.1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ident.2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AD0000"/>
                </a:solidFill>
                <a:latin typeface="Consolas"/>
              </a:rPr>
              <a:t>3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코드는 군집 5를 군집 0과 3의 세포들과 비교합니다.</a:t>
            </a:r>
          </a:p>
          <a:p>
            <a:pPr lvl="0" indent="0" marL="0">
              <a:buNone/>
            </a:pPr>
            <a:r>
              <a:rPr/>
              <a:t>어떤 집단을 비교하는지에 따라 “마커 유전자”의 의미가 달라집니다.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모든 군집의 양의 마커를 찾습니다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pbmc.markers &lt;- </a:t>
            </a:r>
            <a:r>
              <a:rPr>
                <a:solidFill>
                  <a:srgbClr val="4758AB"/>
                </a:solidFill>
                <a:latin typeface="Consolas"/>
              </a:rPr>
              <a:t>FindAllMarkers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only.pos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pbmc.markers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dplyr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cluster0.markers &lt;- </a:t>
            </a:r>
            <a:r>
              <a:rPr>
                <a:solidFill>
                  <a:srgbClr val="4758AB"/>
                </a:solidFill>
                <a:latin typeface="Consolas"/>
              </a:rPr>
              <a:t>FindMarkers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ident.1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logfc.threshold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0.25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test.use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"roc"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only.pos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각 군집을 나머지 모든 세포와 비교합니다.</a:t>
            </a:r>
          </a:p>
          <a:p>
            <a:pPr lvl="0"/>
            <a:r>
              <a:rPr>
                <a:latin typeface="Consolas"/>
              </a:rPr>
              <a:t>only.pos = TRUE</a:t>
            </a:r>
            <a:r>
              <a:rPr/>
              <a:t>는 해당 군집에서 더 높게 발현되는 유전자만 반환합니다.</a:t>
            </a:r>
          </a:p>
          <a:p>
            <a:pPr lvl="0"/>
            <a:r>
              <a:rPr/>
              <a:t>공식 튜토리얼은 이어서 ROC 검정을 선택하는 예시도 보여줍니다.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마커 발현을 여러 방식으로 확인합니다 (바이올린 플롯)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VlnPlot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"CD79A"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VlnPlot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"NKG7"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"PF4"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slot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"counts"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log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VlnPlot()</a:t>
            </a:r>
            <a:r>
              <a:rPr/>
              <a:t>: 군집별 발현 분포 </a:t>
            </a:r>
            <a:r>
              <a:rPr>
                <a:hlinkClick r:id="rId2"/>
              </a:rPr>
              <a:t>출력 보기</a:t>
            </a:r>
          </a:p>
          <a:p>
            <a:pPr lvl="0"/>
            <a:r>
              <a:rPr>
                <a:latin typeface="Consolas"/>
              </a:rPr>
              <a:t>slot = "counts"</a:t>
            </a:r>
            <a:r>
              <a:rPr/>
              <a:t>: 정규화된 값 대신 raw count를 표시하는 예시 </a:t>
            </a:r>
            <a:r>
              <a:rPr>
                <a:hlinkClick r:id="rId3"/>
              </a:rPr>
              <a:t>출력 보기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마커 발현을 여러 방식으로 확인합니다 (피처 플롯)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FeaturePlot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20794D"/>
                </a:solidFill>
                <a:latin typeface="Consolas"/>
              </a:rPr>
              <a:t>"MS4A1"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"GNLY"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"CD3E"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"CD14"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"FCER1A"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20794D"/>
                </a:solidFill>
                <a:latin typeface="Consolas"/>
              </a:rPr>
              <a:t>"FCGR3A"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"LYZ"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"PPBP"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"CD8A"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>
                <a:latin typeface="Consolas"/>
              </a:rPr>
              <a:t>FeaturePlot()</a:t>
            </a:r>
            <a:r>
              <a:rPr/>
              <a:t>: UMAP 위의 발현 위치 </a:t>
            </a:r>
            <a:r>
              <a:rPr>
                <a:hlinkClick r:id="rId2"/>
              </a:rPr>
              <a:t>출력 보기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대표 마커를 heatmap으로 비교합니다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pbmc.markers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group_by</a:t>
            </a:r>
            <a:r>
              <a:rPr>
                <a:solidFill>
                  <a:srgbClr val="003B4F"/>
                </a:solidFill>
                <a:latin typeface="Consolas"/>
              </a:rPr>
              <a:t>(cluster)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dplyr</a:t>
            </a:r>
            <a:r>
              <a:rPr>
                <a:solidFill>
                  <a:srgbClr val="5E5E5E"/>
                </a:solidFill>
                <a:latin typeface="Consolas"/>
              </a:rPr>
              <a:t>::</a:t>
            </a:r>
            <a:r>
              <a:rPr>
                <a:solidFill>
                  <a:srgbClr val="4758AB"/>
                </a:solidFill>
                <a:latin typeface="Consolas"/>
              </a:rPr>
              <a:t>filter</a:t>
            </a:r>
            <a:r>
              <a:rPr>
                <a:solidFill>
                  <a:srgbClr val="003B4F"/>
                </a:solidFill>
                <a:latin typeface="Consolas"/>
              </a:rPr>
              <a:t>(avg_log2FC </a:t>
            </a:r>
            <a:r>
              <a:rPr>
                <a:solidFill>
                  <a:srgbClr val="5E5E5E"/>
                </a:solidFill>
                <a:latin typeface="Consolas"/>
              </a:rPr>
              <a:t>&gt;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slice_head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ungroup</a:t>
            </a:r>
            <a:r>
              <a:rPr>
                <a:solidFill>
                  <a:srgbClr val="003B4F"/>
                </a:solidFill>
                <a:latin typeface="Consolas"/>
              </a:rPr>
              <a:t>() -&gt; top10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DoHeatmap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features =</a:t>
            </a:r>
            <a:r>
              <a:rPr>
                <a:solidFill>
                  <a:srgbClr val="003B4F"/>
                </a:solidFill>
                <a:latin typeface="Consolas"/>
              </a:rPr>
              <a:t> top10</a:t>
            </a:r>
            <a:r>
              <a:rPr>
                <a:solidFill>
                  <a:srgbClr val="5E5E5E"/>
                </a:solidFill>
                <a:latin typeface="Consolas"/>
              </a:rPr>
              <a:t>$</a:t>
            </a:r>
            <a:r>
              <a:rPr>
                <a:solidFill>
                  <a:srgbClr val="003B4F"/>
                </a:solidFill>
                <a:latin typeface="Consolas"/>
              </a:rPr>
              <a:t>gene)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NoLegend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출력 보기</a:t>
            </a:r>
          </a:p>
          <a:p>
            <a:pPr lvl="0" indent="0" marL="0">
              <a:buNone/>
            </a:pPr>
            <a:r>
              <a:rPr/>
              <a:t>각 군집의 대표 마커가 어느 세포에서 높게 발현되는지 한 번에 비교합니다.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세포 유형 이름 지정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마커와 생물학적 지식을 이용해 군집을 해석합니다.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canonical marker와 군집을 연결합니다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군집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대표 마커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공식 튜토리얼의 세포 유형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IL7R, CCR7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Naive CD4 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CD14, LYZ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CD14+ Mono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IL7R, S100A4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Memory CD4 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MS4A1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CD8A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CD8 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FCGR3A, MS4A7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FCGR3A+ Mono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GNLY, NKG7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FCER1A, CST3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DC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PPBP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Platelet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군집 ID를 세포 유형 이름으로 바꿉니다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new.cluster.ids &lt;- </a:t>
            </a:r>
            <a:r>
              <a:rPr>
                <a:solidFill>
                  <a:srgbClr val="4758AB"/>
                </a:solidFill>
                <a:latin typeface="Consolas"/>
              </a:rPr>
              <a:t>c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"Naive CD4 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"CD14+ Mono"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"Memory CD4 T"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"B"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"CD8 T"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"FCGR3A+ Mono"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20794D"/>
                </a:solidFill>
                <a:latin typeface="Consolas"/>
              </a:rPr>
              <a:t>"NK"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"DC"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20794D"/>
                </a:solidFill>
                <a:latin typeface="Consolas"/>
              </a:rPr>
              <a:t>"Platelet"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nsolas"/>
              </a:rPr>
              <a:t>names</a:t>
            </a:r>
            <a:r>
              <a:rPr>
                <a:solidFill>
                  <a:srgbClr val="003B4F"/>
                </a:solidFill>
                <a:latin typeface="Consolas"/>
              </a:rPr>
              <a:t>(new.cluster.ids) &lt;- </a:t>
            </a:r>
            <a:r>
              <a:rPr>
                <a:solidFill>
                  <a:srgbClr val="4758AB"/>
                </a:solidFill>
                <a:latin typeface="Consolas"/>
              </a:rPr>
              <a:t>levels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RenameIdents</a:t>
            </a:r>
            <a:r>
              <a:rPr>
                <a:solidFill>
                  <a:srgbClr val="003B4F"/>
                </a:solidFill>
                <a:latin typeface="Consolas"/>
              </a:rPr>
              <a:t>(pbmc, new.cluster.ids)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군집 번호와 새 이름의 순서가 정확히 대응해야 합니다.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이름을 붙인 UMAP을 확인합니다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pt.size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NoLegend</a:t>
            </a:r>
            <a:r>
              <a:rPr>
                <a:solidFill>
                  <a:srgbClr val="003B4F"/>
                </a:solidFill>
                <a:latin typeface="Consolas"/>
              </a:rPr>
              <a:t>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출력 보기</a:t>
            </a:r>
          </a:p>
          <a:p>
            <a:pPr lvl="0" indent="0" marL="0">
              <a:buNone/>
            </a:pPr>
            <a:r>
              <a:rPr/>
              <a:t>세포 유형 이름은 클러스터링이 자동으로 알려주는 정답이 아닙니다. 여러 마커, 데이터 맥락, 참고 문헌으로 검토해야 합니다.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최종 UMAP의 표시 형식을 조정할 수 있습니다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library</a:t>
            </a:r>
            <a:r>
              <a:rPr>
                <a:solidFill>
                  <a:srgbClr val="003B4F"/>
                </a:solidFill>
                <a:latin typeface="Consolas"/>
              </a:rPr>
              <a:t>(ggplot2)</a:t>
            </a:r>
            <a:br/>
            <a:br/>
            <a:r>
              <a:rPr>
                <a:solidFill>
                  <a:srgbClr val="003B4F"/>
                </a:solidFill>
                <a:latin typeface="Consolas"/>
              </a:rPr>
              <a:t>plot &lt;- </a:t>
            </a:r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label.size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4.5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xlab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"UMAP 1"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ylab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20794D"/>
                </a:solidFill>
                <a:latin typeface="Consolas"/>
              </a:rPr>
              <a:t>"UMAP 2"</a:t>
            </a:r>
            <a:r>
              <a:rPr>
                <a:solidFill>
                  <a:srgbClr val="003B4F"/>
                </a:solidFill>
                <a:latin typeface="Consolas"/>
              </a:rPr>
              <a:t>) </a:t>
            </a:r>
            <a:r>
              <a:rPr>
                <a:solidFill>
                  <a:srgbClr val="5E5E5E"/>
                </a:solidFill>
                <a:latin typeface="Consolas"/>
              </a:rPr>
              <a:t>+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4758AB"/>
                </a:solidFill>
                <a:latin typeface="Consolas"/>
              </a:rPr>
              <a:t>theme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axis.title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element_text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size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18</a:t>
            </a:r>
            <a:r>
              <a:rPr>
                <a:solidFill>
                  <a:srgbClr val="003B4F"/>
                </a:solidFill>
                <a:latin typeface="Consolas"/>
              </a:rPr>
              <a:t>),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  </a:t>
            </a:r>
            <a:r>
              <a:rPr>
                <a:solidFill>
                  <a:srgbClr val="657422"/>
                </a:solidFill>
                <a:latin typeface="Consolas"/>
              </a:rPr>
              <a:t>legend.text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4758AB"/>
                </a:solidFill>
                <a:latin typeface="Consolas"/>
              </a:rPr>
              <a:t>element_text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r>
              <a:rPr>
                <a:solidFill>
                  <a:srgbClr val="657422"/>
                </a:solidFill>
                <a:latin typeface="Consolas"/>
              </a:rPr>
              <a:t>size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18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Seurat plot은 </a:t>
            </a:r>
            <a:r>
              <a:rPr>
                <a:latin typeface="Consolas"/>
              </a:rPr>
              <a:t>ggplot2</a:t>
            </a:r>
            <a:r>
              <a:rPr/>
              <a:t> 문법을 더해 제목, 축, 범례 등을 수정할 수 있습니다.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최종 객체를 저장합니다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nsolas"/>
              </a:rPr>
              <a:t>saveRDS</a:t>
            </a:r>
            <a:r>
              <a:rPr>
                <a:solidFill>
                  <a:srgbClr val="003B4F"/>
                </a:solidFill>
                <a:latin typeface="Consolas"/>
              </a:rPr>
              <a:t>(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pbmc,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  </a:t>
            </a:r>
            <a:r>
              <a:rPr>
                <a:solidFill>
                  <a:srgbClr val="657422"/>
                </a:solidFill>
                <a:latin typeface="Consolas"/>
              </a:rPr>
              <a:t>file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"output/pbmc3k_final.rds"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최종 객체에는 다음 정보가 함께 들어 있습니다.</a:t>
            </a:r>
          </a:p>
          <a:p>
            <a:pPr lvl="0"/>
            <a:r>
              <a:rPr/>
              <a:t>원시 count와 정규화된 발현량</a:t>
            </a:r>
          </a:p>
          <a:p>
            <a:pPr lvl="0"/>
            <a:r>
              <a:rPr/>
              <a:t>세포별 metadata와 QC 지표</a:t>
            </a:r>
          </a:p>
          <a:p>
            <a:pPr lvl="0"/>
            <a:r>
              <a:rPr/>
              <a:t>PCA와 UMAP 좌표</a:t>
            </a:r>
          </a:p>
          <a:p>
            <a:pPr lvl="0"/>
            <a:r>
              <a:rPr/>
              <a:t>클러스터와 세포 유형 identity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전체 실행 순서를 다시 연결합니다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Read10X()</a:t>
            </a:r>
            <a:r>
              <a:rPr/>
              <a:t> → </a:t>
            </a:r>
            <a:r>
              <a:rPr>
                <a:latin typeface="Consolas"/>
              </a:rPr>
              <a:t>CreateSeuratObject()</a:t>
            </a:r>
          </a:p>
          <a:p>
            <a:pPr lvl="0" indent="-457200" marL="457200">
              <a:buAutoNum type="arabicPeriod"/>
            </a:pPr>
            <a:r>
              <a:rPr/>
              <a:t>QC 계산·시각화 → </a:t>
            </a:r>
            <a:r>
              <a:rPr>
                <a:latin typeface="Consolas"/>
              </a:rPr>
              <a:t>subset()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NormalizeData()</a:t>
            </a:r>
            <a:r>
              <a:rPr/>
              <a:t> → </a:t>
            </a:r>
            <a:r>
              <a:rPr>
                <a:latin typeface="Consolas"/>
              </a:rPr>
              <a:t>FindVariableFeatures()</a:t>
            </a:r>
            <a:r>
              <a:rPr/>
              <a:t> → </a:t>
            </a:r>
            <a:r>
              <a:rPr>
                <a:latin typeface="Consolas"/>
              </a:rPr>
              <a:t>ScaleData()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RunPCA()</a:t>
            </a:r>
            <a:r>
              <a:rPr/>
              <a:t> → PC 수 결정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FindNeighbors()</a:t>
            </a:r>
            <a:r>
              <a:rPr/>
              <a:t> → </a:t>
            </a:r>
            <a:r>
              <a:rPr>
                <a:latin typeface="Consolas"/>
              </a:rPr>
              <a:t>FindClusters()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RunUMAP()</a:t>
            </a:r>
            <a:r>
              <a:rPr/>
              <a:t> → </a:t>
            </a:r>
            <a:r>
              <a:rPr>
                <a:latin typeface="Consolas"/>
              </a:rPr>
              <a:t>DimPlot()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FindMarkers()</a:t>
            </a:r>
            <a:r>
              <a:rPr/>
              <a:t> → </a:t>
            </a:r>
            <a:r>
              <a:rPr>
                <a:latin typeface="Consolas"/>
              </a:rPr>
              <a:t>FindAllMarkers()</a:t>
            </a:r>
            <a:r>
              <a:rPr/>
              <a:t> → 마커 시각화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RenameIdents()</a:t>
            </a:r>
            <a:r>
              <a:rPr/>
              <a:t> → </a:t>
            </a:r>
            <a:r>
              <a:rPr>
                <a:latin typeface="Consolas"/>
              </a:rPr>
              <a:t>saveRDS()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실습: 함수의 역할을 분류하세요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nsolas"/>
              </a:rPr>
              <a:t>Read10X()            NormalizeData()       RunPCA()
CreateSeuratObject() FindVariableFeatures() FindNeighbors()
PercentageFeatureSet() ScaleData()         FindClusters()
subset()             RunUMAP()             FindAllMarkers()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함수를 네 단계로 나누어 보세요.</a:t>
            </a:r>
          </a:p>
          <a:p>
            <a:pPr lvl="0" indent="0" marL="0">
              <a:buNone/>
            </a:pPr>
            <a:r>
              <a:rPr b="1"/>
              <a:t>단계</a:t>
            </a:r>
            <a:r>
              <a:rPr/>
              <a:t>: 데이터 준비 · QC · 전처리/차원 축소 · 군집/해석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실습: 객체의 변화를 추적하세요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NormalizeData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RunPCA</a:t>
            </a:r>
            <a:r>
              <a:rPr>
                <a:solidFill>
                  <a:srgbClr val="003B4F"/>
                </a:solidFill>
                <a:latin typeface="Consolas"/>
              </a:rPr>
              <a:t>(pbmc)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FindNeighbors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0.5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003B4F"/>
                </a:solidFill>
                <a:latin typeface="Consolas"/>
              </a:rPr>
              <a:t>pbmc &lt;- </a:t>
            </a:r>
            <a:r>
              <a:rPr>
                <a:solidFill>
                  <a:srgbClr val="4758AB"/>
                </a:solidFill>
                <a:latin typeface="Consolas"/>
              </a:rPr>
              <a:t>RunUMAP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dims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1</a:t>
            </a:r>
            <a:r>
              <a:rPr>
                <a:solidFill>
                  <a:srgbClr val="5E5E5E"/>
                </a:solidFill>
                <a:latin typeface="Consolas"/>
              </a:rPr>
              <a:t>:</a:t>
            </a:r>
            <a:r>
              <a:rPr>
                <a:solidFill>
                  <a:srgbClr val="AD0000"/>
                </a:solidFill>
                <a:latin typeface="Consolas"/>
              </a:rPr>
              <a:t>10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코드에서 각 줄이 </a:t>
            </a:r>
            <a:r>
              <a:rPr>
                <a:latin typeface="Consolas"/>
              </a:rPr>
              <a:t>pbmc</a:t>
            </a:r>
            <a:r>
              <a:rPr/>
              <a:t> 객체에 추가하는 정보를 말해 보세요.</a:t>
            </a:r>
          </a:p>
          <a:p>
            <a:pPr lvl="0" indent="0" marL="0">
              <a:buNone/>
            </a:pPr>
            <a:r>
              <a:rPr/>
              <a:t>문법을 설명하기보다 </a:t>
            </a:r>
            <a:r>
              <a:rPr b="1"/>
              <a:t>입력 객체 → 분석 함수 → 새 결과</a:t>
            </a:r>
            <a:r>
              <a:rPr/>
              <a:t>의 흐름을 찾습니다.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8A34EA-EC0B-4A83-8118-453CC1516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0" y="304800"/>
            <a:ext cx="11176000" cy="8128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실습: 한 가지 값만 바꿔 비교하세요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C7F771-7DA4-4959-BB51-B1E580692EBA}"/>
              </a:ext>
            </a:extLst>
          </p:cNvPr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nsolas"/>
              </a:rPr>
              <a:t>pbmc.test &lt;- </a:t>
            </a:r>
            <a:r>
              <a:rPr>
                <a:solidFill>
                  <a:srgbClr val="4758AB"/>
                </a:solidFill>
                <a:latin typeface="Consolas"/>
              </a:rPr>
              <a:t>FindClusters</a:t>
            </a:r>
            <a:r>
              <a:rPr>
                <a:solidFill>
                  <a:srgbClr val="003B4F"/>
                </a:solidFill>
                <a:latin typeface="Consolas"/>
              </a:rPr>
              <a:t>(pbmc, </a:t>
            </a:r>
            <a:r>
              <a:rPr>
                <a:solidFill>
                  <a:srgbClr val="657422"/>
                </a:solidFill>
                <a:latin typeface="Consolas"/>
              </a:rPr>
              <a:t>resolution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AD0000"/>
                </a:solidFill>
                <a:latin typeface="Consolas"/>
              </a:rPr>
              <a:t>0.8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  <a:br/>
            <a:r>
              <a:rPr>
                <a:solidFill>
                  <a:srgbClr val="4758AB"/>
                </a:solidFill>
                <a:latin typeface="Consolas"/>
              </a:rPr>
              <a:t>DimPlot</a:t>
            </a:r>
            <a:r>
              <a:rPr>
                <a:solidFill>
                  <a:srgbClr val="003B4F"/>
                </a:solidFill>
                <a:latin typeface="Consolas"/>
              </a:rPr>
              <a:t>(pbmc.test, </a:t>
            </a:r>
            <a:r>
              <a:rPr>
                <a:solidFill>
                  <a:srgbClr val="657422"/>
                </a:solidFill>
                <a:latin typeface="Consolas"/>
              </a:rPr>
              <a:t>reduction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20794D"/>
                </a:solidFill>
                <a:latin typeface="Consolas"/>
              </a:rPr>
              <a:t>"umap"</a:t>
            </a:r>
            <a:r>
              <a:rPr>
                <a:solidFill>
                  <a:srgbClr val="003B4F"/>
                </a:solidFill>
                <a:latin typeface="Consolas"/>
              </a:rPr>
              <a:t>, </a:t>
            </a:r>
            <a:r>
              <a:rPr>
                <a:solidFill>
                  <a:srgbClr val="657422"/>
                </a:solidFill>
                <a:latin typeface="Consolas"/>
              </a:rPr>
              <a:t>label =</a:t>
            </a:r>
            <a:r>
              <a:rPr>
                <a:solidFill>
                  <a:srgbClr val="003B4F"/>
                </a:solidFill>
                <a:latin typeface="Consolas"/>
              </a:rPr>
              <a:t> </a:t>
            </a:r>
            <a:r>
              <a:rPr>
                <a:solidFill>
                  <a:srgbClr val="8F5902"/>
                </a:solidFill>
                <a:latin typeface="Consolas"/>
              </a:rPr>
              <a:t>TRUE</a:t>
            </a:r>
            <a:r>
              <a:rPr>
                <a:solidFill>
                  <a:srgbClr val="003B4F"/>
                </a:solidFill>
                <a:latin typeface="Consolas"/>
              </a:rPr>
              <a:t>)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20C34A-2FFC-4296-901D-D8CF9841519F}"/>
              </a:ext>
            </a:extLst>
          </p:cNvPr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>
                <a:latin typeface="Consolas"/>
              </a:rPr>
              <a:t>resolution = 0.5</a:t>
            </a:r>
            <a:r>
              <a:rPr/>
              <a:t> 결과와 군집 수를 비교합니다.</a:t>
            </a:r>
          </a:p>
          <a:p>
            <a:pPr lvl="0" indent="-457200" marL="457200">
              <a:buAutoNum type="arabicPeriod"/>
            </a:pPr>
            <a:r>
              <a:rPr/>
              <a:t>어떤 군집이 나뉘었는지 확인합니다.</a:t>
            </a:r>
          </a:p>
          <a:p>
            <a:pPr lvl="0" indent="-457200" marL="457200">
              <a:buAutoNum type="arabicPeriod"/>
            </a:pPr>
            <a:r>
              <a:rPr/>
              <a:t>“값을 바꾸면 결과가 어떻게 달라졌는가?”를 한 문장으로 기록합니다.</a:t>
            </a:r>
          </a:p>
          <a:p>
            <a:pPr lvl="0" indent="0" marL="0">
              <a:buNone/>
            </a:pPr>
            <a:r>
              <a:rPr/>
              <a:t>군집이 많아졌다고 분석이 더 정확해지는 것은 아닙니다.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종료 점검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QC는 분석 과정에서 왜 필요할까요?</a:t>
            </a:r>
          </a:p>
          <a:p>
            <a:pPr lvl="0" indent="-457200" marL="457200">
              <a:buAutoNum type="arabicPeriod"/>
            </a:pPr>
            <a:r>
              <a:rPr/>
              <a:t>PCA와 UMAP은 각각 어떤 역할을 할까요?</a:t>
            </a:r>
          </a:p>
          <a:p>
            <a:pPr lvl="0" indent="-457200" marL="457200">
              <a:buAutoNum type="arabicPeriod"/>
            </a:pPr>
            <a:r>
              <a:rPr>
                <a:latin typeface="Consolas"/>
              </a:rPr>
              <a:t>FindClusters()</a:t>
            </a:r>
            <a:r>
              <a:rPr/>
              <a:t>의 군집 번호는 언제 세포 유형 이름이 될까요?</a:t>
            </a:r>
          </a:p>
          <a:p>
            <a:pPr lvl="0" indent="-457200" marL="457200">
              <a:buAutoNum type="arabicPeriod"/>
            </a:pPr>
            <a:r>
              <a:rPr/>
              <a:t>Seurat 객체에는 분석이 진행되며 어떤 정보가 추가될까요?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다음 회차: R과 RStudio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코드는 어디에서 실행할까요?</a:t>
            </a:r>
          </a:p>
          <a:p>
            <a:pPr lvl="0"/>
            <a:r>
              <a:rPr>
                <a:latin typeface="Consolas"/>
              </a:rPr>
              <a:t>&lt;-</a:t>
            </a:r>
            <a:r>
              <a:rPr/>
              <a:t>는 무엇을 의미할까요?</a:t>
            </a:r>
          </a:p>
          <a:p>
            <a:pPr lvl="0"/>
            <a:r>
              <a:rPr>
                <a:latin typeface="Consolas"/>
              </a:rPr>
              <a:t>pbmc</a:t>
            </a:r>
            <a:r>
              <a:rPr/>
              <a:t>와 같은 객체는 어떻게 만들까요?</a:t>
            </a:r>
          </a:p>
          <a:p>
            <a:pPr lvl="0"/>
            <a:r>
              <a:rPr/>
              <a:t>패키지와 도움말은 어떻게 사용할까요?</a:t>
            </a:r>
          </a:p>
          <a:p>
            <a:pPr lvl="0" indent="0" marL="0">
              <a:buNone/>
            </a:pPr>
            <a:r>
              <a:rPr/>
              <a:t>다음 시간부터 오늘 본 코드를 구성하는 R 문법을 하나씩 다시 배웁니다.</a:t>
            </a:r>
          </a:p>
        </p:txBody>
      </p:sp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F4199D-F8B6-4376-AF86-1ED687BC3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출처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931AF5-90FD-42EA-9606-6F13AE9C3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Seurat, </a:t>
            </a:r>
            <a:r>
              <a:rPr i="1"/>
              <a:t>Guided Clustering Tutorial (PBMC 3K)</a:t>
            </a:r>
            <a:r>
              <a:rPr/>
              <a:t>, Seurat 5.5.1</a:t>
            </a:r>
          </a:p>
          <a:p>
            <a:pPr lvl="0"/>
            <a:r>
              <a:rPr>
                <a:hlinkClick r:id="rId2"/>
              </a:rPr>
              <a:t>https://satijalab.org/seurat/articles/pbmc3k_tutorial.html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Microsoft Office PowerPoint</Application>
  <PresentationFormat>사용자 지정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</vt:lpstr>
      <vt:lpstr>맑은 고딕</vt:lpstr>
      <vt:lpstr>Arial</vt:lpstr>
      <vt:lpstr>Consolas</vt:lpstr>
      <vt:lpstr>Office 테마</vt:lpstr>
      <vt:lpstr>Seurat 분석을 위한 R 프로그래밍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Seurat Guided Clustering Tour</dc:title>
  <dc:creator>1회차</dc:creator>
  <cp:keywords/>
  <dcterms:created xsi:type="dcterms:W3CDTF">2026-07-13T14:36:43Z</dcterms:created>
  <dcterms:modified xsi:type="dcterms:W3CDTF">2026-07-13T14:36:43Z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2026-07-13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ubtitle">
    <vt:lpwstr>단일세포 전사체 분석의 전체 흐름 만나기</vt:lpwstr>
  </property>
  <property fmtid="{D5CDD505-2E9C-101B-9397-08002B2CF9AE}" pid="11" name="toc-title">
    <vt:lpwstr>목차</vt:lpwstr>
  </property>
</Properties>
</file>