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Relationship Id="rId2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반복 작업과 사용자 정의 함수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반복되는 분석 코드를 읽기 쉽게 정리하기</a:t>
            </a:r>
          </a:p>
        </p:txBody>
      </p:sp>
      <p:sp>
        <p:nvSpPr>
          <p:cNvPr id="4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10회차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nsolas"/>
              </a:rPr>
              <a:t>for</a:t>
            </a:r>
            <a:r>
              <a:rPr/>
              <a:t> 반복문의 실행 흐름을 추적할 수 있다.</a:t>
            </a:r>
          </a:p>
          <a:p>
            <a:pPr lvl="0" indent="-457200" marL="457200">
              <a:buAutoNum type="arabicPeriod"/>
            </a:pPr>
            <a:r>
              <a:rPr/>
              <a:t>반복 적용 함수가 여러 객체에 같은 작업을 적용하는 방식을 설명할 수 있다.</a:t>
            </a:r>
          </a:p>
          <a:p>
            <a:pPr lvl="0" indent="-457200" marL="457200">
              <a:buAutoNum type="arabicPeriod"/>
            </a:pPr>
            <a:r>
              <a:rPr/>
              <a:t>반복되는 QC 요약 또는 시각화 코드를 작은 함수로 작성할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1회차 코드에도 반복 작업이 숨어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FeaturePlot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"GNLY"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"CD3E"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"CD14"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유전자에 같은 시각화 작업을 적용합니다. 반복을 직접 작성하거나 함수가 내부에서 처리할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반복은 같은 구조의 작업을 다시 수행합니다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genes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"LYZ"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print</a:t>
            </a:r>
            <a:r>
              <a:rPr>
                <a:solidFill>
                  <a:srgbClr val="003B4F"/>
                </a:solidFill>
                <a:latin typeface="Consolas"/>
              </a:rPr>
              <a:t>(genes[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])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print</a:t>
            </a:r>
            <a:r>
              <a:rPr>
                <a:solidFill>
                  <a:srgbClr val="003B4F"/>
                </a:solidFill>
                <a:latin typeface="Consolas"/>
              </a:rPr>
              <a:t>(genes[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])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print</a:t>
            </a:r>
            <a:r>
              <a:rPr>
                <a:solidFill>
                  <a:srgbClr val="003B4F"/>
                </a:solidFill>
                <a:latin typeface="Consolas"/>
              </a:rPr>
              <a:t>(genes[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])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유전자 수가 늘어나면 복사·붙여넣기가 길어지고 수정 실수가 발생합니다.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for는 벡터의 원소를 하나씩 가져옵니다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genes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"LYZ"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 b="1">
                <a:solidFill>
                  <a:srgbClr val="003B4F"/>
                </a:solidFill>
                <a:latin typeface="Consolas"/>
              </a:rPr>
              <a:t>for</a:t>
            </a:r>
            <a:r>
              <a:rPr>
                <a:solidFill>
                  <a:srgbClr val="003B4F"/>
                </a:solidFill>
                <a:latin typeface="Consolas"/>
              </a:rPr>
              <a:t> (gene </a:t>
            </a:r>
            <a:r>
              <a:rPr b="1">
                <a:solidFill>
                  <a:srgbClr val="003B4F"/>
                </a:solidFill>
                <a:latin typeface="Consolas"/>
              </a:rPr>
              <a:t>in</a:t>
            </a:r>
            <a:r>
              <a:rPr>
                <a:solidFill>
                  <a:srgbClr val="003B4F"/>
                </a:solidFill>
                <a:latin typeface="Consolas"/>
              </a:rPr>
              <a:t> genes)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print</a:t>
            </a:r>
            <a:r>
              <a:rPr>
                <a:solidFill>
                  <a:srgbClr val="003B4F"/>
                </a:solidFill>
                <a:latin typeface="Consolas"/>
              </a:rPr>
              <a:t>(gene)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읽는 순서: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genes</a:t>
            </a:r>
            <a:r>
              <a:rPr/>
              <a:t>에서 원소 하나 선택</a:t>
            </a:r>
          </a:p>
          <a:p>
            <a:pPr lvl="0" indent="-457200" marL="457200">
              <a:buAutoNum type="arabicPeriod"/>
            </a:pPr>
            <a:r>
              <a:rPr/>
              <a:t>선택한 값을 </a:t>
            </a:r>
            <a:r>
              <a:rPr>
                <a:latin typeface="Consolas"/>
              </a:rPr>
              <a:t>gene</a:t>
            </a:r>
            <a:r>
              <a:rPr/>
              <a:t>에 저장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{ }</a:t>
            </a:r>
            <a:r>
              <a:rPr/>
              <a:t> 안의 코드 실행</a:t>
            </a:r>
          </a:p>
          <a:p>
            <a:pPr lvl="0" indent="-457200" marL="457200">
              <a:buAutoNum type="arabicPeriod"/>
            </a:pPr>
            <a:r>
              <a:rPr/>
              <a:t>다음 원소로 반복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반복 중 값의 변화를 추적합니다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counts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30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total &lt;-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br/>
            <a:br/>
            <a:r>
              <a:rPr b="1">
                <a:solidFill>
                  <a:srgbClr val="003B4F"/>
                </a:solidFill>
                <a:latin typeface="Consolas"/>
              </a:rPr>
              <a:t>for</a:t>
            </a:r>
            <a:r>
              <a:rPr>
                <a:solidFill>
                  <a:srgbClr val="003B4F"/>
                </a:solidFill>
                <a:latin typeface="Consolas"/>
              </a:rPr>
              <a:t> (value </a:t>
            </a:r>
            <a:r>
              <a:rPr b="1">
                <a:solidFill>
                  <a:srgbClr val="003B4F"/>
                </a:solidFill>
                <a:latin typeface="Consolas"/>
              </a:rPr>
              <a:t>in</a:t>
            </a:r>
            <a:r>
              <a:rPr>
                <a:solidFill>
                  <a:srgbClr val="003B4F"/>
                </a:solidFill>
                <a:latin typeface="Consolas"/>
              </a:rPr>
              <a:t> counts)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total &lt;- total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value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print</a:t>
            </a:r>
            <a:r>
              <a:rPr>
                <a:solidFill>
                  <a:srgbClr val="003B4F"/>
                </a:solidFill>
                <a:latin typeface="Consolas"/>
              </a:rPr>
              <a:t>(total)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각 반복이 끝날 때 </a:t>
            </a:r>
            <a:r>
              <a:rPr>
                <a:latin typeface="Consolas"/>
              </a:rPr>
              <a:t>total</a:t>
            </a:r>
            <a:r>
              <a:rPr/>
              <a:t>은 10 → 30 → 60으로 변합니다.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결과를 저장할 공간을 먼저 준비합니다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genes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"LYZ"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name_lengths &lt;- </a:t>
            </a:r>
            <a:r>
              <a:rPr>
                <a:solidFill>
                  <a:srgbClr val="4758AB"/>
                </a:solidFill>
                <a:latin typeface="Consolas"/>
              </a:rPr>
              <a:t>numeric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length</a:t>
            </a:r>
            <a:r>
              <a:rPr>
                <a:solidFill>
                  <a:srgbClr val="003B4F"/>
                </a:solidFill>
                <a:latin typeface="Consolas"/>
              </a:rPr>
              <a:t>(genes))</a:t>
            </a:r>
            <a:br/>
            <a:br/>
            <a:r>
              <a:rPr b="1">
                <a:solidFill>
                  <a:srgbClr val="003B4F"/>
                </a:solidFill>
                <a:latin typeface="Consolas"/>
              </a:rPr>
              <a:t>for</a:t>
            </a:r>
            <a:r>
              <a:rPr>
                <a:solidFill>
                  <a:srgbClr val="003B4F"/>
                </a:solidFill>
                <a:latin typeface="Consolas"/>
              </a:rPr>
              <a:t> (i </a:t>
            </a:r>
            <a:r>
              <a:rPr b="1">
                <a:solidFill>
                  <a:srgbClr val="003B4F"/>
                </a:solidFill>
                <a:latin typeface="Consolas"/>
              </a:rPr>
              <a:t>in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seq_along</a:t>
            </a:r>
            <a:r>
              <a:rPr>
                <a:solidFill>
                  <a:srgbClr val="003B4F"/>
                </a:solidFill>
                <a:latin typeface="Consolas"/>
              </a:rPr>
              <a:t>(genes))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name_lengths[i] &lt;- </a:t>
            </a:r>
            <a:r>
              <a:rPr>
                <a:solidFill>
                  <a:srgbClr val="4758AB"/>
                </a:solidFill>
                <a:latin typeface="Consolas"/>
              </a:rPr>
              <a:t>nchar</a:t>
            </a:r>
            <a:r>
              <a:rPr>
                <a:solidFill>
                  <a:srgbClr val="003B4F"/>
                </a:solidFill>
                <a:latin typeface="Consolas"/>
              </a:rPr>
              <a:t>(genes[i])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name_lengths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seq_along()</a:t>
            </a:r>
            <a:r>
              <a:rPr/>
              <a:t>은 벡터 길이에 맞는 안전한 위치를 만듭니다.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분석에서는 결과를 리스트에 저장할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genes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"LYZ"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plots &lt;- </a:t>
            </a:r>
            <a:r>
              <a:rPr>
                <a:solidFill>
                  <a:srgbClr val="4758AB"/>
                </a:solidFill>
                <a:latin typeface="Consolas"/>
              </a:rPr>
              <a:t>vector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"list"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4758AB"/>
                </a:solidFill>
                <a:latin typeface="Consolas"/>
              </a:rPr>
              <a:t>length</a:t>
            </a:r>
            <a:r>
              <a:rPr>
                <a:solidFill>
                  <a:srgbClr val="003B4F"/>
                </a:solidFill>
                <a:latin typeface="Consolas"/>
              </a:rPr>
              <a:t>(genes))</a:t>
            </a:r>
            <a:br/>
            <a:br/>
            <a:r>
              <a:rPr b="1">
                <a:solidFill>
                  <a:srgbClr val="003B4F"/>
                </a:solidFill>
                <a:latin typeface="Consolas"/>
              </a:rPr>
              <a:t>for</a:t>
            </a:r>
            <a:r>
              <a:rPr>
                <a:solidFill>
                  <a:srgbClr val="003B4F"/>
                </a:solidFill>
                <a:latin typeface="Consolas"/>
              </a:rPr>
              <a:t> (i </a:t>
            </a:r>
            <a:r>
              <a:rPr b="1">
                <a:solidFill>
                  <a:srgbClr val="003B4F"/>
                </a:solidFill>
                <a:latin typeface="Consolas"/>
              </a:rPr>
              <a:t>in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seq_along</a:t>
            </a:r>
            <a:r>
              <a:rPr>
                <a:solidFill>
                  <a:srgbClr val="003B4F"/>
                </a:solidFill>
                <a:latin typeface="Consolas"/>
              </a:rPr>
              <a:t>(genes))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plots[[i]] &lt;- </a:t>
            </a:r>
            <a:r>
              <a:rPr>
                <a:solidFill>
                  <a:srgbClr val="4758AB"/>
                </a:solidFill>
                <a:latin typeface="Consolas"/>
              </a:rPr>
              <a:t>FeaturePlot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genes[i])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names</a:t>
            </a:r>
            <a:r>
              <a:rPr>
                <a:solidFill>
                  <a:srgbClr val="003B4F"/>
                </a:solidFill>
                <a:latin typeface="Consolas"/>
              </a:rPr>
              <a:t>(plots) &lt;- genes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plot처럼 복합 객체 여러 개는 리스트에 저장합니다.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lapply()는 반복 결과를 리스트로 반환합니다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plots &lt;- </a:t>
            </a:r>
            <a:r>
              <a:rPr>
                <a:solidFill>
                  <a:srgbClr val="4758AB"/>
                </a:solidFill>
                <a:latin typeface="Consolas"/>
              </a:rPr>
              <a:t>lapply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genes,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 b="1">
                <a:solidFill>
                  <a:srgbClr val="003B4F"/>
                </a:solidFill>
                <a:latin typeface="Consolas"/>
              </a:rPr>
              <a:t>function</a:t>
            </a:r>
            <a:r>
              <a:rPr>
                <a:solidFill>
                  <a:srgbClr val="003B4F"/>
                </a:solidFill>
                <a:latin typeface="Consolas"/>
              </a:rPr>
              <a:t>(gene)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4758AB"/>
                </a:solidFill>
                <a:latin typeface="Consolas"/>
              </a:rPr>
              <a:t>FeaturePlot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gene)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}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입력 벡터의 원소마다 함수를 적용합니다.</a:t>
            </a:r>
          </a:p>
          <a:p>
            <a:pPr lvl="0"/>
            <a:r>
              <a:rPr/>
              <a:t>반환값을 자동으로 리스트에 모읍니다.</a:t>
            </a:r>
          </a:p>
          <a:p>
            <a:pPr lvl="0"/>
            <a:r>
              <a:rPr/>
              <a:t>반복 결과가 필요할 때 유용합니다.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익명 함수는 그 자리에서 정의합니다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lapply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genes,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 b="1">
                <a:solidFill>
                  <a:srgbClr val="003B4F"/>
                </a:solidFill>
                <a:latin typeface="Consolas"/>
              </a:rPr>
              <a:t>function</a:t>
            </a:r>
            <a:r>
              <a:rPr>
                <a:solidFill>
                  <a:srgbClr val="003B4F"/>
                </a:solidFill>
                <a:latin typeface="Consolas"/>
              </a:rPr>
              <a:t>(gene)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4758AB"/>
                </a:solidFill>
                <a:latin typeface="Consolas"/>
              </a:rPr>
              <a:t>paste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"marker:"</a:t>
            </a:r>
            <a:r>
              <a:rPr>
                <a:solidFill>
                  <a:srgbClr val="003B4F"/>
                </a:solidFill>
                <a:latin typeface="Consolas"/>
              </a:rPr>
              <a:t>, gene)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}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lapply</a:t>
            </a:r>
            <a:r>
              <a:rPr>
                <a:solidFill>
                  <a:srgbClr val="003B4F"/>
                </a:solidFill>
                <a:latin typeface="Consolas"/>
              </a:rPr>
              <a:t>(genes, \(gene) </a:t>
            </a:r>
            <a:r>
              <a:rPr>
                <a:solidFill>
                  <a:srgbClr val="4758AB"/>
                </a:solidFill>
                <a:latin typeface="Consolas"/>
              </a:rPr>
              <a:t>paste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"marker:"</a:t>
            </a:r>
            <a:r>
              <a:rPr>
                <a:solidFill>
                  <a:srgbClr val="003B4F"/>
                </a:solidFill>
                <a:latin typeface="Consolas"/>
              </a:rPr>
              <a:t>, gene))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번만 사용하는 짧은 작업에 적합합니다.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\(gene)</a:t>
            </a:r>
            <a:r>
              <a:rPr/>
              <a:t>는 최신 R의 간단한 함수 표기입니다.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vapply()는 기대하는 결과 자료형을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gene_lengths &lt;- </a:t>
            </a:r>
            <a:r>
              <a:rPr>
                <a:solidFill>
                  <a:srgbClr val="4758AB"/>
                </a:solidFill>
                <a:latin typeface="Consolas"/>
              </a:rPr>
              <a:t>vapply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genes,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nchar,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integer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각 입력에서 길이 1인 integer가 나와야 한다고 명시합니다.</a:t>
            </a:r>
          </a:p>
          <a:p>
            <a:pPr lvl="0" indent="0" marL="0">
              <a:buNone/>
            </a:pPr>
            <a:r>
              <a:rPr/>
              <a:t>결과 구조가 중요할 때 </a:t>
            </a:r>
            <a:r>
              <a:rPr>
                <a:latin typeface="Consolas"/>
              </a:rPr>
              <a:t>lapply()</a:t>
            </a:r>
            <a:r>
              <a:rPr/>
              <a:t>보다 안전할 수 있습니다.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purrr::map()도 같은 반복 패턴을 표현합니다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(purrr)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plots &lt;- </a:t>
            </a:r>
            <a:r>
              <a:rPr>
                <a:solidFill>
                  <a:srgbClr val="4758AB"/>
                </a:solidFill>
                <a:latin typeface="Consolas"/>
              </a:rPr>
              <a:t>map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genes,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5E5E5E"/>
                </a:solidFill>
                <a:latin typeface="Consolas"/>
              </a:rPr>
              <a:t>~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FeaturePlot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.x)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4191000"/>
          <a:ext cx="109728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반환 형태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map()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리스트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map_chr()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character 벡터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map_dbl()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double 벡터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map_dfr()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행 방향으로 결합된 데이터 프레임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사용자 정의 함수는 반복되는 의도를 이름으로 만듭니다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qc_pass &lt;- </a:t>
            </a:r>
            <a:r>
              <a:rPr b="1">
                <a:solidFill>
                  <a:srgbClr val="003B4F"/>
                </a:solidFill>
                <a:latin typeface="Consolas"/>
              </a:rPr>
              <a:t>function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n_feature,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percent_mt,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min_feature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max_feature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max_mt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n_feature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min_feature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n_feature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max_feature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percent_mt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max_mt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 이름만으로 작업의 목적을 알 수 있습니다.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함수를 작은 예제로 먼저 검사합니다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qc_pass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n_feature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800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3000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percent_mt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확인할 상황:</a:t>
            </a:r>
          </a:p>
          <a:p>
            <a:pPr lvl="0"/>
            <a:r>
              <a:rPr/>
              <a:t>경계값 바로 아래와 위</a:t>
            </a:r>
          </a:p>
          <a:p>
            <a:pPr lvl="0"/>
            <a:r>
              <a:rPr/>
              <a:t>결측값</a:t>
            </a:r>
          </a:p>
          <a:p>
            <a:pPr lvl="0"/>
            <a:r>
              <a:rPr/>
              <a:t>길이가 다른 입력</a:t>
            </a:r>
          </a:p>
          <a:p>
            <a:pPr lvl="0"/>
            <a:r>
              <a:rPr/>
              <a:t>예상하지 않은 자료형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Seurat 객체를 받는 작은 함수를 만들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summarize_qc &lt;- </a:t>
            </a:r>
            <a:r>
              <a:rPr b="1">
                <a:solidFill>
                  <a:srgbClr val="003B4F"/>
                </a:solidFill>
                <a:latin typeface="Consolas"/>
              </a:rPr>
              <a:t>function</a:t>
            </a:r>
            <a:r>
              <a:rPr>
                <a:solidFill>
                  <a:srgbClr val="003B4F"/>
                </a:solidFill>
                <a:latin typeface="Consolas"/>
              </a:rPr>
              <a:t>(object)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data.frame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cells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ncol</a:t>
            </a:r>
            <a:r>
              <a:rPr>
                <a:solidFill>
                  <a:srgbClr val="003B4F"/>
                </a:solidFill>
                <a:latin typeface="Consolas"/>
              </a:rPr>
              <a:t>(object),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median_features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median</a:t>
            </a:r>
            <a:r>
              <a:rPr>
                <a:solidFill>
                  <a:srgbClr val="003B4F"/>
                </a:solidFill>
                <a:latin typeface="Consolas"/>
              </a:rPr>
              <a:t>(object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nFeature_RNA),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median_counts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median</a:t>
            </a:r>
            <a:r>
              <a:rPr>
                <a:solidFill>
                  <a:srgbClr val="003B4F"/>
                </a:solidFill>
                <a:latin typeface="Consolas"/>
              </a:rPr>
              <a:t>(object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nCount_RNA),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median_percent_mt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median</a:t>
            </a:r>
            <a:r>
              <a:rPr>
                <a:solidFill>
                  <a:srgbClr val="003B4F"/>
                </a:solidFill>
                <a:latin typeface="Consolas"/>
              </a:rPr>
              <a:t>(object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percent.mt)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summarize_qc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입력 객체와 반환 데이터 프레임이 명확한 작은 함수입니다.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여러 샘플에 같은 요약 함수를 적용합니다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sample_list &lt;- </a:t>
            </a:r>
            <a:r>
              <a:rPr>
                <a:solidFill>
                  <a:srgbClr val="4758AB"/>
                </a:solidFill>
                <a:latin typeface="Consolas"/>
              </a:rPr>
              <a:t>list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control =</a:t>
            </a:r>
            <a:r>
              <a:rPr>
                <a:solidFill>
                  <a:srgbClr val="003B4F"/>
                </a:solidFill>
                <a:latin typeface="Consolas"/>
              </a:rPr>
              <a:t> control_pbmc,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treated =</a:t>
            </a:r>
            <a:r>
              <a:rPr>
                <a:solidFill>
                  <a:srgbClr val="003B4F"/>
                </a:solidFill>
                <a:latin typeface="Consolas"/>
              </a:rPr>
              <a:t> treated_pbmc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qc_tables &lt;- </a:t>
            </a:r>
            <a:r>
              <a:rPr>
                <a:solidFill>
                  <a:srgbClr val="4758AB"/>
                </a:solidFill>
                <a:latin typeface="Consolas"/>
              </a:rPr>
              <a:t>lapply</a:t>
            </a:r>
            <a:r>
              <a:rPr>
                <a:solidFill>
                  <a:srgbClr val="003B4F"/>
                </a:solidFill>
                <a:latin typeface="Consolas"/>
              </a:rPr>
              <a:t>(sample_list, summarize_qc)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qc_summary &lt;- </a:t>
            </a:r>
            <a:r>
              <a:rPr>
                <a:solidFill>
                  <a:srgbClr val="4758AB"/>
                </a:solidFill>
                <a:latin typeface="Consolas"/>
              </a:rPr>
              <a:t>do.call</a:t>
            </a:r>
            <a:r>
              <a:rPr>
                <a:solidFill>
                  <a:srgbClr val="003B4F"/>
                </a:solidFill>
                <a:latin typeface="Consolas"/>
              </a:rPr>
              <a:t>(rbind, qc_tables)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동일한 정의로 샘플을 비교할 수 있습니다.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함수 안에서 전역 객체에 의존하지 않습니다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nsolas"/>
              </a:rPr>
              <a:t># 피하기: 함수 밖 pbmc에 고정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plot_gene &lt;- </a:t>
            </a:r>
            <a:r>
              <a:rPr b="1">
                <a:solidFill>
                  <a:srgbClr val="003B4F"/>
                </a:solidFill>
                <a:latin typeface="Consolas"/>
              </a:rPr>
              <a:t>function</a:t>
            </a:r>
            <a:r>
              <a:rPr>
                <a:solidFill>
                  <a:srgbClr val="003B4F"/>
                </a:solidFill>
                <a:latin typeface="Consolas"/>
              </a:rPr>
              <a:t>(gene)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FeaturePlot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gene)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  <a:br/>
            <a:br/>
            <a:r>
              <a:rPr>
                <a:solidFill>
                  <a:srgbClr val="5E5E5E"/>
                </a:solidFill>
                <a:latin typeface="Consolas"/>
              </a:rPr>
              <a:t># 권장: 필요한 객체를 인자로 받기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plot_gene &lt;- </a:t>
            </a:r>
            <a:r>
              <a:rPr b="1">
                <a:solidFill>
                  <a:srgbClr val="003B4F"/>
                </a:solidFill>
                <a:latin typeface="Consolas"/>
              </a:rPr>
              <a:t>function</a:t>
            </a:r>
            <a:r>
              <a:rPr>
                <a:solidFill>
                  <a:srgbClr val="003B4F"/>
                </a:solidFill>
                <a:latin typeface="Consolas"/>
              </a:rPr>
              <a:t>(object, gene)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FeaturePlot</a:t>
            </a:r>
            <a:r>
              <a:rPr>
                <a:solidFill>
                  <a:srgbClr val="003B4F"/>
                </a:solidFill>
                <a:latin typeface="Consolas"/>
              </a:rPr>
              <a:t>(object,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gene)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입력이 명시된 함수가 재사용과 검증에 유리합니다.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오류를 어느 반복에서 만났는지 기록합니다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nsolas"/>
              </a:rPr>
              <a:t>for</a:t>
            </a:r>
            <a:r>
              <a:rPr>
                <a:solidFill>
                  <a:srgbClr val="003B4F"/>
                </a:solidFill>
                <a:latin typeface="Consolas"/>
              </a:rPr>
              <a:t> (gene </a:t>
            </a:r>
            <a:r>
              <a:rPr b="1">
                <a:solidFill>
                  <a:srgbClr val="003B4F"/>
                </a:solidFill>
                <a:latin typeface="Consolas"/>
              </a:rPr>
              <a:t>in</a:t>
            </a:r>
            <a:r>
              <a:rPr>
                <a:solidFill>
                  <a:srgbClr val="003B4F"/>
                </a:solidFill>
                <a:latin typeface="Consolas"/>
              </a:rPr>
              <a:t> genes)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message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"Plotting: "</a:t>
            </a:r>
            <a:r>
              <a:rPr>
                <a:solidFill>
                  <a:srgbClr val="003B4F"/>
                </a:solidFill>
                <a:latin typeface="Consolas"/>
              </a:rPr>
              <a:t>, gene)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print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FeaturePlot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gene))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많은 대상을 반복할 때 현재 처리 중인 샘플이나 유전자를 남기면 디버깅이 쉬워집니다.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1: for 반복문으로 QC 요약하기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qc_columns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"nFeature_RNA"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"nCount_RNA"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"percent.mt"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pbmc[[column_name]]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median</a:t>
            </a:r>
            <a:r>
              <a:rPr>
                <a:solidFill>
                  <a:srgbClr val="003B4F"/>
                </a:solidFill>
                <a:latin typeface="Consolas"/>
              </a:rPr>
              <a:t>(...)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각 열의 중앙값을 계산하여 이름 있는 numeric 벡터에 저장하세요.</a:t>
            </a:r>
          </a:p>
          <a:p>
            <a:pPr lvl="0" indent="0" marL="0">
              <a:buNone/>
            </a:pPr>
            <a:r>
              <a:rPr/>
              <a:t>힌트: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2: 마커 plot 함수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plot_marker &lt;- </a:t>
            </a:r>
            <a:r>
              <a:rPr b="1">
                <a:solidFill>
                  <a:srgbClr val="003B4F"/>
                </a:solidFill>
                <a:latin typeface="Consolas"/>
              </a:rPr>
              <a:t>function</a:t>
            </a:r>
            <a:r>
              <a:rPr>
                <a:solidFill>
                  <a:srgbClr val="003B4F"/>
                </a:solidFill>
                <a:latin typeface="Consolas"/>
              </a:rPr>
              <a:t>(object, gene)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5E5E5E"/>
                </a:solidFill>
                <a:latin typeface="Consolas"/>
              </a:rPr>
              <a:t># FeaturePlot을 반환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형태의 함수를 완성하세요.</a:t>
            </a:r>
          </a:p>
          <a:p>
            <a:pPr lvl="0" indent="0" marL="0">
              <a:buNone/>
            </a:pPr>
            <a:r>
              <a:rPr/>
              <a:t>세 유전자에 </a:t>
            </a:r>
            <a:r>
              <a:rPr>
                <a:latin typeface="Consolas"/>
              </a:rPr>
              <a:t>lapply()</a:t>
            </a:r>
            <a:r>
              <a:rPr/>
              <a:t> 또는 </a:t>
            </a:r>
            <a:r>
              <a:rPr>
                <a:latin typeface="Consolas"/>
              </a:rPr>
              <a:t>map()</a:t>
            </a:r>
            <a:r>
              <a:rPr/>
              <a:t>으로 적용하여 plot 리스트를 만드세요.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핵심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for</a:t>
            </a:r>
            <a:r>
              <a:rPr/>
              <a:t>는 원소를 하나씩 가져와 같은 코드를 실행합니다.</a:t>
            </a:r>
          </a:p>
          <a:p>
            <a:pPr lvl="0"/>
            <a:r>
              <a:rPr/>
              <a:t>반복 결과는 미리 준비한 벡터나 리스트에 저장합니다.</a:t>
            </a:r>
          </a:p>
          <a:p>
            <a:pPr lvl="0"/>
            <a:r>
              <a:rPr>
                <a:latin typeface="Consolas"/>
              </a:rPr>
              <a:t>lapply()</a:t>
            </a:r>
            <a:r>
              <a:rPr/>
              <a:t>와 </a:t>
            </a:r>
            <a:r>
              <a:rPr>
                <a:latin typeface="Consolas"/>
              </a:rPr>
              <a:t>map()</a:t>
            </a:r>
            <a:r>
              <a:rPr/>
              <a:t>은 적용과 결과 수집을 함께 표현합니다.</a:t>
            </a:r>
          </a:p>
          <a:p>
            <a:pPr lvl="0"/>
            <a:r>
              <a:rPr/>
              <a:t>사용자 정의 함수는 입력, 작업, 반환값을 하나의 이름으로 묶습니다.</a:t>
            </a:r>
          </a:p>
          <a:p>
            <a:pPr lvl="0"/>
            <a:r>
              <a:rPr/>
              <a:t>작은 함수는 전역 객체보다 명시적인 인자를 사용합니다.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nsolas"/>
              </a:rPr>
              <a:t>for (gene in genes)</a:t>
            </a:r>
            <a:r>
              <a:rPr/>
              <a:t>에서 </a:t>
            </a:r>
            <a:r>
              <a:rPr>
                <a:latin typeface="Consolas"/>
              </a:rPr>
              <a:t>gene</a:t>
            </a:r>
            <a:r>
              <a:rPr/>
              <a:t>은 언제 바뀌나요?</a:t>
            </a:r>
          </a:p>
          <a:p>
            <a:pPr lvl="0" indent="-457200" marL="457200">
              <a:buAutoNum type="arabicPeriod"/>
            </a:pPr>
            <a:r>
              <a:rPr/>
              <a:t>plot 여러 개를 저장할 때 리스트가 적합한 이유는 무엇인가요?</a:t>
            </a:r>
          </a:p>
          <a:p>
            <a:pPr lvl="0" indent="-457200" marL="457200">
              <a:buAutoNum type="arabicPeriod"/>
            </a:pPr>
            <a:r>
              <a:rPr/>
              <a:t>반복문과 </a:t>
            </a:r>
            <a:r>
              <a:rPr>
                <a:latin typeface="Consolas"/>
              </a:rPr>
              <a:t>lapply()</a:t>
            </a:r>
            <a:r>
              <a:rPr/>
              <a:t>는 어떤 공통점을 가지나요?</a:t>
            </a:r>
          </a:p>
          <a:p>
            <a:pPr lvl="0" indent="-457200" marL="457200">
              <a:buAutoNum type="arabicPeriod"/>
            </a:pPr>
            <a:r>
              <a:rPr/>
              <a:t>함수가 필요한 객체를 인자로 받는 것이 좋은 이유는 무엇인가요?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회차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반복해서 만든 분석 결과를 </a:t>
            </a:r>
            <a:r>
              <a:rPr>
                <a:latin typeface="Consolas"/>
              </a:rPr>
              <a:t>dplyr</a:t>
            </a:r>
            <a:r>
              <a:rPr/>
              <a:t>로 정리하고 </a:t>
            </a:r>
            <a:r>
              <a:rPr>
                <a:latin typeface="Consolas"/>
              </a:rPr>
              <a:t>ggplot2</a:t>
            </a:r>
            <a:r>
              <a:rPr/>
              <a:t>와 Seurat plot으로 시각화합니다.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반복 작업과 사용자 정의 함수</dc:title>
  <dc:creator>10회차</dc:creator>
  <cp:keywords/>
  <dcterms:created xsi:type="dcterms:W3CDTF">2026-07-13T14:37:01Z</dcterms:created>
  <dcterms:modified xsi:type="dcterms:W3CDTF">2026-07-13T14:37:01Z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반복되는 분석 코드를 읽기 쉽게 정리하기</vt:lpwstr>
  </property>
  <property fmtid="{D5CDD505-2E9C-101B-9397-08002B2CF9AE}" pid="10" name="toc-title">
    <vt:lpwstr>목차</vt:lpwstr>
  </property>
</Properties>
</file>