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Relationship Id="rId2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리스트와 복합 객체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 객체 안의 분석 정보 탐색하기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9회차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벡터, 데이터 프레임, 리스트의 구조적 차이를 설명할 수 있다.</a:t>
            </a:r>
          </a:p>
          <a:p>
            <a:pPr lvl="0" indent="-457200" marL="457200">
              <a:buAutoNum type="arabicPeriod"/>
            </a:pPr>
            <a:r>
              <a:rPr/>
              <a:t>복합 객체의 구성 요소를 안전하게 확인하고 접근할 수 있다.</a:t>
            </a:r>
          </a:p>
          <a:p>
            <a:pPr lvl="0" indent="-457200" marL="457200">
              <a:buAutoNum type="arabicPeriod"/>
            </a:pPr>
            <a:r>
              <a:rPr/>
              <a:t>Seurat 객체의 assay, metadata, reduction이 맡는 역할을 구분할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1회차에서 하나의 객체를 계속 사용했습니다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RunPCA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RunUMAP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pbmc</a:t>
            </a:r>
            <a:r>
              <a:rPr/>
              <a:t> 안에는 서로 다른 형태의 분석 결과가 함께 저장됩니다.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리스트는 서로 다른 객체를 함께 담습니다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analysis_info &lt;- </a:t>
            </a:r>
            <a:r>
              <a:rPr>
                <a:solidFill>
                  <a:srgbClr val="4758AB"/>
                </a:solidFill>
                <a:latin typeface="Consolas"/>
              </a:rPr>
              <a:t>list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project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"pbmc3k"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dimensions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qc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data.frame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min_features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max_percent_mt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marker_genes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문자, 숫자 벡터, 데이터 프레임을 한 객체 안에 저장할 수 있습니다.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리스트 구조를 먼저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(analysis_info)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length</a:t>
            </a:r>
            <a:r>
              <a:rPr>
                <a:solidFill>
                  <a:srgbClr val="003B4F"/>
                </a:solidFill>
                <a:latin typeface="Consolas"/>
              </a:rPr>
              <a:t>(analysis_info)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names</a:t>
            </a:r>
            <a:r>
              <a:rPr>
                <a:solidFill>
                  <a:srgbClr val="003B4F"/>
                </a:solidFill>
                <a:latin typeface="Consolas"/>
              </a:rPr>
              <a:t>(analysis_info)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str</a:t>
            </a:r>
            <a:r>
              <a:rPr>
                <a:solidFill>
                  <a:srgbClr val="003B4F"/>
                </a:solidFill>
                <a:latin typeface="Consolas"/>
              </a:rPr>
              <a:t>(analysis_info)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str()</a:t>
            </a:r>
            <a:r>
              <a:rPr/>
              <a:t>은 중첩된 객체의 전체 구조를 빠르게 보여줍니다.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[ ], [[ ]], $는 리스트에서 다르게 동작합니다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analysis_info[</a:t>
            </a:r>
            <a:r>
              <a:rPr>
                <a:solidFill>
                  <a:srgbClr val="20794D"/>
                </a:solidFill>
                <a:latin typeface="Consolas"/>
              </a:rPr>
              <a:t>"project"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analysis_info[[</a:t>
            </a:r>
            <a:r>
              <a:rPr>
                <a:solidFill>
                  <a:srgbClr val="20794D"/>
                </a:solidFill>
                <a:latin typeface="Consolas"/>
              </a:rPr>
              <a:t>"project"</a:t>
            </a:r>
            <a:r>
              <a:rPr>
                <a:solidFill>
                  <a:srgbClr val="003B4F"/>
                </a:solidFill>
                <a:latin typeface="Consolas"/>
              </a:rPr>
              <a:t>]]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analysis_info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project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4191000"/>
          <a:ext cx="109728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[ 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원소를 담은 리스트 유지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[[ ]]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원소 자체를 꺼냄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$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이름으로 원소 자체를 꺼냄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중첩된 객체는 단계적으로 탐색합니다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analysis_info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qc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analysis_info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qc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min_features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analysis_info[[</a:t>
            </a:r>
            <a:r>
              <a:rPr>
                <a:solidFill>
                  <a:srgbClr val="20794D"/>
                </a:solidFill>
                <a:latin typeface="Consolas"/>
              </a:rPr>
              <a:t>"qc"</a:t>
            </a:r>
            <a:r>
              <a:rPr>
                <a:solidFill>
                  <a:srgbClr val="003B4F"/>
                </a:solidFill>
                <a:latin typeface="Consolas"/>
              </a:rPr>
              <a:t>]][[</a:t>
            </a:r>
            <a:r>
              <a:rPr>
                <a:solidFill>
                  <a:srgbClr val="20794D"/>
                </a:solidFill>
                <a:latin typeface="Consolas"/>
              </a:rPr>
              <a:t>"min_features"</a:t>
            </a:r>
            <a:r>
              <a:rPr>
                <a:solidFill>
                  <a:srgbClr val="003B4F"/>
                </a:solidFill>
                <a:latin typeface="Consolas"/>
              </a:rPr>
              <a:t>]]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번에 긴 접근식을 쓰기 전에 중간 객체의 </a:t>
            </a:r>
            <a:r>
              <a:rPr>
                <a:latin typeface="Consolas"/>
              </a:rPr>
              <a:t>class()</a:t>
            </a:r>
            <a:r>
              <a:rPr/>
              <a:t>와 </a:t>
            </a:r>
            <a:r>
              <a:rPr>
                <a:latin typeface="Consolas"/>
              </a:rPr>
              <a:t>str()</a:t>
            </a:r>
            <a:r>
              <a:rPr/>
              <a:t>를 확인합니다.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Seurat는 리스트보다 더 엄격한 복합 객체입니다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Seurat는 정해진 구조와 규칙을 가진 S4 객체입니다.</a:t>
            </a:r>
          </a:p>
          <a:p>
            <a:pPr lvl="0"/>
            <a:r>
              <a:rPr/>
              <a:t>여러 assay</a:t>
            </a:r>
          </a:p>
          <a:p>
            <a:pPr lvl="0"/>
            <a:r>
              <a:rPr/>
              <a:t>cell metadata</a:t>
            </a:r>
          </a:p>
          <a:p>
            <a:pPr lvl="0"/>
            <a:r>
              <a:rPr/>
              <a:t>PCA·UMAP reduction</a:t>
            </a:r>
          </a:p>
          <a:p>
            <a:pPr lvl="0"/>
            <a:r>
              <a:rPr/>
              <a:t>그래프와 이웃 정보</a:t>
            </a:r>
          </a:p>
          <a:p>
            <a:pPr lvl="0"/>
            <a:r>
              <a:rPr/>
              <a:t>cluster identity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객체를 출력하면 요약 정보를 볼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확인할 항목:</a:t>
            </a:r>
          </a:p>
          <a:p>
            <a:pPr lvl="0"/>
            <a:r>
              <a:rPr/>
              <a:t>feature와 cell 수</a:t>
            </a:r>
          </a:p>
          <a:p>
            <a:pPr lvl="0"/>
            <a:r>
              <a:rPr/>
              <a:t>assay 수와 active assay</a:t>
            </a:r>
          </a:p>
          <a:p>
            <a:pPr lvl="0"/>
            <a:r>
              <a:rPr/>
              <a:t>저장된 layer</a:t>
            </a:r>
          </a:p>
          <a:p>
            <a:pPr lvl="0"/>
            <a:r>
              <a:rPr/>
              <a:t>계산된 dimensional reduction</a:t>
            </a:r>
          </a:p>
          <a:p>
            <a:pPr lvl="0" indent="0" marL="0">
              <a:buNone/>
            </a:pPr>
            <a:r>
              <a:rPr/>
              <a:t>객체 전체를 직접 펼치기 전에 요약 출력을 읽습니다.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assay는 발현 행렬과 관련 정보를 담습니다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Assays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DefaultAssay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pbmc[[</a:t>
            </a:r>
            <a:r>
              <a:rPr>
                <a:solidFill>
                  <a:srgbClr val="20794D"/>
                </a:solidFill>
                <a:latin typeface="Consolas"/>
              </a:rPr>
              <a:t>"RNA"</a:t>
            </a:r>
            <a:r>
              <a:rPr>
                <a:solidFill>
                  <a:srgbClr val="003B4F"/>
                </a:solidFill>
                <a:latin typeface="Consolas"/>
              </a:rPr>
              <a:t>]]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Layers</a:t>
            </a:r>
            <a:r>
              <a:rPr>
                <a:solidFill>
                  <a:srgbClr val="003B4F"/>
                </a:solidFill>
                <a:latin typeface="Consolas"/>
              </a:rPr>
              <a:t>(pbmc[[</a:t>
            </a:r>
            <a:r>
              <a:rPr>
                <a:solidFill>
                  <a:srgbClr val="20794D"/>
                </a:solidFill>
                <a:latin typeface="Consolas"/>
              </a:rPr>
              <a:t>"RNA"</a:t>
            </a:r>
            <a:r>
              <a:rPr>
                <a:solidFill>
                  <a:srgbClr val="003B4F"/>
                </a:solidFill>
                <a:latin typeface="Consolas"/>
              </a:rPr>
              <a:t>]])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 v5의 RNA assay에는 일반적으로 layer가 있습니다.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layer에서 발현 행렬을 가져옵니다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counts &lt;- </a:t>
            </a:r>
            <a:r>
              <a:rPr>
                <a:solidFill>
                  <a:srgbClr val="4758AB"/>
                </a:solidFill>
                <a:latin typeface="Consolas"/>
              </a:rPr>
              <a:t>LayerData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assay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"RNA"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layer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"counts"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normalized &lt;- </a:t>
            </a:r>
            <a:r>
              <a:rPr>
                <a:solidFill>
                  <a:srgbClr val="4758AB"/>
                </a:solidFill>
                <a:latin typeface="Consolas"/>
              </a:rPr>
              <a:t>LayerData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assay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"RNA"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layer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"data"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counts</a:t>
            </a:r>
            <a:r>
              <a:rPr/>
              <a:t>: 원시 count</a:t>
            </a:r>
          </a:p>
          <a:p>
            <a:pPr lvl="0"/>
            <a:r>
              <a:rPr>
                <a:latin typeface="Consolas"/>
              </a:rPr>
              <a:t>data</a:t>
            </a:r>
            <a:r>
              <a:rPr/>
              <a:t>: 정규화된 값</a:t>
            </a:r>
          </a:p>
          <a:p>
            <a:pPr lvl="0"/>
            <a:r>
              <a:rPr>
                <a:latin typeface="Consolas"/>
              </a:rPr>
              <a:t>scale.data</a:t>
            </a:r>
            <a:r>
              <a:rPr/>
              <a:t>: 스케일링된 값이 있을 수 있음</a:t>
            </a:r>
          </a:p>
          <a:p>
            <a:pPr lvl="0" indent="0" marL="0">
              <a:buNone/>
            </a:pPr>
            <a:r>
              <a:rPr/>
              <a:t>Seurat 버전에 따라 권장 accessor와 내부 구조가 달라질 수 있으므로 공식 문서를 확인합니다.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metadata는 세포별 정보를 담습니다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(pbmc[[]])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(pbmc</a:t>
            </a:r>
            <a:r>
              <a:rPr>
                <a:solidFill>
                  <a:srgbClr val="5E5E5E"/>
                </a:solidFill>
                <a:latin typeface="Consolas"/>
              </a:rPr>
              <a:t>@</a:t>
            </a:r>
            <a:r>
              <a:rPr>
                <a:solidFill>
                  <a:srgbClr val="003B4F"/>
                </a:solidFill>
                <a:latin typeface="Consolas"/>
              </a:rPr>
              <a:t>meta.data)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nFeature_RNA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percent.mt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가능하면 공개 accessor를 우선 사용합니다.</a:t>
            </a:r>
          </a:p>
          <a:p>
            <a:pPr lvl="0" indent="0" marL="0">
              <a:buNone/>
            </a:pPr>
            <a:r>
              <a:rPr/>
              <a:t>각 열의 길이는 세포 수와 같습니다.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reduction은 저차원 좌표를 담습니다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Reductions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pbmc[[</a:t>
            </a:r>
            <a:r>
              <a:rPr>
                <a:solidFill>
                  <a:srgbClr val="20794D"/>
                </a:solidFill>
                <a:latin typeface="Consolas"/>
              </a:rPr>
              <a:t>"pca"</a:t>
            </a:r>
            <a:r>
              <a:rPr>
                <a:solidFill>
                  <a:srgbClr val="003B4F"/>
                </a:solidFill>
                <a:latin typeface="Consolas"/>
              </a:rPr>
              <a:t>]]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pbmc[[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]]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Embeddings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)[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, 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행: 세포</a:t>
            </a:r>
          </a:p>
          <a:p>
            <a:pPr lvl="0"/>
            <a:r>
              <a:rPr/>
              <a:t>열: PC 또는 UMAP 차원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DimPlot()</a:t>
            </a:r>
            <a:r>
              <a:rPr/>
              <a:t>은 저장된 좌표와 identity를 이용해 그림을 만듭니다.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identity는 현재 세포 그룹을 나타냅니다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(pbmc))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levels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(pbmc))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(pbmc) &lt;- </a:t>
            </a:r>
            <a:r>
              <a:rPr>
                <a:solidFill>
                  <a:srgbClr val="20794D"/>
                </a:solidFill>
                <a:latin typeface="Consolas"/>
              </a:rPr>
              <a:t>"seurat_clusters"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cluster ID 또는 세포 유형 이름처럼 현재 비교와 시각화에 사용할 그룹입니다.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slot에 직접 접근하기 전에 accessor를 찾습니다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내부 slot 직접 접근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</a:t>
            </a:r>
            <a:r>
              <a:rPr>
                <a:solidFill>
                  <a:srgbClr val="5E5E5E"/>
                </a:solidFill>
                <a:latin typeface="Consolas"/>
              </a:rPr>
              <a:t>@</a:t>
            </a:r>
            <a:r>
              <a:rPr>
                <a:solidFill>
                  <a:srgbClr val="003B4F"/>
                </a:solidFill>
                <a:latin typeface="Consolas"/>
              </a:rPr>
              <a:t>meta.data</a:t>
            </a:r>
            <a:br/>
            <a:br/>
            <a:r>
              <a:rPr>
                <a:solidFill>
                  <a:srgbClr val="5E5E5E"/>
                </a:solidFill>
                <a:latin typeface="Consolas"/>
              </a:rPr>
              <a:t># 의도가 명확한 accessor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pbmc[[]]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Embeddings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LayerData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assay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layer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"counts"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accessor는 객체 구조 변경에 더 안전하고 코드의 의도를 드러냅니다.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객체를 복사해 안전하게 실험합니다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pbmc.test &lt;- pbmc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pbmc.test &lt;- </a:t>
            </a: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(pbmc.test, </a:t>
            </a:r>
            <a:r>
              <a:rPr>
                <a:solidFill>
                  <a:srgbClr val="657422"/>
                </a:solidFill>
                <a:latin typeface="Consolas"/>
              </a:rPr>
              <a:t>resolution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0.8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(pbmc))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(pbmc.test))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원본 객체와 다른 파라미터 결과를 비교할 때 유용합니다.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saveRDS와 readRDS는 객체 전체를 보존합니다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saveRDS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20794D"/>
                </a:solidFill>
                <a:latin typeface="Consolas"/>
              </a:rPr>
              <a:t>"output/pbmc3k_final.rds"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pbmc_restored &lt;- </a:t>
            </a:r>
            <a:r>
              <a:rPr>
                <a:solidFill>
                  <a:srgbClr val="4758AB"/>
                </a:solidFill>
                <a:latin typeface="Consolas"/>
              </a:rPr>
              <a:t>readRDS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"output/pbmc3k_final.rds"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(pbmc_restored)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dim</a:t>
            </a:r>
            <a:r>
              <a:rPr>
                <a:solidFill>
                  <a:srgbClr val="003B4F"/>
                </a:solidFill>
                <a:latin typeface="Consolas"/>
              </a:rPr>
              <a:t>(pbmc_restored)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Reductions</a:t>
            </a:r>
            <a:r>
              <a:rPr>
                <a:solidFill>
                  <a:srgbClr val="003B4F"/>
                </a:solidFill>
                <a:latin typeface="Consolas"/>
              </a:rPr>
              <a:t>(pbmc_restored)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불러온 뒤 구조를 확인합니다.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객체 접근 오류는 구조부터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pbmc[[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]]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확인 순서: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class(pbmc)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Reductions(pbmc)</a:t>
            </a:r>
            <a:r>
              <a:rPr/>
              <a:t> 또는 </a:t>
            </a:r>
            <a:r>
              <a:rPr>
                <a:latin typeface="Consolas"/>
              </a:rPr>
              <a:t>Assays(pbmc)</a:t>
            </a:r>
          </a:p>
          <a:p>
            <a:pPr lvl="0" indent="-457200" marL="457200">
              <a:buAutoNum type="arabicPeriod"/>
            </a:pPr>
            <a:r>
              <a:rPr/>
              <a:t>대소문자와 정확한 이름</a:t>
            </a:r>
          </a:p>
          <a:p>
            <a:pPr lvl="0" indent="-457200" marL="457200">
              <a:buAutoNum type="arabicPeriod"/>
            </a:pPr>
            <a:r>
              <a:rPr/>
              <a:t>해당 분석 단계가 실제로 실행되었는지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Seurat 객체 지도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준비된 </a:t>
            </a:r>
            <a:r>
              <a:rPr>
                <a:latin typeface="Consolas"/>
              </a:rPr>
              <a:t>pbmc</a:t>
            </a:r>
            <a:r>
              <a:rPr/>
              <a:t> 객체에서 다음 결과를 기록하세요.</a:t>
            </a:r>
          </a:p>
          <a:p>
            <a:pPr lvl="0" indent="-457200" marL="457200">
              <a:buAutoNum type="arabicPeriod"/>
            </a:pPr>
            <a:r>
              <a:rPr/>
              <a:t>cell과 feature 수</a:t>
            </a:r>
          </a:p>
          <a:p>
            <a:pPr lvl="0" indent="-457200" marL="457200">
              <a:buAutoNum type="arabicPeriod"/>
            </a:pPr>
            <a:r>
              <a:rPr/>
              <a:t>assay 이름과 active assay</a:t>
            </a:r>
          </a:p>
          <a:p>
            <a:pPr lvl="0" indent="-457200" marL="457200">
              <a:buAutoNum type="arabicPeriod"/>
            </a:pPr>
            <a:r>
              <a:rPr/>
              <a:t>metadata 열 이름</a:t>
            </a:r>
          </a:p>
          <a:p>
            <a:pPr lvl="0" indent="-457200" marL="457200">
              <a:buAutoNum type="arabicPeriod"/>
            </a:pPr>
            <a:r>
              <a:rPr/>
              <a:t>reduction 이름</a:t>
            </a:r>
          </a:p>
          <a:p>
            <a:pPr lvl="0" indent="-457200" marL="457200">
              <a:buAutoNum type="arabicPeriod"/>
            </a:pPr>
            <a:r>
              <a:rPr/>
              <a:t>identity level과 level별 세포 수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2: 입력 → 저장 위치 연결하기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nsolas"/>
              </a:rPr>
              <a:t>NormalizeData()      RNA assay의 data layer
RunPCA()             pca reduction
FindNeighbors()      graph / neighbors
FindClusters()       metadata와 identity
RunUMAP()            umap reduction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함수의 결과가 객체 어디에 저장되는지 연결하세요.</a:t>
            </a:r>
          </a:p>
          <a:p>
            <a:pPr lvl="0" indent="0" marL="0">
              <a:buNone/>
            </a:pPr>
            <a:r>
              <a:rPr/>
              <a:t>각 위치를 확인하는 accessor도 하나씩 적으세요.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리스트는 서로 다른 종류의 객체를 함께 저장합니다.</a:t>
            </a:r>
          </a:p>
          <a:p>
            <a:pPr lvl="0"/>
            <a:r>
              <a:rPr/>
              <a:t>Seurat는 정해진 구조를 가진 복합 S4 객체입니다.</a:t>
            </a:r>
          </a:p>
          <a:p>
            <a:pPr lvl="0"/>
            <a:r>
              <a:rPr/>
              <a:t>assay, metadata, reduction, identity는 역할이 다릅니다.</a:t>
            </a:r>
          </a:p>
          <a:p>
            <a:pPr lvl="0"/>
            <a:r>
              <a:rPr/>
              <a:t>내부 slot보다 공개 accessor를 우선 사용합니다.</a:t>
            </a:r>
          </a:p>
          <a:p>
            <a:pPr lvl="0"/>
            <a:r>
              <a:rPr/>
              <a:t>객체를 수정하기 전에 구조와 사용 가능한 이름을 확인합니다.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리스트에서 </a:t>
            </a:r>
            <a:r>
              <a:rPr>
                <a:latin typeface="Consolas"/>
              </a:rPr>
              <a:t>[ ]</a:t>
            </a:r>
            <a:r>
              <a:rPr/>
              <a:t>와 </a:t>
            </a:r>
            <a:r>
              <a:rPr>
                <a:latin typeface="Consolas"/>
              </a:rPr>
              <a:t>[[ ]]</a:t>
            </a:r>
            <a:r>
              <a:rPr/>
              <a:t>는 어떻게 다른가요?</a:t>
            </a:r>
          </a:p>
          <a:p>
            <a:pPr lvl="0" indent="-457200" marL="457200">
              <a:buAutoNum type="arabicPeriod"/>
            </a:pPr>
            <a:r>
              <a:rPr/>
              <a:t>RNA assay의 </a:t>
            </a:r>
            <a:r>
              <a:rPr>
                <a:latin typeface="Consolas"/>
              </a:rPr>
              <a:t>counts</a:t>
            </a:r>
            <a:r>
              <a:rPr/>
              <a:t>와 </a:t>
            </a:r>
            <a:r>
              <a:rPr>
                <a:latin typeface="Consolas"/>
              </a:rPr>
              <a:t>data</a:t>
            </a:r>
            <a:r>
              <a:rPr/>
              <a:t> layer는 어떻게 다른가요?</a:t>
            </a:r>
          </a:p>
          <a:p>
            <a:pPr lvl="0" indent="-457200" marL="457200">
              <a:buAutoNum type="arabicPeriod"/>
            </a:pPr>
            <a:r>
              <a:rPr/>
              <a:t>UMAP 좌표는 객체의 어느 구성 요소에 저장되나요?</a:t>
            </a:r>
          </a:p>
          <a:p>
            <a:pPr lvl="0" indent="-457200" marL="457200">
              <a:buAutoNum type="arabicPeriod"/>
            </a:pPr>
            <a:r>
              <a:rPr/>
              <a:t>accessor를 사용하는 것이 직접 slot 접근보다 좋은 이유는 무엇인가요?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유전자와 여러 샘플에 같은 작업을 적용하기 위해 반복문과 사용자 정의 함수를 배웁니다.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리스트와 복합 객체</dc:title>
  <dc:creator>9회차</dc:creator>
  <cp:keywords/>
  <dcterms:created xsi:type="dcterms:W3CDTF">2026-07-13T14:36:59Z</dcterms:created>
  <dcterms:modified xsi:type="dcterms:W3CDTF">2026-07-13T14:36:59Z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Seurat 객체 안의 분석 정보 탐색하기</vt:lpwstr>
  </property>
  <property fmtid="{D5CDD505-2E9C-101B-9397-08002B2CF9AE}" pid="10" name="toc-title">
    <vt:lpwstr>목차</vt:lpwstr>
  </property>
</Properties>
</file>