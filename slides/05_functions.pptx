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ko-KR"/>
    </a:defPPr>
    <a:lvl1pPr algn="l" defTabSz="914400" eaLnBrk="1" hangingPunct="1" latinLnBrk="1" marL="0" rtl="0">
      <a:defRPr altLang="en-US" b="1" kern="1200" lang="ko-KR" sz="3000">
        <a:solidFill>
          <a:srgbClr val="172033"/>
        </a:solidFill>
        <a:latin charset="-127" panose="02000503000000020004" pitchFamily="50" typeface="Pretendard"/>
        <a:ea charset="-127" panose="02000503000000020004" pitchFamily="50" typeface="Pretendard"/>
        <a:cs typeface="+mn-cs"/>
      </a:defRPr>
    </a:lvl1pPr>
    <a:lvl2pPr algn="l" defTabSz="914400" eaLnBrk="1" hangingPunct="1" latinLnBrk="1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1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1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1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1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1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1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1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howGuides="1" snapToGrid="0">
      <p:cViewPr varScale="1">
        <p:scale>
          <a:sx d="100" n="113"/>
          <a:sy d="100" n="113"/>
        </p:scale>
        <p:origin x="312" y="108"/>
      </p:cViewPr>
      <p:guideLst>
        <p:guide orient="horz" pos="2160"/>
        <p:guide pos="3840"/>
      </p:guideLst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Relationship Id="rId25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D9272C-EBA3-439B-9FBC-CB759BCF57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36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92FF77-EB2E-4A97-8418-D170E6986A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0">
                <a:solidFill>
                  <a:srgbClr val="0F766E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AE61F1-720A-4C21-B65B-4A3173A2C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C1111F-D4A6-4DDC-A3B6-DB854C09A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E00F29-6221-4882-B252-1E5B86612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0397973-2611-47C1-943B-471D9636F684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7827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0751E4-C413-4C31-916D-AB62A51B2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E3C44C-83FE-40C7-A9AC-6676312F0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195D92-E097-41F5-BBDA-309FAD9A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AB2DA81-A7AC-4FA3-9E79-EA52F99DCEB9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8354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xercise"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0751E4-C413-4C31-916D-AB62A51B2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E3C44C-83FE-40C7-A9AC-6676312F0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195D92-E097-41F5-BBDA-309FAD9A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3D15491-48F6-48DC-A8A0-6ED609435487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6E432EE-5CB6-4863-B2FE-2722A5E85385}"/>
              </a:ext>
            </a:extLst>
          </p:cNvPr>
          <p:cNvSpPr/>
          <p:nvPr userDrawn="1"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2A3998-CCB3-4584-A130-14F2F23D1501}"/>
              </a:ext>
            </a:extLst>
          </p:cNvPr>
          <p:cNvSpPr txBox="1"/>
          <p:nvPr userDrawn="1"/>
        </p:nvSpPr>
        <p:spPr>
          <a:xfrm>
            <a:off x="508000" y="990600"/>
            <a:ext cx="228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b="1">
                <a:solidFill>
                  <a:srgbClr val="0F766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PRACTICE</a:t>
            </a:r>
            <a:endParaRPr lang="ko-KR" altLang="en-US" sz="1100" b="1">
              <a:solidFill>
                <a:srgbClr val="0F766E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6355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de / Demonstra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0751E4-C413-4C31-916D-AB62A51B2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E3C44C-83FE-40C7-A9AC-6676312F0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195D92-E097-41F5-BBDA-309FAD9A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93B7E7E-5A4C-4700-AE76-29AD4945D71B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962B536-2756-4475-B870-BA08607C731E}"/>
              </a:ext>
            </a:extLst>
          </p:cNvPr>
          <p:cNvSpPr/>
          <p:nvPr userDrawn="1"/>
        </p:nvSpPr>
        <p:spPr>
          <a:xfrm>
            <a:off x="457200" y="1422400"/>
            <a:ext cx="11277600" cy="457200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854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EC3834-6561-4D02-93C1-AF78EEF81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4036D5-7428-404C-AA58-099C3A1A0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F5C39C-67C1-44B4-9DC0-87890F2E8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DAB0A8-1703-40BE-B958-3AF10F150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B6EA6A-FC56-49B5-9E49-66A8A6585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52185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655F8304-2049-41FC-AAD9-BBD4A8F343F4}"/>
              </a:ext>
            </a:extLst>
          </p:cNvPr>
          <p:cNvSpPr/>
          <p:nvPr userDrawn="1"/>
        </p:nvSpPr>
        <p:spPr>
          <a:xfrm>
            <a:off x="457200" y="1219200"/>
            <a:ext cx="76200" cy="28448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B3710CA-8068-42D2-85EE-BD68F5F1BCA0}"/>
              </a:ext>
            </a:extLst>
          </p:cNvPr>
          <p:cNvSpPr/>
          <p:nvPr userDrawn="1"/>
        </p:nvSpPr>
        <p:spPr>
          <a:xfrm>
            <a:off x="457200" y="1219200"/>
            <a:ext cx="11277600" cy="284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346200"/>
            <a:ext cx="10972800" cy="2565400"/>
          </a:xfrm>
        </p:spPr>
        <p:txBody>
          <a:bodyPr lIns="127000" tIns="101600" rIns="127000" bIns="101600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4191000"/>
            <a:ext cx="10972800" cy="2133600"/>
          </a:xfrm>
        </p:spPr>
        <p:txBody>
          <a:bodyPr lIns="50800" tIns="50800" rIns="50800" bIns="50800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73935DD-ACEE-45E4-B4BD-30A3D4277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504E98-A62B-4D8C-99F6-C814548CD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786A78-DB35-4F2F-9B87-1F1B7CD39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4AF2B1A-0DE5-485A-8240-C74CB4588F13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8738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3D97CC56-799F-4D9D-A45B-9371D2E101D6}"/>
              </a:ext>
            </a:extLst>
          </p:cNvPr>
          <p:cNvSpPr/>
          <p:nvPr userDrawn="1"/>
        </p:nvSpPr>
        <p:spPr>
          <a:xfrm>
            <a:off x="457200" y="1219200"/>
            <a:ext cx="76200" cy="28448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F53997F-2273-41DA-8EE8-A0580C37D1D4}"/>
              </a:ext>
            </a:extLst>
          </p:cNvPr>
          <p:cNvSpPr/>
          <p:nvPr userDrawn="1"/>
        </p:nvSpPr>
        <p:spPr>
          <a:xfrm>
            <a:off x="457200" y="1219200"/>
            <a:ext cx="11277600" cy="284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75C9BF5-D4CA-4A9D-B3CC-3696C2D93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78CD79-4472-4851-AC47-52064FC30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346200"/>
            <a:ext cx="10972800" cy="2565400"/>
          </a:xfrm>
        </p:spPr>
        <p:txBody>
          <a:bodyPr lIns="127000" tIns="101600" rIns="127000" bIns="101600" anchor="b"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B73B0A-7F59-43AC-9270-C8D4A2516F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599" y="4191000"/>
            <a:ext cx="10972800" cy="2133600"/>
          </a:xfrm>
        </p:spPr>
        <p:txBody>
          <a:bodyPr lIns="50800" tIns="50800" rIns="50800" bIns="50800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F9A5DDC-261E-408E-BADA-468297FD91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8856005-C35C-4F30-A01E-196A8E43C0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F8CBD36-65BD-4C30-B17A-68E5F6877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8A2EF8E-2996-4A35-8C23-84C859128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053470C-DA9C-40AF-96D1-2A8D0EF20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82EC9CC-BF5B-4E49-A6C9-A08698C07BCD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190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3C0489-8C81-4D6D-B4F9-EA760530F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48D865-27F4-495D-A14B-C12A33E75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F2FB284-B061-4C21-B170-7E66007B3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59104D2-2EA7-4CBD-B23E-93D72DC3A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B1121AD-A0CB-4A20-A461-5A3908089EC5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23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F2C04E2-1016-4EC9-9574-FE6DF2B2C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7B6236A-F372-438E-A07C-98AFC2C47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3BE033-D2B2-4FBA-A6A6-0E19F0688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24749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E4450C-D018-44C1-BF1C-753E0C5CC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83CC7B-F271-4AC1-9EBC-D504D6AE7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5E24BF8-9A5E-403C-A1BD-AD5AFCC79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574247-A0BB-4FEA-9973-F0E5AD8ED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E29ADC-9C2C-4ABB-B96B-8C4F0D2DA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3613E9-8945-40A0-8AE9-B5D084C0E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FD7A986-9CE7-4C62-BE39-AB5D7A9A148F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9489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F5D591-4783-4DD1-BB9D-F95977F42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E6F4968-9ADA-494A-B384-CE62B10D5C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7E7F8D-E247-4863-9BFD-7C2911B3FA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54F979-D8CF-4A5F-8B60-F0EE50B15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613FAA-406C-4B34-8790-CFCBEF6A8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039A12-A651-4662-B40E-01F9A7081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CF12B4F-4BFE-41D8-9969-EDB74A3B708E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6732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ACF20E-706F-46A0-99C2-4FFA67BEE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780F76-4475-4560-B091-7250390A72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8C844E-8C08-458B-8407-8DF80561B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677E75-4ACA-4778-9FC7-7FD3DC325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D23534-6728-491E-B8CE-2616A58E9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BC5A219-0890-49AF-A3E5-E99E3E47A6D6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46038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F077ED7-0604-4A79-A160-68FA9D6714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1C85836-7B81-414B-9733-503CB9C078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C41591-9FD7-48AB-87A6-0BEA46B0D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6F33A1-2948-4A7E-AB5F-1532ED6FD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BE4748-2F81-4DE5-956A-B333238A5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C8C4CB4-E15A-4ACC-8111-C79334CE8D0D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93968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E495588-4790-461A-B72E-3E4D7D347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altLang="en-US" lang="ko-KR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73A353-2D16-47F2-BB23-23C5D300AA04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lang="ko-KR"/>
              <a:t>마스터 텍스트 스타일을 편집하려면 클릭</a:t>
            </a:r>
          </a:p>
          <a:p>
            <a:pPr lvl="1"/>
            <a:r>
              <a:rPr altLang="en-US" lang="ko-KR"/>
              <a:t>두 번째 수준</a:t>
            </a:r>
          </a:p>
          <a:p>
            <a:pPr lvl="2"/>
            <a:r>
              <a:rPr altLang="en-US" lang="ko-KR"/>
              <a:t>세 번째 수준</a:t>
            </a:r>
          </a:p>
          <a:p>
            <a:pPr lvl="3"/>
            <a:r>
              <a:rPr altLang="en-US" lang="ko-KR"/>
              <a:t>네 번째 수준</a:t>
            </a:r>
          </a:p>
          <a:p>
            <a:pPr lvl="4"/>
            <a:r>
              <a:rPr altLang="en-US" lang="ko-KR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62BD76-130E-46EA-BF79-C98F1CC53903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b="0" sz="900">
                <a:solidFill>
                  <a:srgbClr val="526077"/>
                </a:solidFill>
                <a:latin charset="-127" panose="02000503000000020004" pitchFamily="50" typeface="Pretendard"/>
                <a:ea charset="-127" panose="02000503000000020004" pitchFamily="50" typeface="Pretendard"/>
              </a:defRPr>
            </a:lvl1pPr>
          </a:lstStyle>
          <a:p>
            <a:fld id="{9D35394C-156E-482D-9CB9-8B56DD9F82D9}" type="datetimeFigureOut">
              <a:rPr altLang="ko-KR" lang="en-US" smtClean="0"/>
              <a:pPr/>
              <a:t>2026-07-13</a:t>
            </a:fld>
            <a:endParaRPr altLang="ko-KR"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D33F89-0CF3-4F77-AEF8-F1BC23221316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b="0" sz="900">
                <a:solidFill>
                  <a:srgbClr val="526077"/>
                </a:solidFill>
                <a:latin charset="-127" panose="02000503000000020004" pitchFamily="50" typeface="Pretendard"/>
                <a:ea charset="-127" panose="02000503000000020004" pitchFamily="50" typeface="Pretendard"/>
              </a:defRPr>
            </a:lvl1pPr>
          </a:lstStyle>
          <a:p>
            <a:endParaRPr altLang="en-US" 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479EA8-5A3E-4BA3-A094-1929D80D3EE9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b="0" sz="900">
                <a:solidFill>
                  <a:srgbClr val="526077"/>
                </a:solidFill>
                <a:latin charset="-127" panose="02000503000000020004" pitchFamily="50" typeface="Pretendard"/>
                <a:ea charset="-127" panose="02000503000000020004" pitchFamily="50" typeface="Pretendard"/>
              </a:defRPr>
            </a:lvl1pPr>
          </a:lstStyle>
          <a:p>
            <a:fld id="{31FD3EBB-2A0A-4C5A-9F34-FCE5E973995F}" type="slidenum">
              <a:rPr altLang="ko-KR" lang="en-US" smtClean="0"/>
              <a:pPr/>
              <a:t>‹#›</a:t>
            </a:fld>
            <a:endParaRPr altLang="ko-KR" lang="en-US"/>
          </a:p>
        </p:txBody>
      </p:sp>
    </p:spTree>
    <p:extLst>
      <p:ext uri="{BB962C8B-B14F-4D97-AF65-F5344CB8AC3E}">
        <p14:creationId xmlns:p14="http://schemas.microsoft.com/office/powerpoint/2010/main" val="8743109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61" r:id="rId3"/>
    <p:sldLayoutId id="214748366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eaLnBrk="1" hangingPunct="1" latinLnBrk="1" rtl="0">
        <a:lnSpc>
          <a:spcPct val="108000"/>
        </a:lnSpc>
        <a:spcBef>
          <a:spcPct val="0"/>
        </a:spcBef>
        <a:spcAft>
          <a:spcPts val="700"/>
        </a:spcAft>
        <a:buNone/>
        <a:defRPr b="0" kern="1200" sz="20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j-cs"/>
        </a:defRPr>
      </a:lvl1pPr>
    </p:titleStyle>
    <p:bodyStyle>
      <a:lvl1pPr algn="l" defTabSz="914400" eaLnBrk="1" hangingPunct="1" indent="-228600" latinLnBrk="1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1pPr>
      <a:lvl2pPr algn="l" defTabSz="914400" eaLnBrk="1" hangingPunct="1" indent="-228600" latinLnBrk="1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2pPr>
      <a:lvl3pPr algn="l" defTabSz="914400" eaLnBrk="1" hangingPunct="1" indent="-228600" latinLnBrk="1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3pPr>
      <a:lvl4pPr algn="l" defTabSz="914400" eaLnBrk="1" hangingPunct="1" indent="-228600" latinLnBrk="1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4pPr>
      <a:lvl5pPr algn="l" defTabSz="914400" eaLnBrk="1" hangingPunct="1" indent="-228600" latinLnBrk="1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5pPr>
      <a:lvl6pPr algn="l" defTabSz="914400" eaLnBrk="1" hangingPunct="1" indent="-228600" latinLnBrk="1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1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1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1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algn="l" defTabSz="914400" eaLnBrk="1" hangingPunct="1" latinLnBrk="1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1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1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1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1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1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1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1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1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D9272C-EBA3-439B-9FBC-CB759BCF57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05000"/>
            <a:ext cx="9144000" cy="14224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함수 호출과 인자 읽기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92FF77-EB2E-4A97-8418-D170E6986AF0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Seurat 함수의 입력과 출력 해석하기</a:t>
            </a:r>
          </a:p>
        </p:txBody>
      </p:sp>
      <p:sp>
        <p:nvSpPr>
          <p:cNvPr id="4" name="Lesson Label"/>
          <p:cNvSpPr txBox="1"/>
          <p:nvPr/>
        </p:nvSpPr>
        <p:spPr>
          <a:xfrm>
            <a:off x="1524000" y="863600"/>
            <a:ext cx="9144000" cy="787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pPr algn="l"/>
            <a:r>
              <a:rPr lang="ko-KR" sz="3600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5회차</a:t>
            </a:r>
            <a:endParaRPr lang="ko-KR" sz="3600"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오늘의 학습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함수, 인자, 기본값, 반환값의 관계를 설명할 수 있다.</a:t>
            </a:r>
          </a:p>
          <a:p>
            <a:pPr lvl="0" indent="-457200" marL="457200">
              <a:buAutoNum type="arabicPeriod"/>
            </a:pPr>
            <a:r>
              <a:rPr/>
              <a:t>이름 있는 인자와 중첩된 함수 호출을 읽을 수 있다.</a:t>
            </a:r>
          </a:p>
          <a:p>
            <a:pPr lvl="0" indent="-457200" marL="457200">
              <a:buAutoNum type="arabicPeriod"/>
            </a:pPr>
            <a:r>
              <a:rPr>
                <a:latin typeface="Consolas"/>
              </a:rPr>
              <a:t>NormalizeData()</a:t>
            </a:r>
            <a:r>
              <a:rPr/>
              <a:t> 등 Seurat 함수의 입력 객체와 주요 인자를 찾을 수 있다.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Seurat 분석은 함수의 연속입니다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pbmc &lt;- </a:t>
            </a:r>
            <a:r>
              <a:rPr>
                <a:solidFill>
                  <a:srgbClr val="4758AB"/>
                </a:solidFill>
                <a:latin typeface="Consolas"/>
              </a:rPr>
              <a:t>NormalizeData</a:t>
            </a:r>
            <a:r>
              <a:rPr>
                <a:solidFill>
                  <a:srgbClr val="003B4F"/>
                </a:solidFill>
                <a:latin typeface="Consolas"/>
              </a:rPr>
              <a:t>(pbmc)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pbmc &lt;- </a:t>
            </a:r>
            <a:r>
              <a:rPr>
                <a:solidFill>
                  <a:srgbClr val="4758AB"/>
                </a:solidFill>
                <a:latin typeface="Consolas"/>
              </a:rPr>
              <a:t>FindVariableFeatures</a:t>
            </a:r>
            <a:r>
              <a:rPr>
                <a:solidFill>
                  <a:srgbClr val="003B4F"/>
                </a:solidFill>
                <a:latin typeface="Consolas"/>
              </a:rPr>
              <a:t>(pbmc, </a:t>
            </a:r>
            <a:r>
              <a:rPr>
                <a:solidFill>
                  <a:srgbClr val="657422"/>
                </a:solidFill>
                <a:latin typeface="Consolas"/>
              </a:rPr>
              <a:t>nfeatures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2000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pbmc &lt;- </a:t>
            </a:r>
            <a:r>
              <a:rPr>
                <a:solidFill>
                  <a:srgbClr val="4758AB"/>
                </a:solidFill>
                <a:latin typeface="Consolas"/>
              </a:rPr>
              <a:t>ScaleData</a:t>
            </a:r>
            <a:r>
              <a:rPr>
                <a:solidFill>
                  <a:srgbClr val="003B4F"/>
                </a:solidFill>
                <a:latin typeface="Consolas"/>
              </a:rPr>
              <a:t>(pbmc)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pbmc &lt;- </a:t>
            </a:r>
            <a:r>
              <a:rPr>
                <a:solidFill>
                  <a:srgbClr val="4758AB"/>
                </a:solidFill>
                <a:latin typeface="Consolas"/>
              </a:rPr>
              <a:t>RunPCA</a:t>
            </a:r>
            <a:r>
              <a:rPr>
                <a:solidFill>
                  <a:srgbClr val="003B4F"/>
                </a:solidFill>
                <a:latin typeface="Consolas"/>
              </a:rPr>
              <a:t>(pbmc)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각 줄은 </a:t>
            </a:r>
            <a:r>
              <a:rPr b="1"/>
              <a:t>입력 객체 → 함수 → 반환 객체</a:t>
            </a:r>
            <a:r>
              <a:rPr/>
              <a:t> 구조를 가집니다.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함수는 입력을 받아 작업하고 값을 반환합니다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입력</a:t>
            </a:r>
          </a:p>
          <a:p>
            <a:pPr lvl="0" indent="0" marL="0">
              <a:buNone/>
            </a:pPr>
            <a:r>
              <a:rPr>
                <a:latin typeface="Consolas"/>
              </a:rPr>
              <a:t>pbmc</a:t>
            </a:r>
          </a:p>
          <a:p>
            <a:pPr lvl="0" indent="0" marL="0">
              <a:buNone/>
            </a:pPr>
            <a:r>
              <a:rPr b="1"/>
              <a:t>함수</a:t>
            </a:r>
          </a:p>
          <a:p>
            <a:pPr lvl="0" indent="0" marL="0">
              <a:buNone/>
            </a:pPr>
            <a:r>
              <a:rPr>
                <a:latin typeface="Consolas"/>
              </a:rPr>
              <a:t>NormalizeData()</a:t>
            </a:r>
          </a:p>
          <a:p>
            <a:pPr lvl="0" indent="0" marL="0">
              <a:buNone/>
            </a:pPr>
            <a:r>
              <a:rPr b="1"/>
              <a:t>반환값</a:t>
            </a:r>
          </a:p>
          <a:p>
            <a:pPr lvl="0" indent="0" marL="0">
              <a:buNone/>
            </a:pPr>
            <a:r>
              <a:rPr/>
              <a:t>정규화 결과가 추가된 객체</a:t>
            </a:r>
          </a:p>
          <a:p>
            <a:pPr lvl="0" indent="0" marL="0">
              <a:buNone/>
            </a:pPr>
            <a:r>
              <a:rPr/>
              <a:t>함수가 화면에 무엇을 출력하는지와 실제로 무엇을 반환하는지는 다를 수 있습니다.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괄호 안의 값이 인자입니다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FindClusters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object =</a:t>
            </a:r>
            <a:r>
              <a:rPr>
                <a:solidFill>
                  <a:srgbClr val="003B4F"/>
                </a:solidFill>
                <a:latin typeface="Consolas"/>
              </a:rPr>
              <a:t> pbmc,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resolution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0.5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nsolas"/>
              </a:rPr>
              <a:t>object</a:t>
            </a:r>
            <a:r>
              <a:rPr/>
              <a:t>, </a:t>
            </a:r>
            <a:r>
              <a:rPr>
                <a:latin typeface="Consolas"/>
              </a:rPr>
              <a:t>resolution</a:t>
            </a:r>
            <a:r>
              <a:rPr/>
              <a:t>: 인자 이름</a:t>
            </a:r>
          </a:p>
          <a:p>
            <a:pPr lvl="0"/>
            <a:r>
              <a:rPr>
                <a:latin typeface="Consolas"/>
              </a:rPr>
              <a:t>pbmc</a:t>
            </a:r>
            <a:r>
              <a:rPr/>
              <a:t>, </a:t>
            </a:r>
            <a:r>
              <a:rPr>
                <a:latin typeface="Consolas"/>
              </a:rPr>
              <a:t>0.5</a:t>
            </a:r>
            <a:r>
              <a:rPr/>
              <a:t>: 전달하는 값</a:t>
            </a:r>
          </a:p>
          <a:p>
            <a:pPr lvl="0"/>
            <a:r>
              <a:rPr/>
              <a:t>인자는 함수의 동작을 조절합니다.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위치 인자는 순서로 의미를 결정합니다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round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AD0000"/>
                </a:solidFill>
                <a:latin typeface="Consolas"/>
              </a:rPr>
              <a:t>3.14159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2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round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657422"/>
                </a:solidFill>
                <a:latin typeface="Consolas"/>
              </a:rPr>
              <a:t>x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3.14159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657422"/>
                </a:solidFill>
                <a:latin typeface="Consolas"/>
              </a:rPr>
              <a:t>digits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2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두 호출은 같은 결과를 냅니다. 이름을 쓰면 코드의 의미가 더 분명해집니다.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이름 있는 인자는 순서를 바꿀 수 있습니다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round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657422"/>
                </a:solidFill>
                <a:latin typeface="Consolas"/>
              </a:rPr>
              <a:t>digits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2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657422"/>
                </a:solidFill>
                <a:latin typeface="Consolas"/>
              </a:rPr>
              <a:t>x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3.14159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FindClusters</a:t>
            </a:r>
            <a:r>
              <a:rPr>
                <a:solidFill>
                  <a:srgbClr val="003B4F"/>
                </a:solidFill>
                <a:latin typeface="Consolas"/>
              </a:rPr>
              <a:t>(pbmc, </a:t>
            </a:r>
            <a:r>
              <a:rPr>
                <a:solidFill>
                  <a:srgbClr val="657422"/>
                </a:solidFill>
                <a:latin typeface="Consolas"/>
              </a:rPr>
              <a:t>resolution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0.5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Seurat 함수에서는 중요한 설정을 이름과 함께 쓰는 것을 권장합니다.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기본값은 생략했을 때 사용됩니다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NormalizeData</a:t>
            </a:r>
            <a:r>
              <a:rPr>
                <a:solidFill>
                  <a:srgbClr val="003B4F"/>
                </a:solidFill>
                <a:latin typeface="Consolas"/>
              </a:rPr>
              <a:t>(pbmc)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NormalizeData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pbmc,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normalization.method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"LogNormalize"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scale.factor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10000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공식 튜토리얼의 더 명시적인 표현:</a:t>
            </a:r>
          </a:p>
          <a:p>
            <a:pPr lvl="0" indent="0" marL="0">
              <a:buNone/>
            </a:pPr>
            <a:r>
              <a:rPr/>
              <a:t>기본값도 분석 기록에서 중요하면 명시할 수 있습니다.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도움말에서 함수 계약을 읽습니다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?NormalizeData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args</a:t>
            </a:r>
            <a:r>
              <a:rPr>
                <a:solidFill>
                  <a:srgbClr val="003B4F"/>
                </a:solidFill>
                <a:latin typeface="Consolas"/>
              </a:rPr>
              <a:t>(NormalizeData)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확인할 내용:</a:t>
            </a:r>
          </a:p>
          <a:p>
            <a:pPr lvl="0"/>
            <a:r>
              <a:rPr/>
              <a:t>어떤 클래스의 입력을 받는가?</a:t>
            </a:r>
          </a:p>
          <a:p>
            <a:pPr lvl="0"/>
            <a:r>
              <a:rPr/>
              <a:t>필수 인자는 무엇인가?</a:t>
            </a:r>
          </a:p>
          <a:p>
            <a:pPr lvl="0"/>
            <a:r>
              <a:rPr/>
              <a:t>기본값은 무엇인가?</a:t>
            </a:r>
          </a:p>
          <a:p>
            <a:pPr lvl="0"/>
            <a:r>
              <a:rPr/>
              <a:t>어떤 객체를 반환하는가?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반환값을 저장하지 않으면 다음 단계에 남지 않습니다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nsolas"/>
              </a:rPr>
              <a:t># 결과를 화면에 계산하지만 pbmc에는 다시 저장하지 않음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NormalizeData</a:t>
            </a:r>
            <a:r>
              <a:rPr>
                <a:solidFill>
                  <a:srgbClr val="003B4F"/>
                </a:solidFill>
                <a:latin typeface="Consolas"/>
              </a:rPr>
              <a:t>(pbmc)</a:t>
            </a:r>
            <a:br/>
            <a:br/>
            <a:r>
              <a:rPr>
                <a:solidFill>
                  <a:srgbClr val="5E5E5E"/>
                </a:solidFill>
                <a:latin typeface="Consolas"/>
              </a:rPr>
              <a:t># 반환된 객체를 pbmc에 다시 저장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pbmc &lt;- </a:t>
            </a:r>
            <a:r>
              <a:rPr>
                <a:solidFill>
                  <a:srgbClr val="4758AB"/>
                </a:solidFill>
                <a:latin typeface="Consolas"/>
              </a:rPr>
              <a:t>NormalizeData</a:t>
            </a:r>
            <a:r>
              <a:rPr>
                <a:solidFill>
                  <a:srgbClr val="003B4F"/>
                </a:solidFill>
                <a:latin typeface="Consolas"/>
              </a:rPr>
              <a:t>(pbmc)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Seurat 튜토리얼에서 같은 객체 이름에 다시 할당하는 이유입니다.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어떤 함수는 요약값을 반환합니다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nrow</a:t>
            </a:r>
            <a:r>
              <a:rPr>
                <a:solidFill>
                  <a:srgbClr val="003B4F"/>
                </a:solidFill>
                <a:latin typeface="Consolas"/>
              </a:rPr>
              <a:t>(pbmc)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ncol</a:t>
            </a:r>
            <a:r>
              <a:rPr>
                <a:solidFill>
                  <a:srgbClr val="003B4F"/>
                </a:solidFill>
                <a:latin typeface="Consolas"/>
              </a:rPr>
              <a:t>(pbmc)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VariableFeatures</a:t>
            </a:r>
            <a:r>
              <a:rPr>
                <a:solidFill>
                  <a:srgbClr val="003B4F"/>
                </a:solidFill>
                <a:latin typeface="Consolas"/>
              </a:rPr>
              <a:t>(pbmc)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top10 &lt;- </a:t>
            </a:r>
            <a:r>
              <a:rPr>
                <a:solidFill>
                  <a:srgbClr val="4758AB"/>
                </a:solidFill>
                <a:latin typeface="Consolas"/>
              </a:rPr>
              <a:t>head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4758AB"/>
                </a:solidFill>
                <a:latin typeface="Consolas"/>
              </a:rPr>
              <a:t>VariableFeatures</a:t>
            </a:r>
            <a:r>
              <a:rPr>
                <a:solidFill>
                  <a:srgbClr val="003B4F"/>
                </a:solidFill>
                <a:latin typeface="Consolas"/>
              </a:rPr>
              <a:t>(pbmc), </a:t>
            </a:r>
            <a:r>
              <a:rPr>
                <a:solidFill>
                  <a:srgbClr val="AD0000"/>
                </a:solidFill>
                <a:latin typeface="Consolas"/>
              </a:rPr>
              <a:t>10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이 함수들은 Seurat 객체에 분석 단계를 추가하기보다 정보 또는 값을 가져옵니다.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함수 호출은 안쪽부터 계산됩니다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top10 &lt;- </a:t>
            </a:r>
            <a:r>
              <a:rPr>
                <a:solidFill>
                  <a:srgbClr val="4758AB"/>
                </a:solidFill>
                <a:latin typeface="Consolas"/>
              </a:rPr>
              <a:t>head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4758AB"/>
                </a:solidFill>
                <a:latin typeface="Consolas"/>
              </a:rPr>
              <a:t>VariableFeatures</a:t>
            </a:r>
            <a:r>
              <a:rPr>
                <a:solidFill>
                  <a:srgbClr val="003B4F"/>
                </a:solidFill>
                <a:latin typeface="Consolas"/>
              </a:rPr>
              <a:t>(pbmc), </a:t>
            </a:r>
            <a:r>
              <a:rPr>
                <a:solidFill>
                  <a:srgbClr val="AD0000"/>
                </a:solidFill>
                <a:latin typeface="Consolas"/>
              </a:rPr>
              <a:t>10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실행 순서:</a:t>
            </a:r>
          </a:p>
          <a:p>
            <a:pPr lvl="0" indent="-457200" marL="457200">
              <a:buAutoNum type="arabicPeriod"/>
            </a:pPr>
            <a:r>
              <a:rPr>
                <a:latin typeface="Consolas"/>
              </a:rPr>
              <a:t>VariableFeatures(pbmc)</a:t>
            </a:r>
          </a:p>
          <a:p>
            <a:pPr lvl="0" indent="-457200" marL="457200">
              <a:buAutoNum type="arabicPeriod"/>
            </a:pPr>
            <a:r>
              <a:rPr/>
              <a:t>반환된 벡터를 </a:t>
            </a:r>
            <a:r>
              <a:rPr>
                <a:latin typeface="Consolas"/>
              </a:rPr>
              <a:t>head(..., 10)</a:t>
            </a:r>
            <a:r>
              <a:rPr/>
              <a:t>에 전달</a:t>
            </a:r>
          </a:p>
          <a:p>
            <a:pPr lvl="0" indent="-457200" marL="457200">
              <a:buAutoNum type="arabicPeriod"/>
            </a:pPr>
            <a:r>
              <a:rPr/>
              <a:t>결과를 </a:t>
            </a:r>
            <a:r>
              <a:rPr>
                <a:latin typeface="Consolas"/>
              </a:rPr>
              <a:t>top10</a:t>
            </a:r>
            <a:r>
              <a:rPr/>
              <a:t>에 저장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긴 함수 호출은 여러 줄로 정렬합니다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pbmc &lt;- </a:t>
            </a:r>
            <a:r>
              <a:rPr>
                <a:solidFill>
                  <a:srgbClr val="4758AB"/>
                </a:solidFill>
                <a:latin typeface="Consolas"/>
              </a:rPr>
              <a:t>CreateSeuratObject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counts =</a:t>
            </a:r>
            <a:r>
              <a:rPr>
                <a:solidFill>
                  <a:srgbClr val="003B4F"/>
                </a:solidFill>
                <a:latin typeface="Consolas"/>
              </a:rPr>
              <a:t> pbmc.data,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project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"pbmc3k"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min.cells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3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min.features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200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쉼표 뒤에서 줄을 바꿉니다.</a:t>
            </a:r>
          </a:p>
          <a:p>
            <a:pPr lvl="0"/>
            <a:r>
              <a:rPr/>
              <a:t>같은 수준의 인자를 같은 들여쓰기로 맞춥니다.</a:t>
            </a:r>
          </a:p>
          <a:p>
            <a:pPr lvl="0"/>
            <a:r>
              <a:rPr/>
              <a:t>닫는 괄호는 함수 시작 위치에 맞춥니다.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파이프는 왼쪽 결과를 다음 함수로 전달합니다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pbmc.markers </a:t>
            </a:r>
            <a:r>
              <a:rPr>
                <a:solidFill>
                  <a:srgbClr val="5E5E5E"/>
                </a:solidFill>
                <a:latin typeface="Consolas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group_by</a:t>
            </a:r>
            <a:r>
              <a:rPr>
                <a:solidFill>
                  <a:srgbClr val="003B4F"/>
                </a:solidFill>
                <a:latin typeface="Consolas"/>
              </a:rPr>
              <a:t>(cluster) </a:t>
            </a:r>
            <a:r>
              <a:rPr>
                <a:solidFill>
                  <a:srgbClr val="5E5E5E"/>
                </a:solidFill>
                <a:latin typeface="Consolas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filter</a:t>
            </a:r>
            <a:r>
              <a:rPr>
                <a:solidFill>
                  <a:srgbClr val="003B4F"/>
                </a:solidFill>
                <a:latin typeface="Consolas"/>
              </a:rPr>
              <a:t>(avg_log2FC </a:t>
            </a:r>
            <a:r>
              <a:rPr>
                <a:solidFill>
                  <a:srgbClr val="5E5E5E"/>
                </a:solidFill>
                <a:latin typeface="Consolas"/>
              </a:rPr>
              <a:t>&gt;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  <a:r>
              <a:rPr>
                <a:solidFill>
                  <a:srgbClr val="003B4F"/>
                </a:solidFill>
                <a:latin typeface="Consolas"/>
              </a:rPr>
              <a:t>) </a:t>
            </a:r>
            <a:r>
              <a:rPr>
                <a:solidFill>
                  <a:srgbClr val="5E5E5E"/>
                </a:solidFill>
                <a:latin typeface="Consolas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slice_head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657422"/>
                </a:solidFill>
                <a:latin typeface="Consolas"/>
              </a:rPr>
              <a:t>n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10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위에서 아래로 “그 다음 무엇을 하는가”를 읽습니다.</a:t>
            </a:r>
          </a:p>
          <a:p>
            <a:pPr lvl="0" indent="0" marL="0">
              <a:buNone/>
            </a:pPr>
            <a:r>
              <a:rPr/>
              <a:t>기본 R의 </a:t>
            </a:r>
            <a:r>
              <a:rPr>
                <a:latin typeface="Consolas"/>
              </a:rPr>
              <a:t>|&gt;</a:t>
            </a:r>
            <a:r>
              <a:rPr/>
              <a:t>도 같은 방향으로 데이터를 전달합니다.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함수 이름이 겹치면 패키지를 명시합니다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dplyr</a:t>
            </a:r>
            <a:r>
              <a:rPr>
                <a:solidFill>
                  <a:srgbClr val="5E5E5E"/>
                </a:solidFill>
                <a:latin typeface="Consolas"/>
              </a:rPr>
              <a:t>::</a:t>
            </a:r>
            <a:r>
              <a:rPr>
                <a:solidFill>
                  <a:srgbClr val="4758AB"/>
                </a:solidFill>
                <a:latin typeface="Consolas"/>
              </a:rPr>
              <a:t>filter</a:t>
            </a:r>
            <a:r>
              <a:rPr>
                <a:solidFill>
                  <a:srgbClr val="003B4F"/>
                </a:solidFill>
                <a:latin typeface="Consolas"/>
              </a:rPr>
              <a:t>(pbmc.markers, avg_log2FC </a:t>
            </a:r>
            <a:r>
              <a:rPr>
                <a:solidFill>
                  <a:srgbClr val="5E5E5E"/>
                </a:solidFill>
                <a:latin typeface="Consolas"/>
              </a:rPr>
              <a:t>&gt;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stats</a:t>
            </a:r>
            <a:r>
              <a:rPr>
                <a:solidFill>
                  <a:srgbClr val="5E5E5E"/>
                </a:solidFill>
                <a:latin typeface="Consolas"/>
              </a:rPr>
              <a:t>::</a:t>
            </a:r>
            <a:r>
              <a:rPr>
                <a:solidFill>
                  <a:srgbClr val="4758AB"/>
                </a:solidFill>
                <a:latin typeface="Consolas"/>
              </a:rPr>
              <a:t>filter</a:t>
            </a:r>
            <a:r>
              <a:rPr>
                <a:solidFill>
                  <a:srgbClr val="003B4F"/>
                </a:solidFill>
                <a:latin typeface="Consolas"/>
              </a:rPr>
              <a:t>(expression_values)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같은 </a:t>
            </a:r>
            <a:r>
              <a:rPr>
                <a:latin typeface="Consolas"/>
              </a:rPr>
              <a:t>filter()</a:t>
            </a:r>
            <a:r>
              <a:rPr/>
              <a:t>라도 패키지에 따라 완전히 다른 작업을 합니다.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오류 메시지에서 함수와 인자를 찾습니다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FindClusters</a:t>
            </a:r>
            <a:r>
              <a:rPr>
                <a:solidFill>
                  <a:srgbClr val="003B4F"/>
                </a:solidFill>
                <a:latin typeface="Consolas"/>
              </a:rPr>
              <a:t>(pbmc, </a:t>
            </a:r>
            <a:r>
              <a:rPr>
                <a:solidFill>
                  <a:srgbClr val="657422"/>
                </a:solidFill>
                <a:latin typeface="Consolas"/>
              </a:rPr>
              <a:t>resoluton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0.5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철자가 틀린 인자는 사용되지 않거나 오류를 발생시킵니다.</a:t>
            </a:r>
          </a:p>
          <a:p>
            <a:pPr lvl="0" indent="0" marL="0">
              <a:buNone/>
            </a:pPr>
            <a:r>
              <a:rPr/>
              <a:t>확인 순서:</a:t>
            </a:r>
          </a:p>
          <a:p>
            <a:pPr lvl="0" indent="-457200" marL="457200">
              <a:buAutoNum type="arabicPeriod"/>
            </a:pPr>
            <a:r>
              <a:rPr/>
              <a:t>오류를 낸 함수 이름</a:t>
            </a:r>
          </a:p>
          <a:p>
            <a:pPr lvl="0" indent="-457200" marL="457200">
              <a:buAutoNum type="arabicPeriod"/>
            </a:pPr>
            <a:r>
              <a:rPr/>
              <a:t>잘못되었다고 표시된 인자</a:t>
            </a:r>
          </a:p>
          <a:p>
            <a:pPr lvl="0" indent="-457200" marL="457200">
              <a:buAutoNum type="arabicPeriod"/>
            </a:pPr>
            <a:r>
              <a:rPr>
                <a:latin typeface="Consolas"/>
              </a:rPr>
              <a:t>args()</a:t>
            </a:r>
            <a:r>
              <a:rPr/>
              <a:t>와 도움말의 정확한 철자</a:t>
            </a:r>
          </a:p>
          <a:p>
            <a:pPr lvl="0" indent="-457200" marL="457200">
              <a:buAutoNum type="arabicPeriod"/>
            </a:pPr>
            <a:r>
              <a:rPr/>
              <a:t>전달한 값의 자료형과 범위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간단한 사용자 정의 함수를 만듭니다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percent &lt;- </a:t>
            </a:r>
            <a:r>
              <a:rPr b="1">
                <a:solidFill>
                  <a:srgbClr val="003B4F"/>
                </a:solidFill>
                <a:latin typeface="Consolas"/>
              </a:rPr>
              <a:t>function</a:t>
            </a:r>
            <a:r>
              <a:rPr>
                <a:solidFill>
                  <a:srgbClr val="003B4F"/>
                </a:solidFill>
                <a:latin typeface="Consolas"/>
              </a:rPr>
              <a:t>(part, total) {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part </a:t>
            </a:r>
            <a:r>
              <a:rPr>
                <a:solidFill>
                  <a:srgbClr val="5E5E5E"/>
                </a:solidFill>
                <a:latin typeface="Consolas"/>
              </a:rPr>
              <a:t>/</a:t>
            </a:r>
            <a:r>
              <a:rPr>
                <a:solidFill>
                  <a:srgbClr val="003B4F"/>
                </a:solidFill>
                <a:latin typeface="Consolas"/>
              </a:rPr>
              <a:t> total </a:t>
            </a:r>
            <a:r>
              <a:rPr>
                <a:solidFill>
                  <a:srgbClr val="5E5E5E"/>
                </a:solidFill>
                <a:latin typeface="Consolas"/>
              </a:rPr>
              <a:t>*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100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}</a:t>
            </a:r>
            <a:br/>
            <a:br/>
            <a:r>
              <a:rPr>
                <a:solidFill>
                  <a:srgbClr val="4758AB"/>
                </a:solidFill>
                <a:latin typeface="Consolas"/>
              </a:rPr>
              <a:t>percent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AD0000"/>
                </a:solidFill>
                <a:latin typeface="Consolas"/>
              </a:rPr>
              <a:t>25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200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함수 이름: </a:t>
            </a:r>
            <a:r>
              <a:rPr>
                <a:latin typeface="Consolas"/>
              </a:rPr>
              <a:t>percent</a:t>
            </a:r>
          </a:p>
          <a:p>
            <a:pPr lvl="0"/>
            <a:r>
              <a:rPr/>
              <a:t>인자: </a:t>
            </a:r>
            <a:r>
              <a:rPr>
                <a:latin typeface="Consolas"/>
              </a:rPr>
              <a:t>part</a:t>
            </a:r>
            <a:r>
              <a:rPr/>
              <a:t>, </a:t>
            </a:r>
            <a:r>
              <a:rPr>
                <a:latin typeface="Consolas"/>
              </a:rPr>
              <a:t>total</a:t>
            </a:r>
          </a:p>
          <a:p>
            <a:pPr lvl="0"/>
            <a:r>
              <a:rPr/>
              <a:t>마지막 계산값이 반환값</a:t>
            </a:r>
          </a:p>
          <a:p>
            <a:pPr lvl="0" indent="0" marL="0">
              <a:buNone/>
            </a:pPr>
            <a:r>
              <a:rPr/>
              <a:t>10회차에서 분석용 함수를 더 자세히 만듭니다.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실습 1: 함수 호출 해체하기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pbmc &lt;- </a:t>
            </a:r>
            <a:r>
              <a:rPr>
                <a:solidFill>
                  <a:srgbClr val="4758AB"/>
                </a:solidFill>
                <a:latin typeface="Consolas"/>
              </a:rPr>
              <a:t>FindVariableFeatures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pbmc,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selection.method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"vst"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nfeatures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2000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다음을 표시하세요.</a:t>
            </a:r>
          </a:p>
          <a:p>
            <a:pPr lvl="0" indent="-457200" marL="457200">
              <a:buAutoNum type="arabicPeriod"/>
            </a:pPr>
            <a:r>
              <a:rPr/>
              <a:t>함수 이름</a:t>
            </a:r>
          </a:p>
          <a:p>
            <a:pPr lvl="0" indent="-457200" marL="457200">
              <a:buAutoNum type="arabicPeriod"/>
            </a:pPr>
            <a:r>
              <a:rPr/>
              <a:t>입력 객체</a:t>
            </a:r>
          </a:p>
          <a:p>
            <a:pPr lvl="0" indent="-457200" marL="457200">
              <a:buAutoNum type="arabicPeriod"/>
            </a:pPr>
            <a:r>
              <a:rPr/>
              <a:t>이름 있는 인자 두 개</a:t>
            </a:r>
          </a:p>
          <a:p>
            <a:pPr lvl="0" indent="-457200" marL="457200">
              <a:buAutoNum type="arabicPeriod"/>
            </a:pPr>
            <a:r>
              <a:rPr/>
              <a:t>반환값이 저장되는 객체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실습 2: 도움말로 코드 수정하기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DimPlot</a:t>
            </a:r>
            <a:r>
              <a:rPr>
                <a:solidFill>
                  <a:srgbClr val="003B4F"/>
                </a:solidFill>
                <a:latin typeface="Consolas"/>
              </a:rPr>
              <a:t>(pbmc, </a:t>
            </a:r>
            <a:r>
              <a:rPr>
                <a:solidFill>
                  <a:srgbClr val="657422"/>
                </a:solidFill>
                <a:latin typeface="Consolas"/>
              </a:rPr>
              <a:t>reduction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"umap"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nsolas"/>
              </a:rPr>
              <a:t>?DimPlot</a:t>
            </a:r>
            <a:r>
              <a:rPr/>
              <a:t>을 확인하여 다음을 수행하세요.</a:t>
            </a:r>
          </a:p>
          <a:p>
            <a:pPr lvl="0" indent="-457200" marL="457200">
              <a:buAutoNum type="arabicPeriod"/>
            </a:pPr>
            <a:r>
              <a:rPr/>
              <a:t>cluster 라벨 표시</a:t>
            </a:r>
          </a:p>
          <a:p>
            <a:pPr lvl="0" indent="-457200" marL="457200">
              <a:buAutoNum type="arabicPeriod"/>
            </a:pPr>
            <a:r>
              <a:rPr/>
              <a:t>점 크기를 </a:t>
            </a:r>
            <a:r>
              <a:rPr>
                <a:latin typeface="Consolas"/>
              </a:rPr>
              <a:t>0.7</a:t>
            </a:r>
            <a:r>
              <a:rPr/>
              <a:t>로 변경</a:t>
            </a:r>
          </a:p>
          <a:p>
            <a:pPr lvl="0" indent="-457200" marL="457200">
              <a:buAutoNum type="arabicPeriod"/>
            </a:pPr>
            <a:r>
              <a:rPr/>
              <a:t>범례를 유지한 결과와 제거한 결과 비교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오늘의 핵심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함수는 입력과 인자를 받아 값을 반환합니다.</a:t>
            </a:r>
          </a:p>
          <a:p>
            <a:pPr lvl="0"/>
            <a:r>
              <a:rPr/>
              <a:t>이름 있는 인자는 코드의 의미를 명확하게 합니다.</a:t>
            </a:r>
          </a:p>
          <a:p>
            <a:pPr lvl="0"/>
            <a:r>
              <a:rPr/>
              <a:t>생략한 인자에는 기본값이 적용됩니다.</a:t>
            </a:r>
          </a:p>
          <a:p>
            <a:pPr lvl="0"/>
            <a:r>
              <a:rPr/>
              <a:t>중첩 호출은 가장 안쪽 함수부터 읽습니다.</a:t>
            </a:r>
          </a:p>
          <a:p>
            <a:pPr lvl="0"/>
            <a:r>
              <a:rPr/>
              <a:t>반환값을 객체에 저장해야 다음 분석 단계에서 사용할 수 있습니다.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종료 점검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함수의 인자와 반환값은 무엇인가요?</a:t>
            </a:r>
          </a:p>
          <a:p>
            <a:pPr lvl="0" indent="-457200" marL="457200">
              <a:buAutoNum type="arabicPeriod"/>
            </a:pPr>
            <a:r>
              <a:rPr/>
              <a:t>이름 있는 인자를 사용하는 장점은 무엇인가요?</a:t>
            </a:r>
          </a:p>
          <a:p>
            <a:pPr lvl="0" indent="-457200" marL="457200">
              <a:buAutoNum type="arabicPeriod"/>
            </a:pPr>
            <a:r>
              <a:rPr>
                <a:latin typeface="Consolas"/>
              </a:rPr>
              <a:t>head(VariableFeatures(pbmc), 10)</a:t>
            </a:r>
            <a:r>
              <a:rPr/>
              <a:t>의 실행 순서는 무엇인가요?</a:t>
            </a:r>
          </a:p>
          <a:p>
            <a:pPr lvl="0" indent="-457200" marL="457200">
              <a:buAutoNum type="arabicPeriod"/>
            </a:pPr>
            <a:r>
              <a:rPr>
                <a:latin typeface="Consolas"/>
              </a:rPr>
              <a:t>pbmc &lt;- NormalizeData(pbmc)</a:t>
            </a:r>
            <a:r>
              <a:rPr/>
              <a:t>에서 같은 이름이 두 번 등장하는 이유는 무엇인가요?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다음 회차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Seurat의 첫 입력은 유전자 × 세포 count matrix입니다. 다음 시간에는 행렬과 희소 행렬을 배웁니다.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사용자 지정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Pretendard</vt:lpstr>
      <vt:lpstr>맑은 고딕</vt:lpstr>
      <vt:lpstr>Arial</vt:lpstr>
      <vt:lpstr>Consolas</vt:lpstr>
      <vt:lpstr>Office 테마</vt:lpstr>
      <vt:lpstr>Seurat 분석을 위한 R 프로그래밍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함수 호출과 인자 읽기</dc:title>
  <dc:creator>5회차</dc:creator>
  <cp:keywords/>
  <dcterms:created xsi:type="dcterms:W3CDTF">2026-07-13T14:36:52Z</dcterms:created>
  <dcterms:modified xsi:type="dcterms:W3CDTF">2026-07-13T14:36:52Z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Seurat 함수의 입력과 출력 해석하기</vt:lpwstr>
  </property>
  <property fmtid="{D5CDD505-2E9C-101B-9397-08002B2CF9AE}" pid="10" name="toc-title">
    <vt:lpwstr>목차</vt:lpwstr>
  </property>
</Properties>
</file>