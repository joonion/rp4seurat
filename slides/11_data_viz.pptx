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Relationship Id="rId30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데이터 변환과 시각화 코드 읽기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dplyr와 ggplot2로 분석 결과 해석하기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11회차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nsolas"/>
              </a:rPr>
              <a:t>dplyr</a:t>
            </a:r>
            <a:r>
              <a:rPr/>
              <a:t>의 주요 동사를 이용해 표 데이터를 선택, 변환, 요약할 수 있다.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ggplot2</a:t>
            </a:r>
            <a:r>
              <a:rPr/>
              <a:t> 코드에서 data, aesthetics, geometry를 구분할 수 있다.</a:t>
            </a:r>
          </a:p>
          <a:p>
            <a:pPr lvl="0" indent="-457200" marL="457200">
              <a:buAutoNum type="arabicPeriod"/>
            </a:pPr>
            <a:r>
              <a:rPr/>
              <a:t>Seurat 시각화 결과를 읽고 연구 질문에 맞게 표시 옵션을 수정할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1회차에서 marker table을 변환했습니다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pbmc.markers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group_by</a:t>
            </a:r>
            <a:r>
              <a:rPr>
                <a:solidFill>
                  <a:srgbClr val="003B4F"/>
                </a:solidFill>
                <a:latin typeface="Consolas"/>
              </a:rPr>
              <a:t>(cluster)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slice_head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ungroup</a:t>
            </a:r>
            <a:r>
              <a:rPr>
                <a:solidFill>
                  <a:srgbClr val="003B4F"/>
                </a:solidFill>
                <a:latin typeface="Consolas"/>
              </a:rPr>
              <a:t>() -&gt; top10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위에서 아래로 데이터가 어떻게 달라지는지 추적합니다.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tidy data는 한 변수, 한 관측값의 위치가 명확합니다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expression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cell_A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IL7R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cell_A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CCR7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cell_B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IL7R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열: 변수</a:t>
            </a:r>
          </a:p>
          <a:p>
            <a:pPr lvl="0"/>
            <a:r>
              <a:rPr/>
              <a:t>행: 관측값</a:t>
            </a:r>
          </a:p>
          <a:p>
            <a:pPr lvl="0"/>
            <a:r>
              <a:rPr/>
              <a:t>셀: 하나의 값</a:t>
            </a:r>
          </a:p>
          <a:p>
            <a:pPr lvl="0" indent="0" marL="0">
              <a:buNone/>
            </a:pPr>
            <a:r>
              <a:rPr/>
              <a:t>데이터 형태는 분석과 plot 작성 방식에 영향을 줍니다.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파이프는 한 단계의 결과를 다음 단계로 보냅니다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pbmc.markers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select</a:t>
            </a:r>
            <a:r>
              <a:rPr>
                <a:solidFill>
                  <a:srgbClr val="003B4F"/>
                </a:solidFill>
                <a:latin typeface="Consolas"/>
              </a:rPr>
              <a:t>(cluster, gene, avg_log2FC)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읽는 방법: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pbmc.markers</a:t>
            </a:r>
            <a:r>
              <a:rPr/>
              <a:t>에서 시작</a:t>
            </a:r>
          </a:p>
          <a:p>
            <a:pPr lvl="0" indent="-457200" marL="457200">
              <a:buAutoNum type="arabicPeriod"/>
            </a:pPr>
            <a:r>
              <a:rPr/>
              <a:t>조건에 맞는 행 선택</a:t>
            </a:r>
          </a:p>
          <a:p>
            <a:pPr lvl="0" indent="-457200" marL="457200">
              <a:buAutoNum type="arabicPeriod"/>
            </a:pPr>
            <a:r>
              <a:rPr/>
              <a:t>필요한 열 선택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select()는 열을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marker_small &lt;- pbmc.markers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select</a:t>
            </a:r>
            <a:r>
              <a:rPr>
                <a:solidFill>
                  <a:srgbClr val="003B4F"/>
                </a:solidFill>
                <a:latin typeface="Consolas"/>
              </a:rPr>
              <a:t>(cluster, gene, avg_log2FC, p_val_adj)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select</a:t>
            </a:r>
            <a:r>
              <a:rPr>
                <a:solidFill>
                  <a:srgbClr val="003B4F"/>
                </a:solidFill>
                <a:latin typeface="Consolas"/>
              </a:rPr>
              <a:t>(pbmc.markers, </a:t>
            </a:r>
            <a:r>
              <a:rPr>
                <a:solidFill>
                  <a:srgbClr val="4758AB"/>
                </a:solidFill>
                <a:latin typeface="Consolas"/>
              </a:rPr>
              <a:t>starts_with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"pct"</a:t>
            </a:r>
            <a:r>
              <a:rPr>
                <a:solidFill>
                  <a:srgbClr val="003B4F"/>
                </a:solidFill>
                <a:latin typeface="Consolas"/>
              </a:rPr>
              <a:t>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select</a:t>
            </a:r>
            <a:r>
              <a:rPr>
                <a:solidFill>
                  <a:srgbClr val="003B4F"/>
                </a:solidFill>
                <a:latin typeface="Consolas"/>
              </a:rPr>
              <a:t>(pbmc.markers, </a:t>
            </a:r>
            <a:r>
              <a:rPr>
                <a:solidFill>
                  <a:srgbClr val="5E5E5E"/>
                </a:solidFill>
                <a:latin typeface="Consolas"/>
              </a:rPr>
              <a:t>-</a:t>
            </a:r>
            <a:r>
              <a:rPr>
                <a:solidFill>
                  <a:srgbClr val="003B4F"/>
                </a:solidFill>
                <a:latin typeface="Consolas"/>
              </a:rPr>
              <a:t>p_val)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목적에 필요한 열만 남기면 표를 읽기 쉬워집니다.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filter()는 조건에 맞는 행을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strong_markers &lt;- pbmc.markers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p_val_adj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0.05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pct</a:t>
            </a:r>
            <a:r>
              <a:rPr>
                <a:solidFill>
                  <a:srgbClr val="AD0000"/>
                </a:solidFill>
                <a:latin typeface="Consolas"/>
              </a:rPr>
              <a:t>.1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0.25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쉼표로 나열한 조건은 모두 만족해야 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mutate()는 열을 만들거나 변환합니다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marker_labeled &lt;- pbmc.markers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mutate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significant =</a:t>
            </a:r>
            <a:r>
              <a:rPr>
                <a:solidFill>
                  <a:srgbClr val="003B4F"/>
                </a:solidFill>
                <a:latin typeface="Consolas"/>
              </a:rPr>
              <a:t> p_val_adj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0.05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pct_difference =</a:t>
            </a:r>
            <a:r>
              <a:rPr>
                <a:solidFill>
                  <a:srgbClr val="003B4F"/>
                </a:solidFill>
                <a:latin typeface="Consolas"/>
              </a:rPr>
              <a:t> pct</a:t>
            </a:r>
            <a:r>
              <a:rPr>
                <a:solidFill>
                  <a:srgbClr val="AD0000"/>
                </a:solidFill>
                <a:latin typeface="Consolas"/>
              </a:rPr>
              <a:t>.1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-</a:t>
            </a:r>
            <a:r>
              <a:rPr>
                <a:solidFill>
                  <a:srgbClr val="003B4F"/>
                </a:solidFill>
                <a:latin typeface="Consolas"/>
              </a:rPr>
              <a:t> pct</a:t>
            </a:r>
            <a:r>
              <a:rPr>
                <a:solidFill>
                  <a:srgbClr val="AD0000"/>
                </a:solidFill>
                <a:latin typeface="Consolas"/>
              </a:rPr>
              <a:t>.2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기존 열을 이용해 해석에 필요한 새 변수를 만듭니다.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arrange()는 행의 순서를 바꿉니다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marker_ranked &lt;- pbmc.markers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arrange</a:t>
            </a:r>
            <a:r>
              <a:rPr>
                <a:solidFill>
                  <a:srgbClr val="003B4F"/>
                </a:solidFill>
                <a:latin typeface="Consolas"/>
              </a:rPr>
              <a:t>(cluster, </a:t>
            </a:r>
            <a:r>
              <a:rPr>
                <a:solidFill>
                  <a:srgbClr val="4758AB"/>
                </a:solidFill>
                <a:latin typeface="Consolas"/>
              </a:rPr>
              <a:t>desc</a:t>
            </a:r>
            <a:r>
              <a:rPr>
                <a:solidFill>
                  <a:srgbClr val="003B4F"/>
                </a:solidFill>
                <a:latin typeface="Consolas"/>
              </a:rPr>
              <a:t>(avg_log2FC))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기본: 오름차순</a:t>
            </a:r>
          </a:p>
          <a:p>
            <a:pPr lvl="0"/>
            <a:r>
              <a:rPr>
                <a:latin typeface="Consolas"/>
              </a:rPr>
              <a:t>desc()</a:t>
            </a:r>
            <a:r>
              <a:rPr/>
              <a:t>: 내림차순</a:t>
            </a:r>
          </a:p>
          <a:p>
            <a:pPr lvl="0" indent="0" marL="0">
              <a:buNone/>
            </a:pPr>
            <a:r>
              <a:rPr/>
              <a:t>정렬은 데이터를 제거하지 않고 표시 순서만 바꿉니다.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group_by()와 summarise()는 그룹별 요약을 만듭니다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cluster_summary &lt;- pbmc.markers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group_by</a:t>
            </a:r>
            <a:r>
              <a:rPr>
                <a:solidFill>
                  <a:srgbClr val="003B4F"/>
                </a:solidFill>
                <a:latin typeface="Consolas"/>
              </a:rPr>
              <a:t>(cluster)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summarise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marker_count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n</a:t>
            </a:r>
            <a:r>
              <a:rPr>
                <a:solidFill>
                  <a:srgbClr val="003B4F"/>
                </a:solidFill>
                <a:latin typeface="Consolas"/>
              </a:rPr>
              <a:t>(),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median_log2fc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median</a:t>
            </a:r>
            <a:r>
              <a:rPr>
                <a:solidFill>
                  <a:srgbClr val="003B4F"/>
                </a:solidFill>
                <a:latin typeface="Consolas"/>
              </a:rPr>
              <a:t>(avg_log2FC),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.groups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group_by(cluster)</a:t>
            </a:r>
            <a:r>
              <a:rPr/>
              <a:t> 이후의 계산은 cluster별로 수행됩니다.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slice_max()로 그룹별 상위 항목을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top_markers &lt;- pbmc.markers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group_by</a:t>
            </a:r>
            <a:r>
              <a:rPr>
                <a:solidFill>
                  <a:srgbClr val="003B4F"/>
                </a:solidFill>
                <a:latin typeface="Consolas"/>
              </a:rPr>
              <a:t>(cluster)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slice_max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order_by =</a:t>
            </a:r>
            <a:r>
              <a:rPr>
                <a:solidFill>
                  <a:srgbClr val="003B4F"/>
                </a:solidFill>
                <a:latin typeface="Consolas"/>
              </a:rPr>
              <a:t> avg_log2FC,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with_ties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ungroup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최종 결과가 더 이상 그룹 상태일 필요가 없으면 </a:t>
            </a:r>
            <a:r>
              <a:rPr>
                <a:latin typeface="Consolas"/>
              </a:rPr>
              <a:t>ungroup()</a:t>
            </a:r>
            <a:r>
              <a:rPr/>
              <a:t>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단계마다 결과를 확인하면 오류를 빨리 찾습니다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step1 &lt;- 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(pbmc.markers, 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dim</a:t>
            </a:r>
            <a:r>
              <a:rPr>
                <a:solidFill>
                  <a:srgbClr val="003B4F"/>
                </a:solidFill>
                <a:latin typeface="Consolas"/>
              </a:rPr>
              <a:t>(step1)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step2 &lt;- </a:t>
            </a:r>
            <a:r>
              <a:rPr>
                <a:solidFill>
                  <a:srgbClr val="4758AB"/>
                </a:solidFill>
                <a:latin typeface="Consolas"/>
              </a:rPr>
              <a:t>group_by</a:t>
            </a:r>
            <a:r>
              <a:rPr>
                <a:solidFill>
                  <a:srgbClr val="003B4F"/>
                </a:solidFill>
                <a:latin typeface="Consolas"/>
              </a:rPr>
              <a:t>(step1, cluster)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step3 &lt;- </a:t>
            </a:r>
            <a:r>
              <a:rPr>
                <a:solidFill>
                  <a:srgbClr val="4758AB"/>
                </a:solidFill>
                <a:latin typeface="Consolas"/>
              </a:rPr>
              <a:t>slice_head</a:t>
            </a:r>
            <a:r>
              <a:rPr>
                <a:solidFill>
                  <a:srgbClr val="003B4F"/>
                </a:solidFill>
                <a:latin typeface="Consolas"/>
              </a:rPr>
              <a:t>(step2, </a:t>
            </a:r>
            <a:r>
              <a:rPr>
                <a:solidFill>
                  <a:srgbClr val="657422"/>
                </a:solidFill>
                <a:latin typeface="Consolas"/>
              </a:rPr>
              <a:t>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긴 파이프가 예상과 다르면 중간 단계의 </a:t>
            </a:r>
            <a:r>
              <a:rPr>
                <a:latin typeface="Consolas"/>
              </a:rPr>
              <a:t>dim()</a:t>
            </a:r>
            <a:r>
              <a:rPr/>
              <a:t>, </a:t>
            </a:r>
            <a:r>
              <a:rPr>
                <a:latin typeface="Consolas"/>
              </a:rPr>
              <a:t>names()</a:t>
            </a:r>
            <a:r>
              <a:rPr/>
              <a:t>, </a:t>
            </a:r>
            <a:r>
              <a:rPr>
                <a:latin typeface="Consolas"/>
              </a:rPr>
              <a:t>head()</a:t>
            </a:r>
            <a:r>
              <a:rPr/>
              <a:t>를 확인합니다.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ggplot2는 세 요소로 읽습니다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ggplot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data =</a:t>
            </a:r>
            <a:r>
              <a:rPr>
                <a:solidFill>
                  <a:srgbClr val="003B4F"/>
                </a:solidFill>
                <a:latin typeface="Consolas"/>
              </a:rPr>
              <a:t> cell_meta,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mapping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aes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x =</a:t>
            </a:r>
            <a:r>
              <a:rPr>
                <a:solidFill>
                  <a:srgbClr val="003B4F"/>
                </a:solidFill>
                <a:latin typeface="Consolas"/>
              </a:rPr>
              <a:t> nCount_RNA, </a:t>
            </a:r>
            <a:r>
              <a:rPr>
                <a:solidFill>
                  <a:srgbClr val="657422"/>
                </a:solidFill>
                <a:latin typeface="Consolas"/>
              </a:rPr>
              <a:t>y =</a:t>
            </a:r>
            <a:r>
              <a:rPr>
                <a:solidFill>
                  <a:srgbClr val="003B4F"/>
                </a:solidFill>
                <a:latin typeface="Consolas"/>
              </a:rPr>
              <a:t> nFeature_RNA)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geom_point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</a:t>
            </a:r>
          </a:p>
          <a:p>
            <a:pPr lvl="0" indent="0" marL="0">
              <a:buNone/>
            </a:pPr>
            <a:r>
              <a:rPr/>
              <a:t>어떤 표인가?</a:t>
            </a:r>
          </a:p>
          <a:p>
            <a:pPr lvl="0" indent="0" marL="0">
              <a:buNone/>
            </a:pPr>
            <a:r>
              <a:rPr b="1"/>
              <a:t>aesthetics</a:t>
            </a:r>
          </a:p>
          <a:p>
            <a:pPr lvl="0" indent="0" marL="0">
              <a:buNone/>
            </a:pPr>
            <a:r>
              <a:rPr/>
              <a:t>열을 어디에 연결하는가?</a:t>
            </a:r>
          </a:p>
          <a:p>
            <a:pPr lvl="0" indent="0" marL="0">
              <a:buNone/>
            </a:pPr>
            <a:r>
              <a:rPr b="1"/>
              <a:t>geometry</a:t>
            </a:r>
          </a:p>
          <a:p>
            <a:pPr lvl="0" indent="0" marL="0">
              <a:buNone/>
            </a:pPr>
            <a:r>
              <a:rPr/>
              <a:t>어떤 모양으로 그리는가?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aesthetics는 데이터를 시각 속성에 연결합니다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ggplot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cell_meta,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aes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x =</a:t>
            </a:r>
            <a:r>
              <a:rPr>
                <a:solidFill>
                  <a:srgbClr val="003B4F"/>
                </a:solidFill>
                <a:latin typeface="Consolas"/>
              </a:rPr>
              <a:t> nCount_RNA,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y =</a:t>
            </a:r>
            <a:r>
              <a:rPr>
                <a:solidFill>
                  <a:srgbClr val="003B4F"/>
                </a:solidFill>
                <a:latin typeface="Consolas"/>
              </a:rPr>
              <a:t> nFeature_RNA,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color =</a:t>
            </a:r>
            <a:r>
              <a:rPr>
                <a:solidFill>
                  <a:srgbClr val="003B4F"/>
                </a:solidFill>
                <a:latin typeface="Consolas"/>
              </a:rPr>
              <a:t> percent.mt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geom_point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geom_point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color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"#2563EB"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x</a:t>
            </a:r>
            <a:r>
              <a:rPr/>
              <a:t>, </a:t>
            </a:r>
            <a:r>
              <a:rPr>
                <a:latin typeface="Consolas"/>
              </a:rPr>
              <a:t>y</a:t>
            </a:r>
            <a:r>
              <a:rPr/>
              <a:t>: 위치</a:t>
            </a:r>
          </a:p>
          <a:p>
            <a:pPr lvl="0"/>
            <a:r>
              <a:rPr>
                <a:latin typeface="Consolas"/>
              </a:rPr>
              <a:t>color</a:t>
            </a:r>
            <a:r>
              <a:rPr/>
              <a:t>: 데이터 값에 따른 색</a:t>
            </a:r>
          </a:p>
          <a:p>
            <a:pPr lvl="0"/>
            <a:r>
              <a:rPr/>
              <a:t>고정 색은 </a:t>
            </a:r>
            <a:r>
              <a:rPr>
                <a:latin typeface="Consolas"/>
              </a:rPr>
              <a:t>aes()</a:t>
            </a:r>
            <a:r>
              <a:rPr/>
              <a:t> 밖에 작성합니다.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layer를 더해 plot을 완성합니다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ggplot</a:t>
            </a:r>
            <a:r>
              <a:rPr>
                <a:solidFill>
                  <a:srgbClr val="003B4F"/>
                </a:solidFill>
                <a:latin typeface="Consolas"/>
              </a:rPr>
              <a:t>(cell_meta, </a:t>
            </a:r>
            <a:r>
              <a:rPr>
                <a:solidFill>
                  <a:srgbClr val="4758AB"/>
                </a:solidFill>
                <a:latin typeface="Consolas"/>
              </a:rPr>
              <a:t>aes</a:t>
            </a:r>
            <a:r>
              <a:rPr>
                <a:solidFill>
                  <a:srgbClr val="003B4F"/>
                </a:solidFill>
                <a:latin typeface="Consolas"/>
              </a:rPr>
              <a:t>(nCount_RNA, nFeature_RNA))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geom_point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alpha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geom_smooth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method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"lm"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se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labs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x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"Total UMI count"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"Detected genes"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title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"Cell-level QC"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theme_minimal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+</a:t>
            </a:r>
            <a:r>
              <a:rPr/>
              <a:t> 뒤에 시각화 layer를 순서대로 추가합니다.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 시각화 함수도 ggplot 객체를 반환합니다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plot &lt;- </a:t>
            </a: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group.by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"seurat_clusters"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label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(plot)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plot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labs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title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"PBMC 3K clusters"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NoLegend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ggplot2</a:t>
            </a:r>
            <a:r>
              <a:rPr/>
              <a:t> layer를 더해 표시 형식을 바꿀 수 있습니다.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group.by와 split.by는 질문이 다릅니다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group.by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"cell_type"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group.by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"cell_type"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split.by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"sample"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group.by</a:t>
            </a:r>
            <a:r>
              <a:rPr/>
              <a:t>: 점의 색을 어떤 변수로 나눌 것인가?</a:t>
            </a:r>
          </a:p>
          <a:p>
            <a:pPr lvl="0"/>
            <a:r>
              <a:rPr>
                <a:latin typeface="Consolas"/>
              </a:rPr>
              <a:t>split.by</a:t>
            </a:r>
            <a:r>
              <a:rPr/>
              <a:t>: 어떤 변수별 패널로 나눌 것인가?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FeaturePlot은 발현 위치를 보여줍니다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FeaturePlot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order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min.cutoff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"q10"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max.cutoff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"q90"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같은 색 척도로 비교하는지 확인합니다.</a:t>
            </a:r>
          </a:p>
          <a:p>
            <a:pPr lvl="0"/>
            <a:r>
              <a:rPr/>
              <a:t>cutoff는 극단값이 색 범위를 지배하는 것을 조절합니다.</a:t>
            </a:r>
          </a:p>
          <a:p>
            <a:pPr lvl="0"/>
            <a:r>
              <a:rPr/>
              <a:t>발현 위치만으로 세포 유형을 단정하지 않습니다.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VlnPlot은 그룹별 분포를 보여줍니다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VlnPlot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"nFeature_RNA"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"percent.mt"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group.by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"sample"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pt.size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중앙값뿐 아니라 분포의 폭, 꼬리, 이상값을 함께 봅니다.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DotPlot은 여러 유전자와 그룹을 압축해 비교합니다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DotPlot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"IL7R"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group.by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"cell_type"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RotatedAxis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일반적으로:</a:t>
            </a:r>
          </a:p>
          <a:p>
            <a:pPr lvl="0"/>
            <a:r>
              <a:rPr/>
              <a:t>점 크기: 발현 세포 비율</a:t>
            </a:r>
          </a:p>
          <a:p>
            <a:pPr lvl="0"/>
            <a:r>
              <a:rPr/>
              <a:t>점 색: 평균 발현량</a:t>
            </a:r>
          </a:p>
          <a:p>
            <a:pPr lvl="0" indent="0" marL="0">
              <a:buNone/>
            </a:pPr>
            <a:r>
              <a:rPr/>
              <a:t>범례의 정확한 의미를 확인합니다.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plot을 저장할 때 크기를 명시합니다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umap_plot &lt;- </a:t>
            </a: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label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ggsave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filename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"output/pbmc3k_umap.png"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plot =</a:t>
            </a:r>
            <a:r>
              <a:rPr>
                <a:solidFill>
                  <a:srgbClr val="003B4F"/>
                </a:solidFill>
                <a:latin typeface="Consolas"/>
              </a:rPr>
              <a:t> umap_plot,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width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height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7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dpi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저장 크기와 해상도는 화면 및 논문용 결과의 가독성을 결정합니다.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cluster별 상위 마커 정리하기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pbmc.markers</a:t>
            </a:r>
            <a:r>
              <a:rPr/>
              <a:t>에서 다음 조건으로 표를 만드세요.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p_val_adj &lt; 0.05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avg_log2FC &gt; 1</a:t>
            </a:r>
          </a:p>
          <a:p>
            <a:pPr lvl="0" indent="-457200" marL="457200">
              <a:buAutoNum type="arabicPeriod"/>
            </a:pPr>
            <a:r>
              <a:rPr/>
              <a:t>cluster별 </a:t>
            </a:r>
            <a:r>
              <a:rPr>
                <a:latin typeface="Consolas"/>
              </a:rPr>
              <a:t>avg_log2FC</a:t>
            </a:r>
            <a:r>
              <a:rPr/>
              <a:t> 상위 5개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cluster</a:t>
            </a:r>
            <a:r>
              <a:rPr/>
              <a:t>, </a:t>
            </a:r>
            <a:r>
              <a:rPr>
                <a:latin typeface="Consolas"/>
              </a:rPr>
              <a:t>gene</a:t>
            </a:r>
            <a:r>
              <a:rPr/>
              <a:t>, </a:t>
            </a:r>
            <a:r>
              <a:rPr>
                <a:latin typeface="Consolas"/>
              </a:rPr>
              <a:t>avg_log2FC</a:t>
            </a:r>
            <a:r>
              <a:rPr/>
              <a:t>, </a:t>
            </a:r>
            <a:r>
              <a:rPr>
                <a:latin typeface="Consolas"/>
              </a:rPr>
              <a:t>pct.1</a:t>
            </a:r>
            <a:r>
              <a:rPr/>
              <a:t>, </a:t>
            </a:r>
            <a:r>
              <a:rPr>
                <a:latin typeface="Consolas"/>
              </a:rPr>
              <a:t>pct.2</a:t>
            </a:r>
            <a:r>
              <a:rPr/>
              <a:t>만 선택</a:t>
            </a:r>
          </a:p>
          <a:p>
            <a:pPr lvl="0" indent="0" marL="0">
              <a:buNone/>
            </a:pPr>
            <a:r>
              <a:rPr/>
              <a:t>각 단계의 행 수를 기록하세요.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UMAP 질문 바꾸기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같은 UMAP 좌표를 다음 세 방식으로 그리세요.</a:t>
            </a:r>
          </a:p>
          <a:p>
            <a:pPr lvl="0" indent="-457200" marL="457200">
              <a:buAutoNum type="arabicPeriod"/>
            </a:pPr>
            <a:r>
              <a:rPr/>
              <a:t>cluster별 색상</a:t>
            </a:r>
          </a:p>
          <a:p>
            <a:pPr lvl="0" indent="-457200" marL="457200">
              <a:buAutoNum type="arabicPeriod"/>
            </a:pPr>
            <a:r>
              <a:rPr/>
              <a:t>세포 유형별 색상과 라벨</a:t>
            </a:r>
          </a:p>
          <a:p>
            <a:pPr lvl="0" indent="-457200" marL="457200">
              <a:buAutoNum type="arabicPeriod"/>
            </a:pPr>
            <a:r>
              <a:rPr/>
              <a:t>sample별 패널 분리</a:t>
            </a:r>
          </a:p>
          <a:p>
            <a:pPr lvl="0" indent="0" marL="0">
              <a:buNone/>
            </a:pPr>
            <a:r>
              <a:rPr/>
              <a:t>각 plot이 답할 수 있는 질문을 한 문장으로 적으세요.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핵심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select</a:t>
            </a:r>
            <a:r>
              <a:rPr/>
              <a:t>, </a:t>
            </a:r>
            <a:r>
              <a:rPr>
                <a:latin typeface="Consolas"/>
              </a:rPr>
              <a:t>filter</a:t>
            </a:r>
            <a:r>
              <a:rPr/>
              <a:t>, </a:t>
            </a:r>
            <a:r>
              <a:rPr>
                <a:latin typeface="Consolas"/>
              </a:rPr>
              <a:t>mutate</a:t>
            </a:r>
            <a:r>
              <a:rPr/>
              <a:t>, </a:t>
            </a:r>
            <a:r>
              <a:rPr>
                <a:latin typeface="Consolas"/>
              </a:rPr>
              <a:t>group_by</a:t>
            </a:r>
            <a:r>
              <a:rPr/>
              <a:t>, </a:t>
            </a:r>
            <a:r>
              <a:rPr>
                <a:latin typeface="Consolas"/>
              </a:rPr>
              <a:t>summarise</a:t>
            </a:r>
            <a:r>
              <a:rPr/>
              <a:t>는 표를 단계적으로 변환합니다.</a:t>
            </a:r>
          </a:p>
          <a:p>
            <a:pPr lvl="0"/>
            <a:r>
              <a:rPr/>
              <a:t>파이프는 데이터가 변하는 순서를 위에서 아래로 보여줍니다.</a:t>
            </a:r>
          </a:p>
          <a:p>
            <a:pPr lvl="0"/>
            <a:r>
              <a:rPr/>
              <a:t>ggplot은 data, aesthetics, geometry로 읽습니다.</a:t>
            </a:r>
          </a:p>
          <a:p>
            <a:pPr lvl="0"/>
            <a:r>
              <a:rPr/>
              <a:t>Seurat plot은 ggplot layer로 수정할 수 있습니다.</a:t>
            </a:r>
          </a:p>
          <a:p>
            <a:pPr lvl="0"/>
            <a:r>
              <a:rPr/>
              <a:t>좋은 시각화는 어떤 질문에 답하는지와 범례의 의미가 명확합니다.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nsolas"/>
              </a:rPr>
              <a:t>filter()</a:t>
            </a:r>
            <a:r>
              <a:rPr/>
              <a:t>와 </a:t>
            </a:r>
            <a:r>
              <a:rPr>
                <a:latin typeface="Consolas"/>
              </a:rPr>
              <a:t>select()</a:t>
            </a:r>
            <a:r>
              <a:rPr/>
              <a:t>는 각각 무엇을 선택하나요?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group_by()</a:t>
            </a:r>
            <a:r>
              <a:rPr/>
              <a:t> 이후 계산은 어떻게 달라지나요?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aes()</a:t>
            </a:r>
            <a:r>
              <a:rPr/>
              <a:t> 안과 밖의 </a:t>
            </a:r>
            <a:r>
              <a:rPr>
                <a:latin typeface="Consolas"/>
              </a:rPr>
              <a:t>color</a:t>
            </a:r>
            <a:r>
              <a:rPr/>
              <a:t>는 어떻게 다른가요?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group.by</a:t>
            </a:r>
            <a:r>
              <a:rPr/>
              <a:t>와 </a:t>
            </a:r>
            <a:r>
              <a:rPr>
                <a:latin typeface="Consolas"/>
              </a:rPr>
              <a:t>split.by</a:t>
            </a:r>
            <a:r>
              <a:rPr/>
              <a:t>는 어떤 질문에 답하나요?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마지막 시간에는 1회차 Guided Clustering 코드를 다시 열어 직접 설명하고 자신의 데이터에 맞게 수정합니다.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변환과 시각화 코드 읽기</dc:title>
  <dc:creator>11회차</dc:creator>
  <cp:keywords/>
  <dcterms:created xsi:type="dcterms:W3CDTF">2026-07-13T14:37:03Z</dcterms:created>
  <dcterms:modified xsi:type="dcterms:W3CDTF">2026-07-13T14:37:03Z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dplyr와 ggplot2로 분석 결과 해석하기</vt:lpwstr>
  </property>
  <property fmtid="{D5CDD505-2E9C-101B-9397-08002B2CF9AE}" pid="10" name="toc-title">
    <vt:lpwstr>목차</vt:lpwstr>
  </property>
</Properties>
</file>