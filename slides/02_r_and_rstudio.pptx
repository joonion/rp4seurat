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ko-KR"/>
    </a:defPPr>
    <a:lvl1pPr algn="l" defTabSz="914400" eaLnBrk="1" hangingPunct="1" latinLnBrk="1" marL="0" rtl="0">
      <a:defRPr altLang="en-US" b="1" kern="1200" lang="ko-KR" sz="3000">
        <a:solidFill>
          <a:srgbClr val="172033"/>
        </a:solidFill>
        <a:latin charset="-127" panose="02000503000000020004" pitchFamily="50" typeface="Pretendard"/>
        <a:ea charset="-127" panose="02000503000000020004" pitchFamily="50" typeface="Pretendard"/>
        <a:cs typeface="+mn-cs"/>
      </a:defRPr>
    </a:lvl1pPr>
    <a:lvl2pPr algn="l" defTabSz="914400" eaLnBrk="1" hangingPunct="1" latinLnBrk="1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1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1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1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1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1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1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1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howGuides="1" snapToGrid="0">
      <p:cViewPr varScale="1">
        <p:scale>
          <a:sx d="100" n="113"/>
          <a:sy d="100" n="113"/>
        </p:scale>
        <p:origin x="312" y="108"/>
      </p:cViewPr>
      <p:guideLst>
        <p:guide orient="horz" pos="2160"/>
        <p:guide pos="3840"/>
      </p:guideLst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Relationship Id="rId24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D9272C-EBA3-439B-9FBC-CB759BCF57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36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92FF77-EB2E-4A97-8418-D170E6986A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0">
                <a:solidFill>
                  <a:srgbClr val="0F766E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AE61F1-720A-4C21-B65B-4A3173A2C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C1111F-D4A6-4DDC-A3B6-DB854C09A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E00F29-6221-4882-B252-1E5B86612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397973-2611-47C1-943B-471D9636F684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7827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0751E4-C413-4C31-916D-AB62A51B2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E3C44C-83FE-40C7-A9AC-6676312F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195D92-E097-41F5-BBDA-309FAD9A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AB2DA81-A7AC-4FA3-9E79-EA52F99DCEB9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8354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xercise"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0751E4-C413-4C31-916D-AB62A51B2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E3C44C-83FE-40C7-A9AC-6676312F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195D92-E097-41F5-BBDA-309FAD9A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3D15491-48F6-48DC-A8A0-6ED609435487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6E432EE-5CB6-4863-B2FE-2722A5E85385}"/>
              </a:ext>
            </a:extLst>
          </p:cNvPr>
          <p:cNvSpPr/>
          <p:nvPr userDrawn="1"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2A3998-CCB3-4584-A130-14F2F23D1501}"/>
              </a:ext>
            </a:extLst>
          </p:cNvPr>
          <p:cNvSpPr txBox="1"/>
          <p:nvPr userDrawn="1"/>
        </p:nvSpPr>
        <p:spPr>
          <a:xfrm>
            <a:off x="508000" y="990600"/>
            <a:ext cx="228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b="1">
                <a:solidFill>
                  <a:srgbClr val="0F766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PRACTICE</a:t>
            </a:r>
            <a:endParaRPr lang="ko-KR" altLang="en-US" sz="1100" b="1">
              <a:solidFill>
                <a:srgbClr val="0F766E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6355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de / Demonstra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0751E4-C413-4C31-916D-AB62A51B2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E3C44C-83FE-40C7-A9AC-6676312F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195D92-E097-41F5-BBDA-309FAD9A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93B7E7E-5A4C-4700-AE76-29AD4945D71B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962B536-2756-4475-B870-BA08607C731E}"/>
              </a:ext>
            </a:extLst>
          </p:cNvPr>
          <p:cNvSpPr/>
          <p:nvPr userDrawn="1"/>
        </p:nvSpPr>
        <p:spPr>
          <a:xfrm>
            <a:off x="457200" y="1422400"/>
            <a:ext cx="11277600" cy="457200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854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EC3834-6561-4D02-93C1-AF78EEF81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4036D5-7428-404C-AA58-099C3A1A0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F5C39C-67C1-44B4-9DC0-87890F2E8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DAB0A8-1703-40BE-B958-3AF10F150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B6EA6A-FC56-49B5-9E49-66A8A6585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52185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655F8304-2049-41FC-AAD9-BBD4A8F343F4}"/>
              </a:ext>
            </a:extLst>
          </p:cNvPr>
          <p:cNvSpPr/>
          <p:nvPr userDrawn="1"/>
        </p:nvSpPr>
        <p:spPr>
          <a:xfrm>
            <a:off x="457200" y="1219200"/>
            <a:ext cx="76200" cy="2844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B3710CA-8068-42D2-85EE-BD68F5F1BCA0}"/>
              </a:ext>
            </a:extLst>
          </p:cNvPr>
          <p:cNvSpPr/>
          <p:nvPr userDrawn="1"/>
        </p:nvSpPr>
        <p:spPr>
          <a:xfrm>
            <a:off x="457200" y="1219200"/>
            <a:ext cx="11277600" cy="284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346200"/>
            <a:ext cx="10972800" cy="2565400"/>
          </a:xfrm>
        </p:spPr>
        <p:txBody>
          <a:bodyPr lIns="127000" tIns="101600" rIns="127000" bIns="101600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4191000"/>
            <a:ext cx="10972800" cy="2133600"/>
          </a:xfrm>
        </p:spPr>
        <p:txBody>
          <a:bodyPr lIns="50800" tIns="50800" rIns="50800" bIns="50800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73935DD-ACEE-45E4-B4BD-30A3D4277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504E98-A62B-4D8C-99F6-C814548CD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786A78-DB35-4F2F-9B87-1F1B7CD39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4AF2B1A-0DE5-485A-8240-C74CB4588F13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738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3D97CC56-799F-4D9D-A45B-9371D2E101D6}"/>
              </a:ext>
            </a:extLst>
          </p:cNvPr>
          <p:cNvSpPr/>
          <p:nvPr userDrawn="1"/>
        </p:nvSpPr>
        <p:spPr>
          <a:xfrm>
            <a:off x="457200" y="1219200"/>
            <a:ext cx="76200" cy="2844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F53997F-2273-41DA-8EE8-A0580C37D1D4}"/>
              </a:ext>
            </a:extLst>
          </p:cNvPr>
          <p:cNvSpPr/>
          <p:nvPr userDrawn="1"/>
        </p:nvSpPr>
        <p:spPr>
          <a:xfrm>
            <a:off x="457200" y="1219200"/>
            <a:ext cx="11277600" cy="284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75C9BF5-D4CA-4A9D-B3CC-3696C2D93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78CD79-4472-4851-AC47-52064FC30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346200"/>
            <a:ext cx="10972800" cy="2565400"/>
          </a:xfrm>
        </p:spPr>
        <p:txBody>
          <a:bodyPr lIns="127000" tIns="101600" rIns="127000" bIns="101600"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B73B0A-7F59-43AC-9270-C8D4A2516F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599" y="4191000"/>
            <a:ext cx="10972800" cy="2133600"/>
          </a:xfrm>
        </p:spPr>
        <p:txBody>
          <a:bodyPr lIns="50800" tIns="50800" rIns="50800" bIns="50800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F9A5DDC-261E-408E-BADA-468297FD91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8856005-C35C-4F30-A01E-196A8E43C0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F8CBD36-65BD-4C30-B17A-68E5F6877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8A2EF8E-2996-4A35-8C23-84C859128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053470C-DA9C-40AF-96D1-2A8D0EF20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82EC9CC-BF5B-4E49-A6C9-A08698C07BCD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190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3C0489-8C81-4D6D-B4F9-EA760530F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48D865-27F4-495D-A14B-C12A33E75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F2FB284-B061-4C21-B170-7E66007B3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59104D2-2EA7-4CBD-B23E-93D72DC3A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B1121AD-A0CB-4A20-A461-5A3908089EC5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23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F2C04E2-1016-4EC9-9574-FE6DF2B2C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7B6236A-F372-438E-A07C-98AFC2C47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3BE033-D2B2-4FBA-A6A6-0E19F0688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24749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E4450C-D018-44C1-BF1C-753E0C5CC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83CC7B-F271-4AC1-9EBC-D504D6AE7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5E24BF8-9A5E-403C-A1BD-AD5AFCC79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574247-A0BB-4FEA-9973-F0E5AD8ED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E29ADC-9C2C-4ABB-B96B-8C4F0D2DA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3613E9-8945-40A0-8AE9-B5D084C0E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FD7A986-9CE7-4C62-BE39-AB5D7A9A148F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9489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F5D591-4783-4DD1-BB9D-F95977F42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E6F4968-9ADA-494A-B384-CE62B10D5C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7E7F8D-E247-4863-9BFD-7C2911B3F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54F979-D8CF-4A5F-8B60-F0EE50B15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613FAA-406C-4B34-8790-CFCBEF6A8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039A12-A651-4662-B40E-01F9A7081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CF12B4F-4BFE-41D8-9969-EDB74A3B708E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6732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ACF20E-706F-46A0-99C2-4FFA67BEE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780F76-4475-4560-B091-7250390A72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8C844E-8C08-458B-8407-8DF80561B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677E75-4ACA-4778-9FC7-7FD3DC325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D23534-6728-491E-B8CE-2616A58E9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BC5A219-0890-49AF-A3E5-E99E3E47A6D6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46038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F077ED7-0604-4A79-A160-68FA9D6714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1C85836-7B81-414B-9733-503CB9C078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C41591-9FD7-48AB-87A6-0BEA46B0D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6F33A1-2948-4A7E-AB5F-1532ED6FD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BE4748-2F81-4DE5-956A-B333238A5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C8C4CB4-E15A-4ACC-8111-C79334CE8D0D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93968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E495588-4790-461A-B72E-3E4D7D347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altLang="en-US" lang="ko-KR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73A353-2D16-47F2-BB23-23C5D300AA04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lang="ko-KR"/>
              <a:t>마스터 텍스트 스타일을 편집하려면 클릭</a:t>
            </a:r>
          </a:p>
          <a:p>
            <a:pPr lvl="1"/>
            <a:r>
              <a:rPr altLang="en-US" lang="ko-KR"/>
              <a:t>두 번째 수준</a:t>
            </a:r>
          </a:p>
          <a:p>
            <a:pPr lvl="2"/>
            <a:r>
              <a:rPr altLang="en-US" lang="ko-KR"/>
              <a:t>세 번째 수준</a:t>
            </a:r>
          </a:p>
          <a:p>
            <a:pPr lvl="3"/>
            <a:r>
              <a:rPr altLang="en-US" lang="ko-KR"/>
              <a:t>네 번째 수준</a:t>
            </a:r>
          </a:p>
          <a:p>
            <a:pPr lvl="4"/>
            <a:r>
              <a:rPr altLang="en-US" lang="ko-KR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62BD76-130E-46EA-BF79-C98F1CC53903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b="0" sz="900">
                <a:solidFill>
                  <a:srgbClr val="526077"/>
                </a:solidFill>
                <a:latin charset="-127" panose="02000503000000020004" pitchFamily="50" typeface="Pretendard"/>
                <a:ea charset="-127" panose="02000503000000020004" pitchFamily="50" typeface="Pretendard"/>
              </a:defRPr>
            </a:lvl1pPr>
          </a:lstStyle>
          <a:p>
            <a:fld id="{9D35394C-156E-482D-9CB9-8B56DD9F82D9}" type="datetimeFigureOut">
              <a:rPr altLang="ko-KR" lang="en-US" smtClean="0"/>
              <a:pPr/>
              <a:t>2026-07-13</a:t>
            </a:fld>
            <a:endParaRPr altLang="ko-KR"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D33F89-0CF3-4F77-AEF8-F1BC23221316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b="0" sz="900">
                <a:solidFill>
                  <a:srgbClr val="526077"/>
                </a:solidFill>
                <a:latin charset="-127" panose="02000503000000020004" pitchFamily="50" typeface="Pretendard"/>
                <a:ea charset="-127" panose="02000503000000020004" pitchFamily="50" typeface="Pretendard"/>
              </a:defRPr>
            </a:lvl1pPr>
          </a:lstStyle>
          <a:p>
            <a:endParaRPr altLang="en-US" 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479EA8-5A3E-4BA3-A094-1929D80D3EE9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b="0" sz="900">
                <a:solidFill>
                  <a:srgbClr val="526077"/>
                </a:solidFill>
                <a:latin charset="-127" panose="02000503000000020004" pitchFamily="50" typeface="Pretendard"/>
                <a:ea charset="-127" panose="02000503000000020004" pitchFamily="50" typeface="Pretendard"/>
              </a:defRPr>
            </a:lvl1pPr>
          </a:lstStyle>
          <a:p>
            <a:fld id="{31FD3EBB-2A0A-4C5A-9F34-FCE5E973995F}" type="slidenum">
              <a:rPr altLang="ko-KR" lang="en-US" smtClean="0"/>
              <a:pPr/>
              <a:t>‹#›</a:t>
            </a:fld>
            <a:endParaRPr altLang="ko-KR" lang="en-US"/>
          </a:p>
        </p:txBody>
      </p:sp>
    </p:spTree>
    <p:extLst>
      <p:ext uri="{BB962C8B-B14F-4D97-AF65-F5344CB8AC3E}">
        <p14:creationId xmlns:p14="http://schemas.microsoft.com/office/powerpoint/2010/main" val="8743109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61" r:id="rId3"/>
    <p:sldLayoutId id="214748366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eaLnBrk="1" hangingPunct="1" latinLnBrk="1" rtl="0">
        <a:lnSpc>
          <a:spcPct val="108000"/>
        </a:lnSpc>
        <a:spcBef>
          <a:spcPct val="0"/>
        </a:spcBef>
        <a:spcAft>
          <a:spcPts val="700"/>
        </a:spcAft>
        <a:buNone/>
        <a:defRPr b="0" kern="1200" sz="20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j-cs"/>
        </a:defRPr>
      </a:lvl1pPr>
    </p:titleStyle>
    <p:bodyStyle>
      <a:lvl1pPr algn="l" defTabSz="914400" eaLnBrk="1" hangingPunct="1" indent="-228600" latinLnBrk="1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1pPr>
      <a:lvl2pPr algn="l" defTabSz="914400" eaLnBrk="1" hangingPunct="1" indent="-228600" latinLnBrk="1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2pPr>
      <a:lvl3pPr algn="l" defTabSz="914400" eaLnBrk="1" hangingPunct="1" indent="-228600" latinLnBrk="1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3pPr>
      <a:lvl4pPr algn="l" defTabSz="914400" eaLnBrk="1" hangingPunct="1" indent="-228600" latinLnBrk="1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4pPr>
      <a:lvl5pPr algn="l" defTabSz="914400" eaLnBrk="1" hangingPunct="1" indent="-228600" latinLnBrk="1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5pPr>
      <a:lvl6pPr algn="l" defTabSz="914400" eaLnBrk="1" hangingPunct="1" indent="-228600" latinLnBrk="1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1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1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1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algn="l" defTabSz="914400" eaLnBrk="1" hangingPunct="1" latinLnBrk="1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1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1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1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1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1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1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1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1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D9272C-EBA3-439B-9FBC-CB759BCF57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05000"/>
            <a:ext cx="9144000" cy="14224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R과 RStudio, 코드 실행의 기초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92FF77-EB2E-4A97-8418-D170E6986AF0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Seurat 분석 코드를 실행할 환경 준비하기</a:t>
            </a:r>
          </a:p>
        </p:txBody>
      </p:sp>
      <p:sp>
        <p:nvSpPr>
          <p:cNvPr id="4" name="Lesson Label"/>
          <p:cNvSpPr txBox="1"/>
          <p:nvPr/>
        </p:nvSpPr>
        <p:spPr>
          <a:xfrm>
            <a:off x="1524000" y="863600"/>
            <a:ext cx="9144000" cy="787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pPr algn="l"/>
            <a:r>
              <a:rPr lang="ko-KR" sz="3600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2회차</a:t>
            </a:r>
            <a:endParaRPr lang="ko-KR" sz="3600"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오늘의 학습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콘솔과 스크립트를 구분하고 R 코드를 실행할 수 있다.</a:t>
            </a:r>
          </a:p>
          <a:p>
            <a:pPr lvl="0" indent="-457200" marL="457200">
              <a:buAutoNum type="arabicPeriod"/>
            </a:pPr>
            <a:r>
              <a:rPr/>
              <a:t>객체를 만들고 작업 디렉터리와 도움말을 확인할 수 있다.</a:t>
            </a:r>
          </a:p>
          <a:p>
            <a:pPr lvl="0" indent="-457200" marL="457200">
              <a:buAutoNum type="arabicPeriod"/>
            </a:pPr>
            <a:r>
              <a:rPr/>
              <a:t>분석에 필요한 패키지를 설치하고 불러올 수 있다.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1회차 코드에서 다시 볼 부분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library</a:t>
            </a:r>
            <a:r>
              <a:rPr>
                <a:solidFill>
                  <a:srgbClr val="003B4F"/>
                </a:solidFill>
                <a:latin typeface="Consolas"/>
              </a:rPr>
              <a:t>(Seurat)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pbmc.data &lt;- </a:t>
            </a:r>
            <a:r>
              <a:rPr>
                <a:solidFill>
                  <a:srgbClr val="4758AB"/>
                </a:solidFill>
                <a:latin typeface="Consolas"/>
              </a:rPr>
              <a:t>Read10X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657422"/>
                </a:solidFill>
                <a:latin typeface="Consolas"/>
              </a:rPr>
              <a:t>data.dir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"data/pbmc3k/"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pbmc &lt;- </a:t>
            </a:r>
            <a:r>
              <a:rPr>
                <a:solidFill>
                  <a:srgbClr val="4758AB"/>
                </a:solidFill>
                <a:latin typeface="Consolas"/>
              </a:rPr>
              <a:t>CreateSeuratObject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657422"/>
                </a:solidFill>
                <a:latin typeface="Consolas"/>
              </a:rPr>
              <a:t>counts =</a:t>
            </a:r>
            <a:r>
              <a:rPr>
                <a:solidFill>
                  <a:srgbClr val="003B4F"/>
                </a:solidFill>
                <a:latin typeface="Consolas"/>
              </a:rPr>
              <a:t> pbmc.data)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오늘은 분석 방법보다 이 코드가 </a:t>
            </a:r>
            <a:r>
              <a:rPr b="1"/>
              <a:t>어디에서 실행되고</a:t>
            </a:r>
            <a:r>
              <a:rPr/>
              <a:t>, 결과가 </a:t>
            </a:r>
            <a:r>
              <a:rPr b="1"/>
              <a:t>어디에 저장되는지</a:t>
            </a:r>
            <a:r>
              <a:rPr/>
              <a:t> 배웁니다.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R과 RStudio는 역할이 다릅니다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도구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역할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코드를 계산하는 언어이자 실행 환경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RStudio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코드를 작성하고 실행하기 편하게 만든 IDE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코드·설명·결과를 문서와 슬라이드로 변환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RStudio를 닫아도 R 언어가 사라지는 것은 아닙니다.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콘솔은 한 줄씩 즉시 실행합니다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5E5E5E"/>
                </a:solidFill>
                <a:latin typeface="Consolas"/>
              </a:rPr>
              <a:t>+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2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sqrt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AD0000"/>
                </a:solidFill>
                <a:latin typeface="Consolas"/>
              </a:rPr>
              <a:t>16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입력한 표현식을 바로 계산합니다.</a:t>
            </a:r>
          </a:p>
          <a:p>
            <a:pPr lvl="0"/>
            <a:r>
              <a:rPr/>
              <a:t>짧은 확인과 실험에 적합합니다.</a:t>
            </a:r>
          </a:p>
          <a:p>
            <a:pPr lvl="0"/>
            <a:r>
              <a:rPr/>
              <a:t>이전 명령은 기록에 남지만 분석 코드 관리에는 불편합니다.</a:t>
            </a:r>
          </a:p>
          <a:p>
            <a:pPr lvl="0" indent="0" marL="0">
              <a:buNone/>
            </a:pPr>
            <a:r>
              <a:rPr/>
              <a:t>콘솔의 </a:t>
            </a:r>
            <a:r>
              <a:rPr>
                <a:latin typeface="Consolas"/>
              </a:rPr>
              <a:t>&gt;</a:t>
            </a:r>
            <a:r>
              <a:rPr/>
              <a:t>는 입력을 기다리는 표시이며 코드에 직접 입력하지 않습니다.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스크립트는 분석 과정을 저장합니다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nsolas"/>
              </a:rPr>
              <a:t># 02_r_basics.R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sample_name &lt;- </a:t>
            </a:r>
            <a:r>
              <a:rPr>
                <a:solidFill>
                  <a:srgbClr val="20794D"/>
                </a:solidFill>
                <a:latin typeface="Consolas"/>
              </a:rPr>
              <a:t>"pbmc3k"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min_features &lt;- </a:t>
            </a:r>
            <a:r>
              <a:rPr>
                <a:solidFill>
                  <a:srgbClr val="AD0000"/>
                </a:solidFill>
                <a:latin typeface="Consolas"/>
              </a:rPr>
              <a:t>200</a:t>
            </a:r>
            <a:br/>
            <a:br/>
            <a:r>
              <a:rPr>
                <a:solidFill>
                  <a:srgbClr val="003B4F"/>
                </a:solidFill>
                <a:latin typeface="Consolas"/>
              </a:rPr>
              <a:t>sample_name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min_features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여러 줄을 순서대로 작성합니다.</a:t>
            </a:r>
          </a:p>
          <a:p>
            <a:pPr lvl="0"/>
            <a:r>
              <a:rPr/>
              <a:t>수정하고 다시 실행할 수 있습니다.</a:t>
            </a:r>
          </a:p>
          <a:p>
            <a:pPr lvl="0"/>
            <a:r>
              <a:rPr/>
              <a:t>분석 과정을 동료와 공유할 수 있습니다.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주석은 코드의 이유를 기록합니다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nsolas"/>
              </a:rPr>
              <a:t># PBMC 3K 분석에서 사용할 최소 검출 유전자 수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min_features &lt;- </a:t>
            </a:r>
            <a:r>
              <a:rPr>
                <a:solidFill>
                  <a:srgbClr val="AD0000"/>
                </a:solidFill>
                <a:latin typeface="Consolas"/>
              </a:rPr>
              <a:t>200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nsolas"/>
              </a:rPr>
              <a:t># 200을 저장한다                 # 피하기</a:t>
            </a:r>
            <a:br/>
            <a:r>
              <a:rPr>
                <a:solidFill>
                  <a:srgbClr val="5E5E5E"/>
                </a:solidFill>
                <a:latin typeface="Consolas"/>
              </a:rPr>
              <a:t># 저품질 세포의 1차 제외 기준    # 권장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좋은 주석은 코드가 </a:t>
            </a:r>
            <a:r>
              <a:rPr b="1"/>
              <a:t>무엇을 하는지</a:t>
            </a:r>
            <a:r>
              <a:rPr/>
              <a:t> 반복하기보다 </a:t>
            </a:r>
            <a:r>
              <a:rPr b="1"/>
              <a:t>왜 필요한지</a:t>
            </a:r>
            <a:r>
              <a:rPr/>
              <a:t> 설명합니다.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객체는 값을 붙잡아 두는 이름입니다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min_features &lt;- </a:t>
            </a:r>
            <a:r>
              <a:rPr>
                <a:solidFill>
                  <a:srgbClr val="AD0000"/>
                </a:solidFill>
                <a:latin typeface="Consolas"/>
              </a:rPr>
              <a:t>200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project_name &lt;- </a:t>
            </a:r>
            <a:r>
              <a:rPr>
                <a:solidFill>
                  <a:srgbClr val="20794D"/>
                </a:solidFill>
                <a:latin typeface="Consolas"/>
              </a:rPr>
              <a:t>"pbmc3k"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min_features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project_name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nsolas"/>
              </a:rPr>
              <a:t>&lt;-</a:t>
            </a:r>
            <a:r>
              <a:rPr/>
              <a:t> 오른쪽을 계산합니다.</a:t>
            </a:r>
          </a:p>
          <a:p>
            <a:pPr lvl="0"/>
            <a:r>
              <a:rPr/>
              <a:t>계산 결과를 왼쪽 이름에 저장합니다.</a:t>
            </a:r>
          </a:p>
          <a:p>
            <a:pPr lvl="0"/>
            <a:r>
              <a:rPr/>
              <a:t>이후 이름을 사용하면 저장된 값을 다시 가져옵니다.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객체 이름은 의미가 드러나게 씁니다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nsolas"/>
              </a:rPr>
              <a:t># 권장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min_features &lt;- </a:t>
            </a:r>
            <a:r>
              <a:rPr>
                <a:solidFill>
                  <a:srgbClr val="AD0000"/>
                </a:solidFill>
                <a:latin typeface="Consolas"/>
              </a:rPr>
              <a:t>200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mitochondrial_cutoff &lt;- </a:t>
            </a:r>
            <a:r>
              <a:rPr>
                <a:solidFill>
                  <a:srgbClr val="AD0000"/>
                </a:solidFill>
                <a:latin typeface="Consolas"/>
              </a:rPr>
              <a:t>5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pbmc_counts &lt;- </a:t>
            </a:r>
            <a:r>
              <a:rPr>
                <a:solidFill>
                  <a:srgbClr val="AD0000"/>
                </a:solidFill>
                <a:latin typeface="Consolas"/>
              </a:rPr>
              <a:t>2700</a:t>
            </a:r>
            <a:br/>
            <a:br/>
            <a:r>
              <a:rPr>
                <a:solidFill>
                  <a:srgbClr val="5E5E5E"/>
                </a:solidFill>
                <a:latin typeface="Consolas"/>
              </a:rPr>
              <a:t># 의미를 알기 어려움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x &lt;- </a:t>
            </a:r>
            <a:r>
              <a:rPr>
                <a:solidFill>
                  <a:srgbClr val="AD0000"/>
                </a:solidFill>
                <a:latin typeface="Consolas"/>
              </a:rPr>
              <a:t>200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a &lt;- </a:t>
            </a:r>
            <a:r>
              <a:rPr>
                <a:solidFill>
                  <a:srgbClr val="AD0000"/>
                </a:solidFill>
                <a:latin typeface="Consolas"/>
              </a:rPr>
              <a:t>5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data1 &lt;- </a:t>
            </a:r>
            <a:r>
              <a:rPr>
                <a:solidFill>
                  <a:srgbClr val="AD0000"/>
                </a:solidFill>
                <a:latin typeface="Consolas"/>
              </a:rPr>
              <a:t>2700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영문자, 숫자, </a:t>
            </a:r>
            <a:r>
              <a:rPr>
                <a:latin typeface="Consolas"/>
              </a:rPr>
              <a:t>.</a:t>
            </a:r>
            <a:r>
              <a:rPr/>
              <a:t>와 </a:t>
            </a:r>
            <a:r>
              <a:rPr>
                <a:latin typeface="Consolas"/>
              </a:rPr>
              <a:t>_</a:t>
            </a:r>
            <a:r>
              <a:rPr/>
              <a:t>를 사용할 수 있습니다.</a:t>
            </a:r>
          </a:p>
          <a:p>
            <a:pPr lvl="0"/>
            <a:r>
              <a:rPr/>
              <a:t>숫자로 시작할 수 없습니다.</a:t>
            </a:r>
          </a:p>
          <a:p>
            <a:pPr lvl="0"/>
            <a:r>
              <a:rPr/>
              <a:t>R은 대소문자를 구분합니다: </a:t>
            </a:r>
            <a:r>
              <a:rPr>
                <a:latin typeface="Consolas"/>
              </a:rPr>
              <a:t>pbmc</a:t>
            </a:r>
            <a:r>
              <a:rPr/>
              <a:t>와 </a:t>
            </a:r>
            <a:r>
              <a:rPr>
                <a:latin typeface="Consolas"/>
              </a:rPr>
              <a:t>PBMC</a:t>
            </a:r>
            <a:r>
              <a:rPr/>
              <a:t>는 다릅니다.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작업 디렉터리는 상대 경로의 출발점입니다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getwd</a:t>
            </a:r>
            <a:r>
              <a:rPr>
                <a:solidFill>
                  <a:srgbClr val="003B4F"/>
                </a:solidFill>
                <a:latin typeface="Consolas"/>
              </a:rPr>
              <a:t>()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list.files</a:t>
            </a:r>
            <a:r>
              <a:rPr>
                <a:solidFill>
                  <a:srgbClr val="003B4F"/>
                </a:solidFill>
                <a:latin typeface="Consolas"/>
              </a:rPr>
              <a:t>()</a:t>
            </a:r>
          </a:p>
          <a:p>
            <a:pPr lvl="0" indent="0">
              <a:buNone/>
            </a:pPr>
            <a:r>
              <a:rPr>
                <a:latin typeface="Consolas"/>
              </a:rPr>
              <a:t>프로젝트 루트/
├─ data/
├─ tools/
├─ slides/
└─ output/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프로젝트 루트에서 실행하면 </a:t>
            </a:r>
            <a:r>
              <a:rPr>
                <a:latin typeface="Consolas"/>
              </a:rPr>
              <a:t>data/pbmc3k/</a:t>
            </a:r>
            <a:r>
              <a:rPr/>
              <a:t> 같은 상대 경로를 일관되게 사용할 수 있습니다.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직접 경로를 바꾸기보다 프로젝트를 사용합니다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nsolas"/>
              </a:rPr>
              <a:t># 환경마다 달라지므로 피하기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setwd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"C:/Users/name/Desktop/project"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nsolas"/>
              </a:rPr>
              <a:t># 프로젝트 루트 기준 상대 경로 권장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counts_path &lt;- </a:t>
            </a:r>
            <a:r>
              <a:rPr>
                <a:solidFill>
                  <a:srgbClr val="20794D"/>
                </a:solidFill>
                <a:latin typeface="Consolas"/>
              </a:rPr>
              <a:t>"data/pbmc3k/"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RStudio Project 또는 Quarto Project를 엽니다.</a:t>
            </a:r>
          </a:p>
          <a:p>
            <a:pPr lvl="0"/>
            <a:r>
              <a:rPr/>
              <a:t>코드에 개인 컴퓨터의 절대 경로를 남기지 않습니다.</a:t>
            </a:r>
          </a:p>
          <a:p>
            <a:pPr lvl="0"/>
            <a:r>
              <a:rPr/>
              <a:t>Windows 경로는 </a:t>
            </a:r>
            <a:r>
              <a:rPr>
                <a:latin typeface="Consolas"/>
              </a:rPr>
              <a:t>/</a:t>
            </a:r>
            <a:r>
              <a:rPr/>
              <a:t>를 사용하면 이스케이프 문제를 줄일 수 있습니다.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함수 도움말을 직접 확인합니다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?CreateSeuratObject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help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"CreateSeuratObject"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args</a:t>
            </a:r>
            <a:r>
              <a:rPr>
                <a:solidFill>
                  <a:srgbClr val="003B4F"/>
                </a:solidFill>
                <a:latin typeface="Consolas"/>
              </a:rPr>
              <a:t>(CreateSeuratObject)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example</a:t>
            </a:r>
            <a:r>
              <a:rPr>
                <a:solidFill>
                  <a:srgbClr val="003B4F"/>
                </a:solidFill>
                <a:latin typeface="Consolas"/>
              </a:rPr>
              <a:t>(mean)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도움말에서 먼저 볼 항목:</a:t>
            </a:r>
          </a:p>
          <a:p>
            <a:pPr lvl="0" indent="-457200" marL="457200">
              <a:buAutoNum type="arabicPeriod"/>
            </a:pPr>
            <a:r>
              <a:rPr b="1"/>
              <a:t>Usage</a:t>
            </a:r>
            <a:r>
              <a:rPr/>
              <a:t>: 함수 호출 형태</a:t>
            </a:r>
          </a:p>
          <a:p>
            <a:pPr lvl="0" indent="-457200" marL="457200">
              <a:buAutoNum type="arabicPeriod"/>
            </a:pPr>
            <a:r>
              <a:rPr b="1"/>
              <a:t>Arguments</a:t>
            </a:r>
            <a:r>
              <a:rPr/>
              <a:t>: 인자의 의미</a:t>
            </a:r>
          </a:p>
          <a:p>
            <a:pPr lvl="0" indent="-457200" marL="457200">
              <a:buAutoNum type="arabicPeriod"/>
            </a:pPr>
            <a:r>
              <a:rPr b="1"/>
              <a:t>Value</a:t>
            </a:r>
            <a:r>
              <a:rPr/>
              <a:t>: 반환값</a:t>
            </a:r>
          </a:p>
          <a:p>
            <a:pPr lvl="0" indent="-457200" marL="457200">
              <a:buAutoNum type="arabicPeriod"/>
            </a:pPr>
            <a:r>
              <a:rPr b="1"/>
              <a:t>Examples</a:t>
            </a:r>
            <a:r>
              <a:rPr/>
              <a:t>: 실행 예제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패키지는 설치와 불러오기가 다릅니다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nsolas"/>
              </a:rPr>
              <a:t># 컴퓨터에 한 번 설치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install.packages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"Seurat"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nsolas"/>
              </a:rPr>
              <a:t># R 세션을 시작할 때 불러오기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library</a:t>
            </a:r>
            <a:r>
              <a:rPr>
                <a:solidFill>
                  <a:srgbClr val="003B4F"/>
                </a:solidFill>
                <a:latin typeface="Consolas"/>
              </a:rPr>
              <a:t>(Seurat)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설치는 패키지 파일을 컴퓨터에 저장합니다.</a:t>
            </a:r>
          </a:p>
          <a:p>
            <a:pPr lvl="0"/>
            <a:r>
              <a:rPr>
                <a:latin typeface="Consolas"/>
              </a:rPr>
              <a:t>library()</a:t>
            </a:r>
            <a:r>
              <a:rPr/>
              <a:t>는 현재 R 세션에서 함수를 사용할 수 있게 합니다.</a:t>
            </a:r>
          </a:p>
          <a:p>
            <a:pPr lvl="0"/>
            <a:r>
              <a:rPr/>
              <a:t>강의 중 매번 </a:t>
            </a:r>
            <a:r>
              <a:rPr>
                <a:latin typeface="Consolas"/>
              </a:rPr>
              <a:t>install.packages()</a:t>
            </a:r>
            <a:r>
              <a:rPr/>
              <a:t>를 실행하지 않습니다.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함수의 소속을 명시할 수도 있습니다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dplyr</a:t>
            </a:r>
            <a:r>
              <a:rPr>
                <a:solidFill>
                  <a:srgbClr val="5E5E5E"/>
                </a:solidFill>
                <a:latin typeface="Consolas"/>
              </a:rPr>
              <a:t>::</a:t>
            </a:r>
            <a:r>
              <a:rPr>
                <a:solidFill>
                  <a:srgbClr val="4758AB"/>
                </a:solidFill>
                <a:latin typeface="Consolas"/>
              </a:rPr>
              <a:t>filter</a:t>
            </a:r>
            <a:r>
              <a:rPr>
                <a:solidFill>
                  <a:srgbClr val="003B4F"/>
                </a:solidFill>
                <a:latin typeface="Consolas"/>
              </a:rPr>
              <a:t>(marker_table, avg_log2FC </a:t>
            </a:r>
            <a:r>
              <a:rPr>
                <a:solidFill>
                  <a:srgbClr val="5E5E5E"/>
                </a:solidFill>
                <a:latin typeface="Consolas"/>
              </a:rPr>
              <a:t>&gt;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Seurat</a:t>
            </a:r>
            <a:r>
              <a:rPr>
                <a:solidFill>
                  <a:srgbClr val="5E5E5E"/>
                </a:solidFill>
                <a:latin typeface="Consolas"/>
              </a:rPr>
              <a:t>::</a:t>
            </a:r>
            <a:r>
              <a:rPr>
                <a:solidFill>
                  <a:srgbClr val="4758AB"/>
                </a:solidFill>
                <a:latin typeface="Consolas"/>
              </a:rPr>
              <a:t>NormalizeData</a:t>
            </a:r>
            <a:r>
              <a:rPr>
                <a:solidFill>
                  <a:srgbClr val="003B4F"/>
                </a:solidFill>
                <a:latin typeface="Consolas"/>
              </a:rPr>
              <a:t>(pbmc)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nsolas"/>
              </a:rPr>
              <a:t>패키지::함수</a:t>
            </a:r>
            <a:r>
              <a:rPr/>
              <a:t> 표기는 같은 이름의 함수가 여러 패키지에 있을 때 유용합니다.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오류 메시지는 읽을 수 있는 정보입니다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library</a:t>
            </a:r>
            <a:r>
              <a:rPr>
                <a:solidFill>
                  <a:srgbClr val="003B4F"/>
                </a:solidFill>
                <a:latin typeface="Consolas"/>
              </a:rPr>
              <a:t>(Seuart)</a:t>
            </a:r>
          </a:p>
          <a:p>
            <a:pPr lvl="0" indent="0">
              <a:buNone/>
            </a:pPr>
            <a:r>
              <a:rPr>
                <a:latin typeface="Consolas"/>
              </a:rPr>
              <a:t>Error in library(Seuart) :
  there is no package called 'Seuart'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확인 순서:</a:t>
            </a:r>
          </a:p>
          <a:p>
            <a:pPr lvl="0" indent="-457200" marL="457200">
              <a:buAutoNum type="arabicPeriod"/>
            </a:pPr>
            <a:r>
              <a:rPr/>
              <a:t>철자가 맞는가?</a:t>
            </a:r>
          </a:p>
          <a:p>
            <a:pPr lvl="0" indent="-457200" marL="457200">
              <a:buAutoNum type="arabicPeriod"/>
            </a:pPr>
            <a:r>
              <a:rPr/>
              <a:t>패키지가 설치되었는가?</a:t>
            </a:r>
          </a:p>
          <a:p>
            <a:pPr lvl="0" indent="-457200" marL="457200">
              <a:buAutoNum type="arabicPeriod"/>
            </a:pPr>
            <a:r>
              <a:rPr/>
              <a:t>대소문자가 맞는가?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1: 분석 설정 객체 만들기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다음 정보를 의미 있는 객체 이름에 저장하세요.</a:t>
            </a:r>
          </a:p>
          <a:p>
            <a:pPr lvl="0"/>
            <a:r>
              <a:rPr/>
              <a:t>프로젝트 이름: </a:t>
            </a:r>
            <a:r>
              <a:rPr>
                <a:latin typeface="Consolas"/>
              </a:rPr>
              <a:t>pbmc3k</a:t>
            </a:r>
          </a:p>
          <a:p>
            <a:pPr lvl="0"/>
            <a:r>
              <a:rPr/>
              <a:t>최소 검출 유전자 수: </a:t>
            </a:r>
            <a:r>
              <a:rPr>
                <a:latin typeface="Consolas"/>
              </a:rPr>
              <a:t>200</a:t>
            </a:r>
          </a:p>
          <a:p>
            <a:pPr lvl="0"/>
            <a:r>
              <a:rPr/>
              <a:t>최대 검출 유전자 수: </a:t>
            </a:r>
            <a:r>
              <a:rPr>
                <a:latin typeface="Consolas"/>
              </a:rPr>
              <a:t>2500</a:t>
            </a:r>
          </a:p>
          <a:p>
            <a:pPr lvl="0"/>
            <a:r>
              <a:rPr/>
              <a:t>최대 미토콘드리아 비율: </a:t>
            </a:r>
            <a:r>
              <a:rPr>
                <a:latin typeface="Consolas"/>
              </a:rPr>
              <a:t>5</a:t>
            </a:r>
          </a:p>
          <a:p>
            <a:pPr lvl="0" indent="0" marL="0">
              <a:buNone/>
            </a:pPr>
            <a:r>
              <a:rPr/>
              <a:t>각 객체를 콘솔에 입력하여 저장된 값을 확인하세요.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실습 2: 도움말에서 답 찾기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?CreateSeuratObject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도움말에서 다음을 찾으세요.</a:t>
            </a:r>
          </a:p>
          <a:p>
            <a:pPr lvl="0" indent="-457200" marL="457200">
              <a:buAutoNum type="arabicPeriod"/>
            </a:pPr>
            <a:r>
              <a:rPr>
                <a:latin typeface="Consolas"/>
              </a:rPr>
              <a:t>counts</a:t>
            </a:r>
            <a:r>
              <a:rPr/>
              <a:t>에는 어떤 객체를 전달하는가?</a:t>
            </a:r>
          </a:p>
          <a:p>
            <a:pPr lvl="0" indent="-457200" marL="457200">
              <a:buAutoNum type="arabicPeriod"/>
            </a:pPr>
            <a:r>
              <a:rPr>
                <a:latin typeface="Consolas"/>
              </a:rPr>
              <a:t>project</a:t>
            </a:r>
            <a:r>
              <a:rPr/>
              <a:t>의 기본값은 무엇인가?</a:t>
            </a:r>
          </a:p>
          <a:p>
            <a:pPr lvl="0" indent="-457200" marL="457200">
              <a:buAutoNum type="arabicPeriod"/>
            </a:pPr>
            <a:r>
              <a:rPr>
                <a:latin typeface="Consolas"/>
              </a:rPr>
              <a:t>min.cells</a:t>
            </a:r>
            <a:r>
              <a:rPr/>
              <a:t>와 </a:t>
            </a:r>
            <a:r>
              <a:rPr>
                <a:latin typeface="Consolas"/>
              </a:rPr>
              <a:t>min.features</a:t>
            </a:r>
            <a:r>
              <a:rPr/>
              <a:t>는 각각 무엇을 거르는가?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오늘의 핵심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콘솔은 즉시 실행, 스크립트는 분석 과정 저장에 사용합니다.</a:t>
            </a:r>
          </a:p>
          <a:p>
            <a:pPr lvl="0"/>
            <a:r>
              <a:rPr>
                <a:latin typeface="Consolas"/>
              </a:rPr>
              <a:t>&lt;-</a:t>
            </a:r>
            <a:r>
              <a:rPr/>
              <a:t>는 계산 결과를 객체에 저장합니다.</a:t>
            </a:r>
          </a:p>
          <a:p>
            <a:pPr lvl="0"/>
            <a:r>
              <a:rPr/>
              <a:t>상대 경로는 프로젝트 루트를 기준으로 작성합니다.</a:t>
            </a:r>
          </a:p>
          <a:p>
            <a:pPr lvl="0"/>
            <a:r>
              <a:rPr/>
              <a:t>패키지는 한 번 설치하고 세션마다 불러옵니다.</a:t>
            </a:r>
          </a:p>
          <a:p>
            <a:pPr lvl="0"/>
            <a:r>
              <a:rPr/>
              <a:t>도움말과 오류 메시지는 분석 과정의 중요한 정보입니다.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종료 점검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R과 RStudio의 역할은 어떻게 다른가요?</a:t>
            </a:r>
          </a:p>
          <a:p>
            <a:pPr lvl="0" indent="-457200" marL="457200">
              <a:buAutoNum type="arabicPeriod"/>
            </a:pPr>
            <a:r>
              <a:rPr>
                <a:latin typeface="Consolas"/>
              </a:rPr>
              <a:t>install.packages()</a:t>
            </a:r>
            <a:r>
              <a:rPr/>
              <a:t>와 </a:t>
            </a:r>
            <a:r>
              <a:rPr>
                <a:latin typeface="Consolas"/>
              </a:rPr>
              <a:t>library()</a:t>
            </a:r>
            <a:r>
              <a:rPr/>
              <a:t>는 어떻게 다른가요?</a:t>
            </a:r>
          </a:p>
          <a:p>
            <a:pPr lvl="0" indent="-457200" marL="457200">
              <a:buAutoNum type="arabicPeriod"/>
            </a:pPr>
            <a:r>
              <a:rPr/>
              <a:t>절대 경로보다 상대 경로가 재현성에 유리한 이유는 무엇인가요?</a:t>
            </a:r>
          </a:p>
          <a:p>
            <a:pPr lvl="0" indent="-457200" marL="457200">
              <a:buAutoNum type="arabicPeriod"/>
            </a:pPr>
            <a:r>
              <a:rPr>
                <a:latin typeface="Consolas"/>
              </a:rPr>
              <a:t>&lt;-</a:t>
            </a:r>
            <a:r>
              <a:rPr/>
              <a:t>의 오른쪽과 왼쪽에는 각각 무엇이 있나요?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다음 회차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nsolas"/>
              </a:rPr>
              <a:t>200</a:t>
            </a:r>
            <a:r>
              <a:rPr/>
              <a:t>, </a:t>
            </a:r>
            <a:r>
              <a:rPr>
                <a:latin typeface="Consolas"/>
              </a:rPr>
              <a:t>"pbmc3k"</a:t>
            </a:r>
            <a:r>
              <a:rPr/>
              <a:t>, </a:t>
            </a:r>
            <a:r>
              <a:rPr>
                <a:latin typeface="Consolas"/>
              </a:rPr>
              <a:t>TRUE</a:t>
            </a:r>
            <a:r>
              <a:rPr/>
              <a:t>는 모두 값이지만 종류가 다릅니다. 다음 시간에는 값, 변수, 기본 자료형을 배웁니다.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사용자 지정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Pretendard</vt:lpstr>
      <vt:lpstr>맑은 고딕</vt:lpstr>
      <vt:lpstr>Arial</vt:lpstr>
      <vt:lpstr>Consolas</vt:lpstr>
      <vt:lpstr>Office 테마</vt:lpstr>
      <vt:lpstr>Seurat 분석을 위한 R 프로그래밍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R과 RStudio, 코드 실행의 기초</dc:title>
  <dc:creator>2회차</dc:creator>
  <cp:keywords/>
  <dcterms:created xsi:type="dcterms:W3CDTF">2026-07-13T14:36:46Z</dcterms:created>
  <dcterms:modified xsi:type="dcterms:W3CDTF">2026-07-13T14:36:46Z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Seurat 분석 코드를 실행할 환경 준비하기</vt:lpwstr>
  </property>
  <property fmtid="{D5CDD505-2E9C-101B-9397-08002B2CF9AE}" pid="10" name="toc-title">
    <vt:lpwstr>목차</vt:lpwstr>
  </property>
</Properties>
</file>