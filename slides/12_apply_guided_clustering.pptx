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6" Type="http://schemas.openxmlformats.org/officeDocument/2006/relationships/tableStyles" Target="tableStyles.xml" /><Relationship Id="rId45" Type="http://schemas.openxmlformats.org/officeDocument/2006/relationships/theme" Target="theme/theme1.xml" /><Relationship Id="rId4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atijalab.org/seurat/articles/pbmc3k_tutorial" TargetMode="External" /><Relationship Id="rId3" Type="http://schemas.openxmlformats.org/officeDocument/2006/relationships/hyperlink" Target="https://bioconductor.org/packages/release/data/experiment/manuals/scRNAseq/man/scRNAseq.pdf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Zeisel 데이터로 Guided Clustering 완주하기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RDS 로드부터 cluster 해석과 결과 저장까지</a:t>
            </a:r>
          </a:p>
        </p:txBody>
      </p:sp>
      <p:sp>
        <p:nvSpPr>
          <p:cNvPr id="4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12회차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저장된 Zeisel Seurat 객체를 불러와 구조와 metadata를 점검할 수 있다.</a:t>
            </a:r>
          </a:p>
          <a:p>
            <a:pPr lvl="0" indent="-457200" marL="457200">
              <a:buAutoNum type="arabicPeriod"/>
            </a:pPr>
            <a:r>
              <a:rPr/>
              <a:t>Guided Clustering의 QC부터 marker 탐색까지 같은 흐름으로 실행할 수 있다.</a:t>
            </a:r>
          </a:p>
          <a:p>
            <a:pPr lvl="0" indent="-457200" marL="457200">
              <a:buAutoNum type="arabicPeriod"/>
            </a:pPr>
            <a:r>
              <a:rPr/>
              <a:t>분석 파라미터를 바꾸고 cluster를 저자 제공 label과 비교·해석할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오늘은 새 데이터로 전체 흐름을 직접 완주합니다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12회차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PBMC 3K 코드를 따라 실행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Zeisel mouse brain 객체에 직접 적용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전체 분석 순서 파악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각 단계의 입력·출력 검증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공식 파라미터 사용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분포를 보고 값 수정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PBMC marker 관찰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mouse brain marker로 cluster 해석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순서는 같지만 </a:t>
            </a:r>
            <a:r>
              <a:rPr b="1"/>
              <a:t>데이터와 생물학적 맥락은 다릅니다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60분 분석 지도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완성할 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0–10분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 로드·객체 점검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Seurat 객체 확인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10–20분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QC·세포 필터링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분석할 세포 선택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20–35분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정규화·PCA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저차원 표현 생성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35–45분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graph clustering·UMAP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 지도 생성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45–55분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marker·label 비교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 해석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55–60분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파라미터 수정·저장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재현 가능한 결과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파일과 입력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labs/
├─ 12_apply_guided_clustering.R
├─ data/zeisel/zeisel_brain_raw.rds
└─ output/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(Seurat)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(dplyr)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(ggplot2)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(patchwork)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RStudio에서 </a:t>
            </a:r>
            <a:r>
              <a:rPr>
                <a:latin typeface="Consolas"/>
              </a:rPr>
              <a:t>labs/labs.Rproj</a:t>
            </a:r>
            <a:r>
              <a:rPr/>
              <a:t>를 연 뒤 다음 파일을 사용합니다.</a:t>
            </a:r>
          </a:p>
          <a:p>
            <a:pPr lvl="0" indent="0" marL="0">
              <a:buNone/>
            </a:pPr>
            <a:r>
              <a:rPr/>
              <a:t>필요한 패키지: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출발점은 이미 만들어진 raw Seurat 객체입니다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ZeiselBrainData()
       ↓ counts + colData
CreateSeuratObject()
       ↓
zeisel_brain_raw.rds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A_create_zeisel_rds_from_scRNAseq.R</a:t>
            </a:r>
            <a:r>
              <a:rPr/>
              <a:t>에서 다음 과정을 미리 수행했습니다.</a:t>
            </a:r>
          </a:p>
          <a:p>
            <a:pPr lvl="0" indent="0" marL="0">
              <a:buNone/>
            </a:pPr>
            <a:r>
              <a:rPr/>
              <a:t>오늘은 데이터 다운로드와 객체 생성을 반복하지 않고 분석에 집중합니다.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RDS를 불러오면 객체가 그대로 복원됩니다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먼저 경로, class, dimension, 내부 정보를 확인합니다.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readRDS()</a:t>
            </a:r>
            <a:r>
              <a:rPr/>
              <a:t>의 반환값을 객체에 할당합니다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data_path &lt;- </a:t>
            </a:r>
            <a:r>
              <a:rPr>
                <a:solidFill>
                  <a:srgbClr val="20794D"/>
                </a:solidFill>
                <a:latin typeface="Consolas"/>
              </a:rPr>
              <a:t>"data/zeisel/zeisel_brain_raw.rds"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stopifnot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file.exists</a:t>
            </a:r>
            <a:r>
              <a:rPr>
                <a:solidFill>
                  <a:srgbClr val="003B4F"/>
                </a:solidFill>
                <a:latin typeface="Consolas"/>
              </a:rPr>
              <a:t>(data_path))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readRDS</a:t>
            </a:r>
            <a:r>
              <a:rPr>
                <a:solidFill>
                  <a:srgbClr val="003B4F"/>
                </a:solidFill>
                <a:latin typeface="Consolas"/>
              </a:rPr>
              <a:t>(data_path)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4191000"/>
          <a:ext cx="10972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출력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 파일 경로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readRDS()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메모리의 Seurat 객체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분석 전에 객체 계약부터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class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Assays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Layers</a:t>
            </a:r>
            <a:r>
              <a:rPr>
                <a:solidFill>
                  <a:srgbClr val="003B4F"/>
                </a:solidFill>
                <a:latin typeface="Consolas"/>
              </a:rPr>
              <a:t>(brain[[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]])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(brain[[]])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기대 상태:</a:t>
            </a:r>
          </a:p>
          <a:p>
            <a:pPr lvl="0"/>
            <a:r>
              <a:rPr>
                <a:latin typeface="Consolas"/>
              </a:rPr>
              <a:t>Seurat</a:t>
            </a:r>
            <a:r>
              <a:rPr/>
              <a:t> class</a:t>
            </a:r>
          </a:p>
          <a:p>
            <a:pPr lvl="0"/>
            <a:r>
              <a:rPr/>
              <a:t>18,913 features × 3,005 cells</a:t>
            </a:r>
          </a:p>
          <a:p>
            <a:pPr lvl="0"/>
            <a:r>
              <a:rPr>
                <a:latin typeface="Consolas"/>
              </a:rPr>
              <a:t>RNA</a:t>
            </a:r>
            <a:r>
              <a:rPr/>
              <a:t> assay와 raw </a:t>
            </a:r>
            <a:r>
              <a:rPr>
                <a:latin typeface="Consolas"/>
              </a:rPr>
              <a:t>counts</a:t>
            </a:r>
            <a:r>
              <a:rPr/>
              <a:t> layer</a:t>
            </a:r>
          </a:p>
          <a:p>
            <a:pPr lvl="0"/>
            <a:r>
              <a:rPr/>
              <a:t>cell metadata에 </a:t>
            </a:r>
            <a:r>
              <a:rPr>
                <a:latin typeface="Consolas"/>
              </a:rPr>
              <a:t>level1class</a:t>
            </a:r>
            <a:r>
              <a:rPr/>
              <a:t>, </a:t>
            </a:r>
            <a:r>
              <a:rPr>
                <a:latin typeface="Consolas"/>
              </a:rPr>
              <a:t>level2class</a:t>
            </a:r>
          </a:p>
          <a:p>
            <a:pPr lvl="0" indent="0" marL="0">
              <a:buNone/>
            </a:pPr>
            <a:r>
              <a:rPr/>
              <a:t>기대와 다르면 다음 단계로 넘어가지 않습니다.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 label은 마지막 검증까지 보류합니다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names</a:t>
            </a:r>
            <a:r>
              <a:rPr>
                <a:solidFill>
                  <a:srgbClr val="003B4F"/>
                </a:solidFill>
                <a:latin typeface="Consolas"/>
              </a:rPr>
              <a:t>(brain[[]])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level1class)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level1class</a:t>
            </a:r>
            <a:r>
              <a:rPr/>
              <a:t>와 </a:t>
            </a:r>
            <a:r>
              <a:rPr>
                <a:latin typeface="Consolas"/>
              </a:rPr>
              <a:t>level2class</a:t>
            </a:r>
            <a:r>
              <a:rPr/>
              <a:t>는 원 데이터 저자가 제공한 cell type label입니다.</a:t>
            </a:r>
          </a:p>
          <a:p>
            <a:pPr lvl="0" indent="0" marL="0">
              <a:buNone/>
            </a:pPr>
            <a:r>
              <a:rPr/>
              <a:t>오늘의 원칙:</a:t>
            </a:r>
          </a:p>
          <a:p>
            <a:pPr lvl="0" indent="-457200" marL="457200">
              <a:buAutoNum type="arabicPeriod"/>
            </a:pPr>
            <a:r>
              <a:rPr/>
              <a:t>label을 보지 않고 clustering을 실행합니다.</a:t>
            </a:r>
          </a:p>
          <a:p>
            <a:pPr lvl="0" indent="-457200" marL="457200">
              <a:buAutoNum type="arabicPeriod"/>
            </a:pPr>
            <a:r>
              <a:rPr/>
              <a:t>marker로 cluster를 먼저 해석합니다.</a:t>
            </a:r>
          </a:p>
          <a:p>
            <a:pPr lvl="0" indent="-457200" marL="457200">
              <a:buAutoNum type="arabicPeriod"/>
            </a:pPr>
            <a:r>
              <a:rPr/>
              <a:t>마지막에 reference label과 비교합니다.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기준은 Zeisel 분포에서 다시 정합니다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PBMC 기준을 mouse brain 데이터에 그대로 복사하지 않습니다.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Mouse mitochondrial gene은 </a:t>
            </a:r>
            <a:r>
              <a:rPr>
                <a:latin typeface="Consolas"/>
              </a:rPr>
              <a:t>^mt-</a:t>
            </a:r>
            <a:r>
              <a:rPr/>
              <a:t>로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sum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grepl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"^mt-"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(brain)))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brain[[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]] &lt;- </a:t>
            </a:r>
            <a:r>
              <a:rPr>
                <a:solidFill>
                  <a:srgbClr val="4758AB"/>
                </a:solidFill>
                <a:latin typeface="Consolas"/>
              </a:rPr>
              <a:t>PercentageFeatureSet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pattern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"^mt-"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PBMC tutorial의 human gene symbol은 보통 </a:t>
            </a:r>
            <a:r>
              <a:rPr>
                <a:latin typeface="Consolas"/>
              </a:rPr>
              <a:t>^MT-</a:t>
            </a:r>
            <a:r>
              <a:rPr/>
              <a:t>를 사용합니다.</a:t>
            </a:r>
          </a:p>
          <a:p>
            <a:pPr lvl="0" indent="0" marL="0">
              <a:buNone/>
            </a:pPr>
            <a:r>
              <a:rPr/>
              <a:t>대소문자 하나가 QC 값을 완전히 바꿀 수 있으므로 먼저 feature 이름을 확인합니다.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임계값보다 분포를 먼저 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VlnPlot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20794D"/>
                </a:solidFill>
                <a:latin typeface="Consolas"/>
              </a:rPr>
              <a:t>"nFeature_RNA"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ncol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pt.size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summary</a:t>
            </a:r>
            <a:r>
              <a:rPr>
                <a:solidFill>
                  <a:srgbClr val="003B4F"/>
                </a:solidFill>
                <a:latin typeface="Consolas"/>
              </a:rPr>
              <a:t>(brain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summary</a:t>
            </a:r>
            <a:r>
              <a:rPr>
                <a:solidFill>
                  <a:srgbClr val="003B4F"/>
                </a:solidFill>
                <a:latin typeface="Consolas"/>
              </a:rPr>
              <a:t>(brain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percent.mt)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낮은 feature 수, 지나치게 높은 feature 수, 높은 mitochondrial 비율을 확인합니다.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이번 실습의 QC 값은 시작점이지 정답이 아닙니다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min_features &lt;- </a:t>
            </a:r>
            <a:r>
              <a:rPr>
                <a:solidFill>
                  <a:srgbClr val="AD0000"/>
                </a:solidFill>
                <a:latin typeface="Consolas"/>
              </a:rPr>
              <a:t>1000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max_features &lt;- </a:t>
            </a:r>
            <a:r>
              <a:rPr>
                <a:solidFill>
                  <a:srgbClr val="AD0000"/>
                </a:solidFill>
                <a:latin typeface="Consolas"/>
              </a:rPr>
              <a:t>7500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max_percent_mt &lt;- </a:t>
            </a:r>
            <a:r>
              <a:rPr>
                <a:solidFill>
                  <a:srgbClr val="AD0000"/>
                </a:solidFill>
                <a:latin typeface="Consolas"/>
              </a:rPr>
              <a:t>25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keep &lt;- 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min_features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max_features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max_percent_mt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(keep)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현재 객체에서는 이 기준으로 약 2,900개 세포가 남습니다.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필터 전후 세포 수를 반드시 기록합니다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cells_before_qc &lt;- </a:t>
            </a:r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subset =</a:t>
            </a:r>
            <a:r>
              <a:rPr>
                <a:solidFill>
                  <a:srgbClr val="003B4F"/>
                </a:solidFill>
                <a:latin typeface="Consolas"/>
              </a:rPr>
              <a:t>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min_features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max_features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max_percent_mt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before =</a:t>
            </a:r>
            <a:r>
              <a:rPr>
                <a:solidFill>
                  <a:srgbClr val="003B4F"/>
                </a:solidFill>
                <a:latin typeface="Consolas"/>
              </a:rPr>
              <a:t> cells_before_qc,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after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ncol</a:t>
            </a:r>
            <a:r>
              <a:rPr>
                <a:solidFill>
                  <a:srgbClr val="003B4F"/>
                </a:solidFill>
                <a:latin typeface="Consolas"/>
              </a:rPr>
              <a:t>(brain))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subset()</a:t>
            </a:r>
            <a:r>
              <a:rPr/>
              <a:t>은 조건을 만족하는 세포로 구성된 새 Seurat 객체를 반환합니다.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전처리는 객체에 새 분석 결과를 추가합니다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정규화 → 고변이 유전자 → scaling 순서를 추적합니다.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NormalizeData()</a:t>
            </a:r>
            <a:r>
              <a:rPr/>
              <a:t>는 normalized data layer를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normalization.method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"LogNormalize"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scale.factor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Layers</a:t>
            </a:r>
            <a:r>
              <a:rPr>
                <a:solidFill>
                  <a:srgbClr val="003B4F"/>
                </a:solidFill>
                <a:latin typeface="Consolas"/>
              </a:rPr>
              <a:t>(brain[[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]])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4191000"/>
          <a:ext cx="109728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핵심 인자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객체 변화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method, scale factor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normalized </a:t>
                      </a:r>
                      <a:r>
                        <a:rPr>
                          <a:latin typeface="Consolas"/>
                        </a:rPr>
                        <a:t>data</a:t>
                      </a:r>
                      <a:r>
                        <a:rPr/>
                        <a:t> layer 추가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고변이 유전자 2,000개가 PCA의 입력이 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FindVariableFeatures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selection.method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"vst"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top10_variable &lt;- </a:t>
            </a: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(brain),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length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(brain))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VariableFeaturePlot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모든 gene이 아니라 cell 간 차이를 잘 드러내는 gene에 집중합니다.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후 PCA로 주요 변화 축을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ScaleData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RunPCA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(brain),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npcs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Reductions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(brain[[</a:t>
            </a:r>
            <a:r>
              <a:rPr>
                <a:solidFill>
                  <a:srgbClr val="20794D"/>
                </a:solidFill>
                <a:latin typeface="Consolas"/>
              </a:rPr>
              <a:t>"pca"</a:t>
            </a:r>
            <a:r>
              <a:rPr>
                <a:solidFill>
                  <a:srgbClr val="003B4F"/>
                </a:solidFill>
                <a:latin typeface="Consolas"/>
              </a:rPr>
              <a:t>]],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nfeatures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 수는 다음 단계의 입력 파라미터입니다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ElbowPlot</a:t>
            </a:r>
            <a:r>
              <a:rPr>
                <a:solidFill>
                  <a:srgbClr val="003B4F"/>
                </a:solidFill>
                <a:latin typeface="Consolas"/>
              </a:rPr>
              <a:t>(brain, </a:t>
            </a:r>
            <a:r>
              <a:rPr>
                <a:solidFill>
                  <a:srgbClr val="657422"/>
                </a:solidFill>
                <a:latin typeface="Consolas"/>
              </a:rPr>
              <a:t>ndims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DimHeatmap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cells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balanced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dims_to_use &lt;-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20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이번 실습의 공통 시작값:</a:t>
            </a:r>
          </a:p>
          <a:p>
            <a:pPr lvl="0" indent="0" marL="0">
              <a:buNone/>
            </a:pPr>
            <a:r>
              <a:rPr/>
              <a:t>Elbow와 PC loading을 근거로 다른 값을 시험할 수 있습니다.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PC로 graph clustering과 UMAP을 계산합니다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dims_to_use</a:t>
            </a:r>
            <a:r>
              <a:rPr/>
              <a:t>가 두 분석의 공통 입력입니다.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이웃 그래프를 만든 뒤 cluster를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FindNeighbors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dims_to_use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random.seed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42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(brain))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resolution</a:t>
            </a:r>
            <a:r>
              <a:rPr/>
              <a:t>이 커지면 일반적으로 cluster가 더 세분화됩니다.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UMAP은 cluster를 계산하지 않습니다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RunUMAP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dims_to_use,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seed.use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42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repel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UMAP은 선택한 PC 공간을 2차원으로 표현하는 시각화입니다.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cluster와 reference label을 같은 좌표에서 비교합니다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cluster_umap &lt;- </a:t>
            </a: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"seurat_clusters"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reference_umap &lt;- </a:t>
            </a: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group.by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"level1class"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cluster_umap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reference_umap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좌표는 같고 점의 색을 정하는 변수만 다릅니다.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교차표는 cluster의 섞임을 수치로 보여줍니다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cluster_reference &lt;- </a:t>
            </a:r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cluster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(brain),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reference =</a:t>
            </a:r>
            <a:r>
              <a:rPr>
                <a:solidFill>
                  <a:srgbClr val="003B4F"/>
                </a:solidFill>
                <a:latin typeface="Consolas"/>
              </a:rPr>
              <a:t> brain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level1class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cluster_reference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round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prop.table</a:t>
            </a:r>
            <a:r>
              <a:rPr>
                <a:solidFill>
                  <a:srgbClr val="003B4F"/>
                </a:solidFill>
                <a:latin typeface="Consolas"/>
              </a:rPr>
              <a:t>(cluster_reference, </a:t>
            </a:r>
            <a:r>
              <a:rPr>
                <a:solidFill>
                  <a:srgbClr val="657422"/>
                </a:solidFill>
                <a:latin typeface="Consolas"/>
              </a:rPr>
              <a:t>margin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cluster마다 어떤 reference class가 많은지, 여러 class가 섞였는지 확인합니다.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Marker를 근거로 cluster를 해석합니다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label을 붙이기 전에 differential expression 결과를 확인합니다.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모든 cluster의 positive marker를 계산합니다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markers &lt;- </a:t>
            </a:r>
            <a:r>
              <a:rPr>
                <a:solidFill>
                  <a:srgbClr val="4758AB"/>
                </a:solidFill>
                <a:latin typeface="Consolas"/>
              </a:rPr>
              <a:t>FindAllMarkers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only.pos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min.pct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0.25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logfc.threshold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0.25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max.cells.per.ident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random.seed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42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top_markers &lt;- markers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(p_val_adj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0.05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slice_max</a:t>
            </a:r>
            <a:r>
              <a:rPr>
                <a:solidFill>
                  <a:srgbClr val="003B4F"/>
                </a:solidFill>
                <a:latin typeface="Consolas"/>
              </a:rPr>
              <a:t>(avg_log2FC, 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ungroup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max.cells.per.ident = 100</a:t>
            </a:r>
            <a:r>
              <a:rPr/>
              <a:t>은 60분 실습을 위한 subsampling입니다. 최종 연구 분석에서는 전체 세포 결과와 비교합니다.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FindAllMarkers()</a:t>
            </a:r>
            <a:r>
              <a:rPr/>
              <a:t>의 비교 단위는 현재 </a:t>
            </a:r>
            <a:r>
              <a:rPr>
                <a:latin typeface="Consolas"/>
              </a:rPr>
              <a:t>Idents(brain)</a:t>
            </a:r>
            <a:r>
              <a:rPr/>
              <a:t>입니다.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Mouse brain marker panel로 교차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marker_panel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"Gad1"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"Slc17a7"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"Mbp"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"Aldoc"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"C1qa"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"Pdgfrb"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DotPlot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marker_panel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RotatedAxis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marker 하나가 아니라 top marker, marker panel, reference label을 함께 봅니다.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DoHeatmap()</a:t>
            </a:r>
            <a:r>
              <a:rPr/>
              <a:t>에 넣을 top marker는 객체 복사본에서 </a:t>
            </a:r>
            <a:r>
              <a:rPr>
                <a:latin typeface="Consolas"/>
              </a:rPr>
              <a:t>ScaleData(features = ...)</a:t>
            </a:r>
            <a:r>
              <a:rPr/>
              <a:t>로 scaling합니다. 원래 </a:t>
            </a:r>
            <a:r>
              <a:rPr>
                <a:latin typeface="Consolas"/>
              </a:rPr>
              <a:t>brain</a:t>
            </a:r>
            <a:r>
              <a:rPr/>
              <a:t>의 </a:t>
            </a:r>
            <a:r>
              <a:rPr>
                <a:latin typeface="Consolas"/>
              </a:rPr>
              <a:t>scale.data</a:t>
            </a:r>
            <a:r>
              <a:rPr/>
              <a:t>는 유지합니다.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교육용 reference label은 해석을 검증하는 장치입니다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majority_labels &lt;- </a:t>
            </a:r>
            <a:r>
              <a:rPr>
                <a:solidFill>
                  <a:srgbClr val="4758AB"/>
                </a:solidFill>
                <a:latin typeface="Consolas"/>
              </a:rPr>
              <a:t>as.data.frame</a:t>
            </a:r>
            <a:r>
              <a:rPr>
                <a:solidFill>
                  <a:srgbClr val="003B4F"/>
                </a:solidFill>
                <a:latin typeface="Consolas"/>
              </a:rPr>
              <a:t>(cluster_reference)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(Freq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slice_max</a:t>
            </a:r>
            <a:r>
              <a:rPr>
                <a:solidFill>
                  <a:srgbClr val="003B4F"/>
                </a:solidFill>
                <a:latin typeface="Consolas"/>
              </a:rPr>
              <a:t>(Freq, 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with_ties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|&gt;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ungroup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new_ids &lt;- </a:t>
            </a:r>
            <a:r>
              <a:rPr>
                <a:solidFill>
                  <a:srgbClr val="4758AB"/>
                </a:solidFill>
                <a:latin typeface="Consolas"/>
              </a:rPr>
              <a:t>setNames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as.character</a:t>
            </a:r>
            <a:r>
              <a:rPr>
                <a:solidFill>
                  <a:srgbClr val="003B4F"/>
                </a:solidFill>
                <a:latin typeface="Consolas"/>
              </a:rPr>
              <a:t>(majority_labels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reference),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as.character</a:t>
            </a:r>
            <a:r>
              <a:rPr>
                <a:solidFill>
                  <a:srgbClr val="003B4F"/>
                </a:solidFill>
                <a:latin typeface="Consolas"/>
              </a:rPr>
              <a:t>(majority_labels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cluster)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brain &lt;- </a:t>
            </a:r>
            <a:r>
              <a:rPr>
                <a:solidFill>
                  <a:srgbClr val="4758AB"/>
                </a:solidFill>
                <a:latin typeface="Consolas"/>
              </a:rPr>
              <a:t>RenameIdents</a:t>
            </a:r>
            <a:r>
              <a:rPr>
                <a:solidFill>
                  <a:srgbClr val="003B4F"/>
                </a:solidFill>
                <a:latin typeface="Consolas"/>
              </a:rPr>
              <a:t>(brain, new_ids)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실제 연구에서는 marker 근거와 외부 reference를 별도로 검토해야 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QC 기준 하나만 바꾸기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목표: 필터 조건이 보존되는 세포에 미치는 영향을 설명합니다.</a:t>
            </a:r>
          </a:p>
          <a:p>
            <a:pPr lvl="0" indent="-457200" marL="457200">
              <a:buAutoNum type="arabicPeriod"/>
            </a:pPr>
            <a:r>
              <a:rPr/>
              <a:t>원본 RDS를 다시 불러오세요.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max_percent_mt</a:t>
            </a:r>
            <a:r>
              <a:rPr/>
              <a:t>를 </a:t>
            </a:r>
            <a:r>
              <a:rPr>
                <a:latin typeface="Consolas"/>
              </a:rPr>
              <a:t>15</a:t>
            </a:r>
            <a:r>
              <a:rPr/>
              <a:t> 또는 </a:t>
            </a:r>
            <a:r>
              <a:rPr>
                <a:latin typeface="Consolas"/>
              </a:rPr>
              <a:t>35</a:t>
            </a:r>
            <a:r>
              <a:rPr/>
              <a:t>로 바꾸세요.</a:t>
            </a:r>
          </a:p>
          <a:p>
            <a:pPr lvl="0" indent="-457200" marL="457200">
              <a:buAutoNum type="arabicPeriod"/>
            </a:pPr>
            <a:r>
              <a:rPr/>
              <a:t>전후 세포 수와 QC violin plot을 비교하세요.</a:t>
            </a:r>
          </a:p>
          <a:p>
            <a:pPr lvl="0" indent="-457200" marL="457200">
              <a:buAutoNum type="arabicPeriod"/>
            </a:pPr>
            <a:r>
              <a:rPr/>
              <a:t>어느 세포가 더 제거되거나 보존되는지 한 문장으로 기록하세요.</a:t>
            </a:r>
          </a:p>
          <a:p>
            <a:pPr lvl="0" indent="0" marL="0">
              <a:buNone/>
            </a:pPr>
            <a:r>
              <a:rPr/>
              <a:t>다른 파라미터는 바꾸지 않습니다.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 2: resolution 하나만 바꾸기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brain_test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0.8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random.seed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42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(brain_test))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brain_test,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0.5</a:t>
            </a:r>
            <a:r>
              <a:rPr/>
              <a:t> 결과와 cluster 수, 분리 양상, reference label의 섞임을 비교하세요.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cluster 하나를 근거로 설명하기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cluster를 선택해 다음 네 문장을 완성하세요.</a:t>
            </a:r>
          </a:p>
          <a:p>
            <a:pPr lvl="0" indent="-457200" marL="457200">
              <a:buAutoNum type="arabicPeriod"/>
            </a:pPr>
            <a:r>
              <a:rPr/>
              <a:t>이 cluster에는 약 ___개 세포가 있다.</a:t>
            </a:r>
          </a:p>
          <a:p>
            <a:pPr lvl="0" indent="-457200" marL="457200">
              <a:buAutoNum type="arabicPeriod"/>
            </a:pPr>
            <a:r>
              <a:rPr/>
              <a:t>대표 marker는 </a:t>
            </a:r>
            <a:r>
              <a:rPr b="1" i="1"/>
              <a:t>, </a:t>
            </a:r>
            <a:r>
              <a:rPr/>
              <a:t>, ___이다.</a:t>
            </a:r>
          </a:p>
          <a:p>
            <a:pPr lvl="0" indent="-457200" marL="457200">
              <a:buAutoNum type="arabicPeriod"/>
            </a:pPr>
            <a:r>
              <a:rPr/>
              <a:t>marker panel에서는 ___ 발현이 두드러진다.</a:t>
            </a:r>
          </a:p>
          <a:p>
            <a:pPr lvl="0" indent="-457200" marL="457200">
              <a:buAutoNum type="arabicPeriod"/>
            </a:pPr>
            <a:r>
              <a:rPr/>
              <a:t>저자 제공 </a:t>
            </a:r>
            <a:r>
              <a:rPr>
                <a:latin typeface="Consolas"/>
              </a:rPr>
              <a:t>level1class</a:t>
            </a:r>
            <a:r>
              <a:rPr/>
              <a:t>의 _</a:t>
            </a:r>
            <a:r>
              <a:rPr b="1"/>
              <a:t>와 주로 일치하며, 근거는 </a:t>
            </a:r>
            <a:r>
              <a:rPr/>
              <a:t>_이다.</a:t>
            </a:r>
          </a:p>
          <a:p>
            <a:pPr lvl="0" indent="0" marL="0">
              <a:buNone/>
            </a:pPr>
            <a:r>
              <a:rPr/>
              <a:t>코드 결과를 가리키며 1분 안에 설명합니다.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결과 객체·표·그림을 구분해 저장합니다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dir.create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"output"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showWarnings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saveRDS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brain,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"output/zeisel_brain_guided_clustering.rds"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write.csv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markers,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"output/zeisel_brain_markers.csv"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row.names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FALSE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ggsave()</a:t>
            </a:r>
            <a:r>
              <a:rPr/>
              <a:t>로 최종 UMAP도 </a:t>
            </a:r>
            <a:r>
              <a:rPr>
                <a:latin typeface="Consolas"/>
              </a:rPr>
              <a:t>output/</a:t>
            </a:r>
            <a:r>
              <a:rPr/>
              <a:t>에 저장합니다.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오류 1: RDS 파일을 찾을 수 없습니다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Error: file.exists(data_path) is not TRUE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getwd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list.files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list.files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"data/zeisel"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 순서: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labs/labs.Rproj</a:t>
            </a:r>
            <a:r>
              <a:rPr/>
              <a:t>를 열었는지, RDS 파일명이 맞는지 확인합니다.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오류 2: </a:t>
            </a:r>
            <a:r>
              <a:rPr>
                <a:latin typeface="Consolas"/>
              </a:rPr>
              <a:t>percent.mt</a:t>
            </a:r>
            <a:r>
              <a:rPr/>
              <a:t>가 모두 0입니다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(brain))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sum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grepl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"^mt-"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(brain)))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sum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grepl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"^MT-"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(brain)))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원인:</a:t>
            </a:r>
          </a:p>
          <a:p>
            <a:pPr lvl="0"/>
            <a:r>
              <a:rPr/>
              <a:t>organism과 gene naming convention이 다름</a:t>
            </a:r>
          </a:p>
          <a:p>
            <a:pPr lvl="0"/>
            <a:r>
              <a:rPr/>
              <a:t>gene symbol이 아니라 Ensembl ID 사용</a:t>
            </a:r>
          </a:p>
          <a:p>
            <a:pPr lvl="0"/>
            <a:r>
              <a:rPr/>
              <a:t>정규식의 대소문자가 맞지 않음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오류 3: UMAP이나 marker 단계가 실행되지 않습니다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Reductions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Graphs</a:t>
            </a:r>
            <a:r>
              <a:rPr>
                <a:solidFill>
                  <a:srgbClr val="003B4F"/>
                </a:solidFill>
                <a:latin typeface="Consolas"/>
              </a:rPr>
              <a:t>(brain)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table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(brain))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Layers</a:t>
            </a:r>
            <a:r>
              <a:rPr>
                <a:solidFill>
                  <a:srgbClr val="003B4F"/>
                </a:solidFill>
                <a:latin typeface="Consolas"/>
              </a:rPr>
              <a:t>(brain[[</a:t>
            </a:r>
            <a:r>
              <a:rPr>
                <a:solidFill>
                  <a:srgbClr val="20794D"/>
                </a:solidFill>
                <a:latin typeface="Consolas"/>
              </a:rPr>
              <a:t>"RNA"</a:t>
            </a:r>
            <a:r>
              <a:rPr>
                <a:solidFill>
                  <a:srgbClr val="003B4F"/>
                </a:solidFill>
                <a:latin typeface="Consolas"/>
              </a:rPr>
              <a:t>]])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확인할 앞 단계:</a:t>
            </a:r>
          </a:p>
          <a:p>
            <a:pPr lvl="0"/>
            <a:r>
              <a:rPr/>
              <a:t>UMAP 전: </a:t>
            </a:r>
            <a:r>
              <a:rPr>
                <a:latin typeface="Consolas"/>
              </a:rPr>
              <a:t>RunPCA()</a:t>
            </a:r>
            <a:r>
              <a:rPr/>
              <a:t>와 </a:t>
            </a:r>
            <a:r>
              <a:rPr>
                <a:latin typeface="Consolas"/>
              </a:rPr>
              <a:t>FindNeighbors()</a:t>
            </a:r>
          </a:p>
          <a:p>
            <a:pPr lvl="0"/>
            <a:r>
              <a:rPr/>
              <a:t>marker 전: </a:t>
            </a:r>
            <a:r>
              <a:rPr>
                <a:latin typeface="Consolas"/>
              </a:rPr>
              <a:t>NormalizeData()</a:t>
            </a:r>
            <a:r>
              <a:rPr/>
              <a:t>와 </a:t>
            </a:r>
            <a:r>
              <a:rPr>
                <a:latin typeface="Consolas"/>
              </a:rPr>
              <a:t>FindClusters()</a:t>
            </a:r>
          </a:p>
          <a:p>
            <a:pPr lvl="0"/>
            <a:r>
              <a:rPr/>
              <a:t>plot 전: 요청한 feature가 </a:t>
            </a:r>
            <a:r>
              <a:rPr>
                <a:latin typeface="Consolas"/>
              </a:rPr>
              <a:t>rownames(brain)</a:t>
            </a:r>
            <a:r>
              <a:rPr/>
              <a:t>에 존재하는지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객체에 분석 결과가 단계적으로 쌓입니다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객체에서 확인할 것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RDS 로드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class()</a:t>
                      </a:r>
                      <a:r>
                        <a:rPr/>
                        <a:t>, </a:t>
                      </a:r>
                      <a:r>
                        <a:rPr>
                          <a:latin typeface="Consolas"/>
                        </a:rPr>
                        <a:t>dim()</a:t>
                      </a:r>
                      <a:r>
                        <a:rPr/>
                        <a:t>, </a:t>
                      </a:r>
                      <a:r>
                        <a:rPr>
                          <a:latin typeface="Consolas"/>
                        </a:rPr>
                        <a:t>Layers()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percent.mt</a:t>
                      </a:r>
                      <a:r>
                        <a:rPr/>
                        <a:t>, 필터 후 세포 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정규화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normalized </a:t>
                      </a:r>
                      <a:r>
                        <a:rPr>
                          <a:latin typeface="Consolas"/>
                        </a:rPr>
                        <a:t>data</a:t>
                      </a:r>
                      <a:r>
                        <a:rPr/>
                        <a:t> layer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고변이 유전자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VariableFeatures()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Reductions(brain)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Graphs()</a:t>
                      </a:r>
                      <a:r>
                        <a:rPr/>
                        <a:t>, </a:t>
                      </a:r>
                      <a:r>
                        <a:rPr>
                          <a:latin typeface="Consolas"/>
                        </a:rPr>
                        <a:t>Idents()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Embeddings(brain[["umap"]])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markers</a:t>
                      </a:r>
                      <a:r>
                        <a:rPr/>
                        <a:t> data frame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최종 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이 데이터에서 mitochondrial pattern이 </a:t>
            </a:r>
            <a:r>
              <a:rPr>
                <a:latin typeface="Consolas"/>
              </a:rPr>
              <a:t>^mt-</a:t>
            </a:r>
            <a:r>
              <a:rPr/>
              <a:t>인 이유는 무엇인가요?</a:t>
            </a:r>
          </a:p>
          <a:p>
            <a:pPr lvl="0" indent="-457200" marL="457200">
              <a:buAutoNum type="arabicPeriod"/>
            </a:pPr>
            <a:r>
              <a:rPr/>
              <a:t>QC 기준을 PBMC tutorial과 다르게 정한 근거는 무엇인가요?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dims_to_use</a:t>
            </a:r>
            <a:r>
              <a:rPr/>
              <a:t>는 어떤 두 단계의 입력으로 재사용되나요?</a:t>
            </a:r>
          </a:p>
          <a:p>
            <a:pPr lvl="0" indent="-457200" marL="457200">
              <a:buAutoNum type="arabicPeriod"/>
            </a:pPr>
            <a:r>
              <a:rPr/>
              <a:t>cluster와 </a:t>
            </a:r>
            <a:r>
              <a:rPr>
                <a:latin typeface="Consolas"/>
              </a:rPr>
              <a:t>level1class</a:t>
            </a:r>
            <a:r>
              <a:rPr/>
              <a:t>가 일치하지 않을 때 무엇을 점검해야 하나요?</a:t>
            </a:r>
          </a:p>
          <a:p>
            <a:pPr lvl="0" indent="-457200" marL="457200">
              <a:buAutoNum type="arabicPeriod"/>
            </a:pPr>
            <a:r>
              <a:rPr/>
              <a:t>자신의 데이터에는 어떤 경로, 조건, marker를 바꿔야 하나요?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이제 Guided Clustering 코드를 새 데이터에 적용할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readRDS()</a:t>
            </a:r>
            <a:r>
              <a:rPr/>
              <a:t>로 분석 출발점을 복원했습니다.</a:t>
            </a:r>
          </a:p>
          <a:p>
            <a:pPr lvl="0"/>
            <a:r>
              <a:rPr/>
              <a:t>분포를 보고 Zeisel 데이터의 QC 조건을 적용했습니다.</a:t>
            </a:r>
          </a:p>
          <a:p>
            <a:pPr lvl="0"/>
            <a:r>
              <a:rPr/>
              <a:t>정규화, PCA, graph clustering, UMAP을 같은 객체에 누적했습니다.</a:t>
            </a:r>
          </a:p>
          <a:p>
            <a:pPr lvl="0"/>
            <a:r>
              <a:rPr/>
              <a:t>marker와 저자 제공 label을 함께 사용해 cluster를 검증했습니다.</a:t>
            </a:r>
          </a:p>
          <a:p>
            <a:pPr lvl="0"/>
            <a:r>
              <a:rPr/>
              <a:t>파라미터를 하나씩 바꾸고 결과를 저장했습니다.</a:t>
            </a:r>
          </a:p>
          <a:p>
            <a:pPr lvl="0" indent="0" marL="0">
              <a:buNone/>
            </a:pPr>
            <a:r>
              <a:rPr/>
              <a:t>분석을 실행했다는 사실보다, 각 값의 근거와 객체의 변화를 설명하는 것이 최종 목표입니다.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공식 문서와 데이터 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Seurat, </a:t>
            </a:r>
            <a:r>
              <a:rPr b="1"/>
              <a:t>Guided Clustering Tutorial</a:t>
            </a:r>
            <a:r>
              <a:rPr/>
              <a:t>.</a:t>
            </a:r>
            <a:br/>
            <a:r>
              <a:rPr>
                <a:hlinkClick r:id="rId2"/>
              </a:rPr>
              <a:t>https://satijalab.org/seurat/articles/pbmc3k_tutorial</a:t>
            </a:r>
          </a:p>
          <a:p>
            <a:pPr lvl="0"/>
            <a:r>
              <a:rPr/>
              <a:t>Bioconductor </a:t>
            </a:r>
            <a:r>
              <a:rPr>
                <a:latin typeface="Consolas"/>
              </a:rPr>
              <a:t>scRNAseq</a:t>
            </a:r>
            <a:r>
              <a:rPr/>
              <a:t>, </a:t>
            </a:r>
            <a:r>
              <a:rPr b="1"/>
              <a:t>ZeiselBrainData</a:t>
            </a:r>
            <a:r>
              <a:rPr/>
              <a:t> reference manual. </a:t>
            </a:r>
            <a:r>
              <a:rPr>
                <a:hlinkClick r:id="rId3"/>
              </a:rPr>
              <a:t>https://bioconductor.org/packages/release/data/experiment/manuals/scRNAseq/man/scRNAseq.pdf</a:t>
            </a:r>
          </a:p>
          <a:p>
            <a:pPr lvl="0" indent="0" marL="0">
              <a:buNone/>
            </a:pPr>
            <a:r>
              <a:rPr/>
              <a:t>사용한 로컬 환경의 버전은 실습 마지막의 </a:t>
            </a:r>
            <a:r>
              <a:rPr>
                <a:latin typeface="Consolas"/>
              </a:rPr>
              <a:t>sessionInfo()</a:t>
            </a:r>
            <a:r>
              <a:rPr/>
              <a:t>와 </a:t>
            </a:r>
            <a:r>
              <a:rPr>
                <a:latin typeface="Consolas"/>
              </a:rPr>
              <a:t>packageVersion()</a:t>
            </a:r>
            <a:r>
              <a:rPr/>
              <a:t>으로 기록합니다.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Zeisel 데이터로 Guided Clustering 완주하기</dc:title>
  <dc:creator>12회차</dc:creator>
  <cp:keywords/>
  <dcterms:created xsi:type="dcterms:W3CDTF">2026-07-13T14:37:05Z</dcterms:created>
  <dcterms:modified xsi:type="dcterms:W3CDTF">2026-07-13T14:37:05Z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RDS 로드부터 cluster 해석과 결과 저장까지</vt:lpwstr>
  </property>
  <property fmtid="{D5CDD505-2E9C-101B-9397-08002B2CF9AE}" pid="10" name="toc-title">
    <vt:lpwstr>목차</vt:lpwstr>
  </property>
</Properties>
</file>