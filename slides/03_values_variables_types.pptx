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Relationship Id="rId2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AE61F1-720A-4C21-B65B-4A3173A2C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C1111F-D4A6-4DDC-A3B6-DB854C09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E00F29-6221-4882-B252-1E5B8661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397973-2611-47C1-943B-471D9636F684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82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B2DA81-A7AC-4FA3-9E79-EA52F99DCEB9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354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D15491-48F6-48DC-A8A0-6ED60943548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E432EE-5CB6-4863-B2FE-2722A5E85385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A3998-CCB3-4584-A130-14F2F23D1501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635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3B7E7E-5A4C-4700-AE76-29AD4945D71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62B536-2756-4475-B870-BA08607C731E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85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EC3834-6561-4D02-93C1-AF78EEF81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4036D5-7428-404C-AA58-099C3A1A0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5C39C-67C1-44B4-9DC0-87890F2E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DAB0A8-1703-40BE-B958-3AF10F150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B6EA6A-FC56-49B5-9E49-66A8A658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218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55F8304-2049-41FC-AAD9-BBD4A8F343F4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B3710CA-8068-42D2-85EE-BD68F5F1BCA0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346200"/>
            <a:ext cx="10972800" cy="2565400"/>
          </a:xfrm>
        </p:spPr>
        <p:txBody>
          <a:bodyPr lIns="127000" tIns="101600" rIns="127000" bIns="1016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3935DD-ACEE-45E4-B4BD-30A3D427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504E98-A62B-4D8C-99F6-C814548C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786A78-DB35-4F2F-9B87-1F1B7CD3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AF2B1A-0DE5-485A-8240-C74CB4588F13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73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97CC56-799F-4D9D-A45B-9371D2E101D6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F53997F-2273-41DA-8EE8-A0580C37D1D4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5C9BF5-D4CA-4A9D-B3CC-3696C2D93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8CD79-4472-4851-AC47-52064FC30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346200"/>
            <a:ext cx="10972800" cy="2565400"/>
          </a:xfrm>
        </p:spPr>
        <p:txBody>
          <a:bodyPr lIns="127000" tIns="101600" rIns="127000" bIns="101600"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B73B0A-7F59-43AC-9270-C8D4A2516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9A5DDC-261E-408E-BADA-468297FD9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856005-C35C-4F30-A01E-196A8E43C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F8CBD36-65BD-4C30-B17A-68E5F687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8A2EF8E-2996-4A35-8C23-84C85912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53470C-DA9C-40AF-96D1-2A8D0EF2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2EC9CC-BF5B-4E49-A6C9-A08698C07BC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19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C0489-8C81-4D6D-B4F9-EA760530F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48D865-27F4-495D-A14B-C12A33E75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2FB284-B061-4C21-B170-7E66007B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9104D2-2EA7-4CBD-B23E-93D72DC3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1121AD-A0CB-4A20-A461-5A3908089EC5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23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2C04E2-1016-4EC9-9574-FE6DF2B2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B6236A-F372-438E-A07C-98AFC2C47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BE033-D2B2-4FBA-A6A6-0E19F068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4749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4450C-D018-44C1-BF1C-753E0C5C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83CC7B-F271-4AC1-9EBC-D504D6AE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E24BF8-9A5E-403C-A1BD-AD5AFCC79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574247-A0BB-4FEA-9973-F0E5AD8E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E29ADC-9C2C-4ABB-B96B-8C4F0D2D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3613E9-8945-40A0-8AE9-B5D084C0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D7A986-9CE7-4C62-BE39-AB5D7A9A148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48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5D591-4783-4DD1-BB9D-F95977F4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6F4968-9ADA-494A-B384-CE62B10D5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E7F8D-E247-4863-9BFD-7C2911B3F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54F979-D8CF-4A5F-8B60-F0EE50B1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613FAA-406C-4B34-8790-CFCBEF6A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039A12-A651-4662-B40E-01F9A7081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F12B4F-4BFE-41D8-9969-EDB74A3B708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732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CF20E-706F-46A0-99C2-4FFA67BE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780F76-4475-4560-B091-7250390A7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8C844E-8C08-458B-8407-8DF80561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77E75-4ACA-4778-9FC7-7FD3DC32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D23534-6728-491E-B8CE-2616A58E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C5A219-0890-49AF-A3E5-E99E3E47A6D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603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077ED7-0604-4A79-A160-68FA9D671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C85836-7B81-414B-9733-503CB9C07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41591-9FD7-48AB-87A6-0BEA46B0D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6F33A1-2948-4A7E-AB5F-1532ED6F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BE4748-2F81-4DE5-956A-B333238A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8C4CB4-E15A-4ACC-8111-C79334CE8D0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93968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495588-4790-461A-B72E-3E4D7D34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73A353-2D16-47F2-BB23-23C5D300AA04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2BD76-130E-46EA-BF79-C98F1CC5390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9D35394C-156E-482D-9CB9-8B56DD9F82D9}" type="datetimeFigureOut">
              <a:rPr altLang="ko-KR" lang="en-US" smtClean="0"/>
              <a:pPr/>
              <a:t>2026-07-13</a:t>
            </a:fld>
            <a:endParaRPr altLang="ko-KR"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3F89-0CF3-4F77-AEF8-F1BC23221316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479EA8-5A3E-4BA3-A094-1929D80D3EE9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31FD3EBB-2A0A-4C5A-9F34-FCE5E973995F}" type="slidenum">
              <a:rPr altLang="ko-KR" lang="en-US" smtClean="0"/>
              <a:pPr/>
              <a:t>‹#›</a:t>
            </a:fld>
            <a:endParaRPr altLang="ko-KR" lang="en-US"/>
          </a:p>
        </p:txBody>
      </p:sp>
    </p:spTree>
    <p:extLst>
      <p:ext uri="{BB962C8B-B14F-4D97-AF65-F5344CB8AC3E}">
        <p14:creationId xmlns:p14="http://schemas.microsoft.com/office/powerpoint/2010/main" val="8743109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5000"/>
            <a:ext cx="9144000" cy="14224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값, 변수, 기본 자료형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분석 파라미터가 R에서 표현되는 방식</a:t>
            </a:r>
          </a:p>
        </p:txBody>
      </p:sp>
      <p:sp>
        <p:nvSpPr>
          <p:cNvPr id="4" name="Lesson Label"/>
          <p:cNvSpPr txBox="1"/>
          <p:nvPr/>
        </p:nvSpPr>
        <p:spPr>
          <a:xfrm>
            <a:off x="1524000" y="863600"/>
            <a:ext cx="9144000" cy="787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pPr algn="l"/>
            <a:r>
              <a:rPr lang="ko-KR" sz="3600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3회차</a:t>
            </a:r>
            <a:endParaRPr lang="ko-KR" sz="3600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numeric, character, logical 등 기본 자료형을 구분할 수 있다.</a:t>
            </a:r>
          </a:p>
          <a:p>
            <a:pPr lvl="0" indent="-457200" marL="457200">
              <a:buAutoNum type="arabicPeriod"/>
            </a:pPr>
            <a:r>
              <a:rPr/>
              <a:t>값을 객체에 할당하고 객체의 자료형과 길이를 확인할 수 있다.</a:t>
            </a:r>
          </a:p>
          <a:p>
            <a:pPr lvl="0" indent="-457200" marL="457200">
              <a:buAutoNum type="arabicPeriod"/>
            </a:pPr>
            <a:r>
              <a:rPr/>
              <a:t>Seurat 코드의 QC 임계값과 함수 인자를 값과 변수의 관점에서 읽을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1회차 코드에는 여러 종류의 값이 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CreateSeuratObject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counts =</a:t>
            </a:r>
            <a:r>
              <a:rPr>
                <a:solidFill>
                  <a:srgbClr val="003B4F"/>
                </a:solidFill>
                <a:latin typeface="Consolas"/>
              </a:rPr>
              <a:t> pbmc.data,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project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"pbmc3k"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min.cells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3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min.features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nsolas"/>
              </a:rPr>
              <a:t>"pbmc3k"</a:t>
            </a:r>
            <a:r>
              <a:rPr/>
              <a:t>: 문자</a:t>
            </a:r>
          </a:p>
          <a:p>
            <a:pPr lvl="0"/>
            <a:r>
              <a:rPr>
                <a:latin typeface="Consolas"/>
              </a:rPr>
              <a:t>3</a:t>
            </a:r>
            <a:r>
              <a:rPr/>
              <a:t>, </a:t>
            </a:r>
            <a:r>
              <a:rPr>
                <a:latin typeface="Consolas"/>
              </a:rPr>
              <a:t>200</a:t>
            </a:r>
            <a:r>
              <a:rPr/>
              <a:t>: 숫자</a:t>
            </a:r>
          </a:p>
          <a:p>
            <a:pPr lvl="0"/>
            <a:r>
              <a:rPr>
                <a:latin typeface="Consolas"/>
              </a:rPr>
              <a:t>pbmc.data</a:t>
            </a:r>
            <a:r>
              <a:rPr/>
              <a:t>: 다른 객체에 저장된 값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자료형은 R이 값을 해석하는 방식입니다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자료형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분석에서의 용도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double/numeric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5</a:t>
                      </a:r>
                      <a:r>
                        <a:rPr/>
                        <a:t>, </a:t>
                      </a:r>
                      <a:r>
                        <a:rPr>
                          <a:latin typeface="Consolas"/>
                        </a:rPr>
                        <a:t>0.8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QC 값, resolution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5L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개수, 인덱스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character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"RNA"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유전자명, assay명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TRUE</a:t>
                      </a:r>
                      <a:r>
                        <a:rPr/>
                        <a:t>, </a:t>
                      </a:r>
                      <a:r>
                        <a:rPr>
                          <a:latin typeface="Consolas"/>
                        </a:rPr>
                        <a:t>FALSE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옵션, 필터 결과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자료형이 다르면 가능한 연산도 달라집니다.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숫자는 계산할 수 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min_features &lt;-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max_features &lt;- </a:t>
            </a:r>
            <a:r>
              <a:rPr>
                <a:solidFill>
                  <a:srgbClr val="AD0000"/>
                </a:solidFill>
                <a:latin typeface="Consolas"/>
              </a:rPr>
              <a:t>2500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feature_range &lt;- max_features </a:t>
            </a:r>
            <a:r>
              <a:rPr>
                <a:solidFill>
                  <a:srgbClr val="5E5E5E"/>
                </a:solidFill>
                <a:latin typeface="Consolas"/>
              </a:rPr>
              <a:t>-</a:t>
            </a:r>
            <a:r>
              <a:rPr>
                <a:solidFill>
                  <a:srgbClr val="003B4F"/>
                </a:solidFill>
                <a:latin typeface="Consolas"/>
              </a:rPr>
              <a:t> min_features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resolution &lt;- </a:t>
            </a:r>
            <a:r>
              <a:rPr>
                <a:solidFill>
                  <a:srgbClr val="AD0000"/>
                </a:solidFill>
                <a:latin typeface="Consolas"/>
              </a:rPr>
              <a:t>0.5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resolution </a:t>
            </a:r>
            <a:r>
              <a:rPr>
                <a:solidFill>
                  <a:srgbClr val="5E5E5E"/>
                </a:solidFill>
                <a:latin typeface="Consolas"/>
              </a:rPr>
              <a:t>*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typeof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typeof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r>
              <a:rPr>
                <a:solidFill>
                  <a:srgbClr val="003B4F"/>
                </a:solidFill>
                <a:latin typeface="Consolas"/>
              </a:rPr>
              <a:t>L)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R의 일반적인 소수 숫자는 내부적으로 </a:t>
            </a:r>
            <a:r>
              <a:rPr>
                <a:latin typeface="Consolas"/>
              </a:rPr>
              <a:t>double</a:t>
            </a:r>
            <a:r>
              <a:rPr/>
              <a:t>입니다.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문자는 따옴표로 감쌉니다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project_name &lt;- </a:t>
            </a:r>
            <a:r>
              <a:rPr>
                <a:solidFill>
                  <a:srgbClr val="20794D"/>
                </a:solidFill>
                <a:latin typeface="Consolas"/>
              </a:rPr>
              <a:t>"pbmc3k"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assay_name &lt;- </a:t>
            </a:r>
            <a:r>
              <a:rPr>
                <a:solidFill>
                  <a:srgbClr val="20794D"/>
                </a:solidFill>
                <a:latin typeface="Consolas"/>
              </a:rPr>
              <a:t>"RNA"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marker_gene &lt;- 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nsolas"/>
              </a:rPr>
              <a:t># 객체 이름을 찾음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MS4A1</a:t>
            </a:r>
            <a:br/>
            <a:br/>
            <a:r>
              <a:rPr>
                <a:solidFill>
                  <a:srgbClr val="5E5E5E"/>
                </a:solidFill>
                <a:latin typeface="Consolas"/>
              </a:rPr>
              <a:t># 문자 MS4A1을 저장</a:t>
            </a:r>
            <a:br/>
            <a:r>
              <a:rPr>
                <a:solidFill>
                  <a:srgbClr val="20794D"/>
                </a:solidFill>
                <a:latin typeface="Consolas"/>
              </a:rPr>
              <a:t>"MS4A1"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유전자명과 파일 경로는 대부분 character로 표현합니다.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logical은 참과 거짓을 나타냅니다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only_positive &lt;-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show_legend &lt;- </a:t>
            </a:r>
            <a:r>
              <a:rPr>
                <a:solidFill>
                  <a:srgbClr val="8F5902"/>
                </a:solidFill>
                <a:latin typeface="Consolas"/>
              </a:rPr>
              <a:t>FALSE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min_features &lt;-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min_features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min_features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1000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비교 연산의 결과도 </a:t>
            </a:r>
            <a:r>
              <a:rPr>
                <a:latin typeface="Consolas"/>
              </a:rPr>
              <a:t>TRUE</a:t>
            </a:r>
            <a:r>
              <a:rPr/>
              <a:t> 또는 </a:t>
            </a:r>
            <a:r>
              <a:rPr>
                <a:latin typeface="Consolas"/>
              </a:rPr>
              <a:t>FALSE</a:t>
            </a:r>
            <a:r>
              <a:rPr/>
              <a:t>입니다.</a:t>
            </a:r>
          </a:p>
          <a:p>
            <a:pPr lvl="0" indent="0" marL="0">
              <a:buNone/>
            </a:pPr>
            <a:r>
              <a:rPr>
                <a:latin typeface="Consolas"/>
              </a:rPr>
              <a:t>TRUE</a:t>
            </a:r>
            <a:r>
              <a:rPr/>
              <a:t>와 </a:t>
            </a:r>
            <a:r>
              <a:rPr>
                <a:latin typeface="Consolas"/>
              </a:rPr>
              <a:t>FALSE</a:t>
            </a:r>
            <a:r>
              <a:rPr/>
              <a:t>는 따옴표로 감싸지 않습니다.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객체의 자료형을 확인합니다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project_name &lt;- </a:t>
            </a:r>
            <a:r>
              <a:rPr>
                <a:solidFill>
                  <a:srgbClr val="20794D"/>
                </a:solidFill>
                <a:latin typeface="Consolas"/>
              </a:rPr>
              <a:t>"pbmc3k"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resolution &lt;- </a:t>
            </a:r>
            <a:r>
              <a:rPr>
                <a:solidFill>
                  <a:srgbClr val="AD0000"/>
                </a:solidFill>
                <a:latin typeface="Consolas"/>
              </a:rPr>
              <a:t>0.5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only_positive &lt;-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class</a:t>
            </a:r>
            <a:r>
              <a:rPr>
                <a:solidFill>
                  <a:srgbClr val="003B4F"/>
                </a:solidFill>
                <a:latin typeface="Consolas"/>
              </a:rPr>
              <a:t>(project_name)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typeof</a:t>
            </a:r>
            <a:r>
              <a:rPr>
                <a:solidFill>
                  <a:srgbClr val="003B4F"/>
                </a:solidFill>
                <a:latin typeface="Consolas"/>
              </a:rPr>
              <a:t>(resolution)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is.logical</a:t>
            </a:r>
            <a:r>
              <a:rPr>
                <a:solidFill>
                  <a:srgbClr val="003B4F"/>
                </a:solidFill>
                <a:latin typeface="Consolas"/>
              </a:rPr>
              <a:t>(only_positive)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nsolas"/>
              </a:rPr>
              <a:t>class()</a:t>
            </a:r>
            <a:r>
              <a:rPr/>
              <a:t>: 사용 관점의 자료형 또는 클래스</a:t>
            </a:r>
          </a:p>
          <a:p>
            <a:pPr lvl="0"/>
            <a:r>
              <a:rPr>
                <a:latin typeface="Consolas"/>
              </a:rPr>
              <a:t>typeof()</a:t>
            </a:r>
            <a:r>
              <a:rPr/>
              <a:t>: 내부 저장 방식</a:t>
            </a:r>
          </a:p>
          <a:p>
            <a:pPr lvl="0"/>
            <a:r>
              <a:rPr>
                <a:latin typeface="Consolas"/>
              </a:rPr>
              <a:t>is.*()</a:t>
            </a:r>
            <a:r>
              <a:rPr/>
              <a:t>: 특정 종류인지 확인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길이는 값의 개수를 알려줍니다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marker_gene &lt;- 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marker_genes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"GNLY"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"CD3E"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length</a:t>
            </a:r>
            <a:r>
              <a:rPr>
                <a:solidFill>
                  <a:srgbClr val="003B4F"/>
                </a:solidFill>
                <a:latin typeface="Consolas"/>
              </a:rPr>
              <a:t>(marker_gene)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length</a:t>
            </a:r>
            <a:r>
              <a:rPr>
                <a:solidFill>
                  <a:srgbClr val="003B4F"/>
                </a:solidFill>
                <a:latin typeface="Consolas"/>
              </a:rPr>
              <a:t>(marker_genes)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문자열의 글자 수가 아니라 객체에 들어 있는 </a:t>
            </a:r>
            <a:r>
              <a:rPr b="1"/>
              <a:t>원소 수</a:t>
            </a:r>
            <a:r>
              <a:rPr/>
              <a:t>입니다.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자료형은 필요할 때 변환할 수 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as.character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as.numeric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"200"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as.logical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as.numeric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5E5E5E"/>
                </a:solidFill>
                <a:latin typeface="Consolas"/>
              </a:rPr>
              <a:t># Warning: NAs introduced by coercion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변환할 수 없는 문자는 결측값을 만듭니다.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NA는 값이 없음을 나타냅니다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qc_score &lt;- </a:t>
            </a:r>
            <a:r>
              <a:rPr>
                <a:solidFill>
                  <a:srgbClr val="8F5902"/>
                </a:solidFill>
                <a:latin typeface="Consolas"/>
              </a:rPr>
              <a:t>NA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is.na</a:t>
            </a:r>
            <a:r>
              <a:rPr>
                <a:solidFill>
                  <a:srgbClr val="003B4F"/>
                </a:solidFill>
                <a:latin typeface="Consolas"/>
              </a:rPr>
              <a:t>(qc_score)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nsolas"/>
              </a:rPr>
              <a:t>NA</a:t>
            </a:r>
            <a:r>
              <a:rPr/>
              <a:t>는 아직 관측되지 않았거나 알 수 없는 값입니다.</a:t>
            </a:r>
          </a:p>
          <a:p>
            <a:pPr lvl="0"/>
            <a:r>
              <a:rPr/>
              <a:t>0은 측정값이 0인 것이며 </a:t>
            </a:r>
            <a:r>
              <a:rPr>
                <a:latin typeface="Consolas"/>
              </a:rPr>
              <a:t>NA</a:t>
            </a:r>
            <a:r>
              <a:rPr/>
              <a:t>와 다릅니다.</a:t>
            </a:r>
          </a:p>
          <a:p>
            <a:pPr lvl="0"/>
            <a:r>
              <a:rPr/>
              <a:t>빈 문자열 </a:t>
            </a:r>
            <a:r>
              <a:rPr>
                <a:latin typeface="Consolas"/>
              </a:rPr>
              <a:t>""</a:t>
            </a:r>
            <a:r>
              <a:rPr/>
              <a:t>도 </a:t>
            </a:r>
            <a:r>
              <a:rPr>
                <a:latin typeface="Consolas"/>
              </a:rPr>
              <a:t>NA</a:t>
            </a:r>
            <a:r>
              <a:rPr/>
              <a:t>와 다릅니다.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NA가 있으면 계산 결과도 NA가 될 수 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qc_values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100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8F5902"/>
                </a:solidFill>
                <a:latin typeface="Consolas"/>
              </a:rPr>
              <a:t>NA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400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mean</a:t>
            </a:r>
            <a:r>
              <a:rPr>
                <a:solidFill>
                  <a:srgbClr val="003B4F"/>
                </a:solidFill>
                <a:latin typeface="Consolas"/>
              </a:rPr>
              <a:t>(qc_values)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mean</a:t>
            </a:r>
            <a:r>
              <a:rPr>
                <a:solidFill>
                  <a:srgbClr val="003B4F"/>
                </a:solidFill>
                <a:latin typeface="Consolas"/>
              </a:rPr>
              <a:t>(qc_values, </a:t>
            </a:r>
            <a:r>
              <a:rPr>
                <a:solidFill>
                  <a:srgbClr val="657422"/>
                </a:solidFill>
                <a:latin typeface="Consolas"/>
              </a:rPr>
              <a:t>na.rm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na.rm = TRUE</a:t>
            </a:r>
            <a:r>
              <a:rPr/>
              <a:t>는 결측값을 제거하고 계산하라는 의미입니다.</a:t>
            </a:r>
          </a:p>
          <a:p>
            <a:pPr lvl="0" indent="0" marL="0">
              <a:buNone/>
            </a:pPr>
            <a:r>
              <a:rPr/>
              <a:t>결측값을 제거하기 전에 왜 값이 없는지 확인해야 합니다.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factor는 범주와 순서를 저장합니다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cluster &lt;- </a:t>
            </a:r>
            <a:r>
              <a:rPr>
                <a:solidFill>
                  <a:srgbClr val="4758AB"/>
                </a:solidFill>
                <a:latin typeface="Consolas"/>
              </a:rPr>
              <a:t>factor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"0"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"0"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"2"</a:t>
            </a:r>
            <a:r>
              <a:rPr>
                <a:solidFill>
                  <a:srgbClr val="003B4F"/>
                </a:solidFill>
                <a:latin typeface="Consolas"/>
              </a:rPr>
              <a:t>))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cluster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levels</a:t>
            </a:r>
            <a:r>
              <a:rPr>
                <a:solidFill>
                  <a:srgbClr val="003B4F"/>
                </a:solidFill>
                <a:latin typeface="Consolas"/>
              </a:rPr>
              <a:t>(cluster)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class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Idents</a:t>
            </a:r>
            <a:r>
              <a:rPr>
                <a:solidFill>
                  <a:srgbClr val="003B4F"/>
                </a:solidFill>
                <a:latin typeface="Consolas"/>
              </a:rPr>
              <a:t>(pbmc))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levels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Seurat의 cluster identity처럼 반복되는 범주를 표현할 때 사용됩니다.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같은 모양이라도 자료형이 다를 수 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cluster_number &lt;- </a:t>
            </a:r>
            <a:r>
              <a:rPr>
                <a:solidFill>
                  <a:srgbClr val="AD0000"/>
                </a:solidFill>
                <a:latin typeface="Consolas"/>
              </a:rPr>
              <a:t>2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cluster_label &lt;- </a:t>
            </a:r>
            <a:r>
              <a:rPr>
                <a:solidFill>
                  <a:srgbClr val="20794D"/>
                </a:solidFill>
                <a:latin typeface="Consolas"/>
              </a:rPr>
              <a:t>"2"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cluster_number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cluster_label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</a:p>
          <a:p>
            <a:pPr lvl="0" indent="0">
              <a:buNone/>
            </a:pPr>
            <a:r>
              <a:rPr>
                <a:latin typeface="Consolas"/>
              </a:rPr>
              <a:t>Error in cluster_label + 1 :
  non-numeric argument to binary operator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문자에 산술 연산을 적용하면 오류가 발생합니다.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함수 인자의 값도 자료형이 정해져 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FindClusters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resolution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0.5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FindAllMarkers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only.pos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nsolas"/>
              </a:rPr>
              <a:t>resolution</a:t>
            </a:r>
            <a:r>
              <a:rPr/>
              <a:t>: numeric</a:t>
            </a:r>
          </a:p>
          <a:p>
            <a:pPr lvl="0"/>
            <a:r>
              <a:rPr>
                <a:latin typeface="Consolas"/>
              </a:rPr>
              <a:t>only.pos</a:t>
            </a:r>
            <a:r>
              <a:rPr/>
              <a:t>: logical</a:t>
            </a:r>
          </a:p>
          <a:p>
            <a:pPr lvl="0" indent="0" marL="0">
              <a:buNone/>
            </a:pPr>
            <a:r>
              <a:rPr/>
              <a:t>함수 도움말의 Arguments에서 기대하는 자료형을 확인합니다.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실습 1: 자료형 예측하기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sample_name &lt;- </a:t>
            </a:r>
            <a:r>
              <a:rPr>
                <a:solidFill>
                  <a:srgbClr val="20794D"/>
                </a:solidFill>
                <a:latin typeface="Consolas"/>
              </a:rPr>
              <a:t>"PBMC 3K"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cell_count &lt;- </a:t>
            </a:r>
            <a:r>
              <a:rPr>
                <a:solidFill>
                  <a:srgbClr val="AD0000"/>
                </a:solidFill>
                <a:latin typeface="Consolas"/>
              </a:rPr>
              <a:t>2700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resolution &lt;- </a:t>
            </a:r>
            <a:r>
              <a:rPr>
                <a:solidFill>
                  <a:srgbClr val="AD0000"/>
                </a:solidFill>
                <a:latin typeface="Consolas"/>
              </a:rPr>
              <a:t>0.5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use_positive_markers &lt;-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missing_group &lt;- </a:t>
            </a:r>
            <a:r>
              <a:rPr>
                <a:solidFill>
                  <a:srgbClr val="8F5902"/>
                </a:solidFill>
                <a:latin typeface="Consolas"/>
              </a:rPr>
              <a:t>NA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실행 전에 각 객체의 자료형을 예상하세요.</a:t>
            </a:r>
          </a:p>
          <a:p>
            <a:pPr lvl="0" indent="0" marL="0">
              <a:buNone/>
            </a:pPr>
            <a:r>
              <a:rPr>
                <a:latin typeface="Consolas"/>
              </a:rPr>
              <a:t>class()</a:t>
            </a:r>
            <a:r>
              <a:rPr/>
              <a:t>, </a:t>
            </a:r>
            <a:r>
              <a:rPr>
                <a:latin typeface="Consolas"/>
              </a:rPr>
              <a:t>typeof()</a:t>
            </a:r>
            <a:r>
              <a:rPr/>
              <a:t>, </a:t>
            </a:r>
            <a:r>
              <a:rPr>
                <a:latin typeface="Consolas"/>
              </a:rPr>
              <a:t>is.na()</a:t>
            </a:r>
            <a:r>
              <a:rPr/>
              <a:t>로 예상과 비교하세요.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실습 2: QC 설정표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min_features &lt;-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max_features &lt;- </a:t>
            </a:r>
            <a:r>
              <a:rPr>
                <a:solidFill>
                  <a:srgbClr val="AD0000"/>
                </a:solidFill>
                <a:latin typeface="Consolas"/>
              </a:rPr>
              <a:t>2500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max_percent_mt &lt;-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species &lt;- </a:t>
            </a:r>
            <a:r>
              <a:rPr>
                <a:solidFill>
                  <a:srgbClr val="20794D"/>
                </a:solidFill>
                <a:latin typeface="Consolas"/>
              </a:rPr>
              <a:t>"human"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remove_doublets &lt;- </a:t>
            </a:r>
            <a:r>
              <a:rPr>
                <a:solidFill>
                  <a:srgbClr val="8F5902"/>
                </a:solidFill>
                <a:latin typeface="Consolas"/>
              </a:rPr>
              <a:t>FALSE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객체를 만들고 자료형을 확인하세요.</a:t>
            </a:r>
          </a:p>
          <a:p>
            <a:pPr lvl="0" indent="0" marL="0">
              <a:buNone/>
            </a:pPr>
            <a:r>
              <a:rPr/>
              <a:t>어떤 객체가 숫자, 문자, logical인지 설명하세요.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핵심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numeric은 계산, character는 이름과 텍스트에 사용합니다.</a:t>
            </a:r>
          </a:p>
          <a:p>
            <a:pPr lvl="0"/>
            <a:r>
              <a:rPr/>
              <a:t>logical은 조건과 함수 옵션을 표현합니다.</a:t>
            </a:r>
          </a:p>
          <a:p>
            <a:pPr lvl="0"/>
            <a:r>
              <a:rPr>
                <a:latin typeface="Consolas"/>
              </a:rPr>
              <a:t>class()</a:t>
            </a:r>
            <a:r>
              <a:rPr/>
              <a:t>, </a:t>
            </a:r>
            <a:r>
              <a:rPr>
                <a:latin typeface="Consolas"/>
              </a:rPr>
              <a:t>typeof()</a:t>
            </a:r>
            <a:r>
              <a:rPr/>
              <a:t>, </a:t>
            </a:r>
            <a:r>
              <a:rPr>
                <a:latin typeface="Consolas"/>
              </a:rPr>
              <a:t>is.*()</a:t>
            </a:r>
            <a:r>
              <a:rPr/>
              <a:t>로 객체를 점검합니다.</a:t>
            </a:r>
          </a:p>
          <a:p>
            <a:pPr lvl="0"/>
            <a:r>
              <a:rPr>
                <a:latin typeface="Consolas"/>
              </a:rPr>
              <a:t>NA</a:t>
            </a:r>
            <a:r>
              <a:rPr/>
              <a:t>는 0이나 빈 문자열과 다른 결측값입니다.</a:t>
            </a:r>
          </a:p>
          <a:p>
            <a:pPr lvl="0"/>
            <a:r>
              <a:rPr/>
              <a:t>함수 인자에는 기대되는 자료형이 있습니다.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종료 점검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>
                <a:latin typeface="Consolas"/>
              </a:rPr>
              <a:t>"5"</a:t>
            </a:r>
            <a:r>
              <a:rPr/>
              <a:t>와 </a:t>
            </a:r>
            <a:r>
              <a:rPr>
                <a:latin typeface="Consolas"/>
              </a:rPr>
              <a:t>5</a:t>
            </a:r>
            <a:r>
              <a:rPr/>
              <a:t>는 어떻게 다른가요?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NA</a:t>
            </a:r>
            <a:r>
              <a:rPr/>
              <a:t>와 0은 어떻게 다른가요?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only.pos = TRUE</a:t>
            </a:r>
            <a:r>
              <a:rPr/>
              <a:t>에서 </a:t>
            </a:r>
            <a:r>
              <a:rPr>
                <a:latin typeface="Consolas"/>
              </a:rPr>
              <a:t>TRUE</a:t>
            </a:r>
            <a:r>
              <a:rPr/>
              <a:t>는 어떤 자료형인가요?</a:t>
            </a:r>
          </a:p>
          <a:p>
            <a:pPr lvl="0" indent="-457200" marL="457200">
              <a:buAutoNum type="arabicPeriod"/>
            </a:pPr>
            <a:r>
              <a:rPr/>
              <a:t>Seurat cluster identity에 factor가 유용한 이유는 무엇인가요?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회차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한 개의 값이 아니라 여러 유전자와 여러 QC 값을 한 번에 다루기 위해 </a:t>
            </a:r>
            <a:r>
              <a:rPr b="1"/>
              <a:t>벡터</a:t>
            </a:r>
            <a:r>
              <a:rPr/>
              <a:t>를 배웁니다.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Pretendard</vt:lpstr>
      <vt:lpstr>맑은 고딕</vt:lpstr>
      <vt:lpstr>Arial</vt:lpstr>
      <vt:lpstr>Consolas</vt:lpstr>
      <vt:lpstr>Office 테마</vt:lpstr>
      <vt:lpstr>Seurat 분석을 위한 R 프로그래밍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값, 변수, 기본 자료형</dc:title>
  <dc:creator>3회차</dc:creator>
  <cp:keywords/>
  <dcterms:created xsi:type="dcterms:W3CDTF">2026-07-13T14:36:48Z</dcterms:created>
  <dcterms:modified xsi:type="dcterms:W3CDTF">2026-07-13T14:36:48Z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분석 파라미터가 R에서 표현되는 방식</vt:lpwstr>
  </property>
  <property fmtid="{D5CDD505-2E9C-101B-9397-08002B2CF9AE}" pid="10" name="toc-title">
    <vt:lpwstr>목차</vt:lpwstr>
  </property>
</Properties>
</file>