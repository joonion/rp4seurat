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ko-KR"/>
    </a:defPPr>
    <a:lvl1pPr algn="l" defTabSz="914400" eaLnBrk="1" hangingPunct="1" latinLnBrk="1" marL="0" rtl="0">
      <a:defRPr altLang="en-US" b="1" kern="1200" lang="ko-KR" sz="3000">
        <a:solidFill>
          <a:srgbClr val="172033"/>
        </a:solidFill>
        <a:latin charset="-127" panose="02000503000000020004" pitchFamily="50" typeface="Pretendard"/>
        <a:ea charset="-127" panose="02000503000000020004" pitchFamily="50" typeface="Pretendard"/>
        <a:cs typeface="+mn-cs"/>
      </a:defRPr>
    </a:lvl1pPr>
    <a:lvl2pPr algn="l" defTabSz="914400" eaLnBrk="1" hangingPunct="1" latinLnBrk="1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1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1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1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1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1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1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1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15620"/>
    <p:restoredTop sz="94660"/>
  </p:normalViewPr>
  <p:slideViewPr>
    <p:cSldViewPr showGuides="1" snapToGrid="0">
      <p:cViewPr varScale="1">
        <p:scale>
          <a:sx d="100" n="113"/>
          <a:sy d="100" n="113"/>
        </p:scale>
        <p:origin x="312" y="108"/>
      </p:cViewPr>
      <p:guideLst>
        <p:guide orient="horz" pos="2160"/>
        <p:guide pos="3840"/>
      </p:guideLst>
    </p:cSldViewPr>
  </p:slideViewPr>
  <p:notesTextViewPr>
    <p:cViewPr>
      <p:scale>
        <a:sx d="1" n="1"/>
        <a:sy d="1" n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6" Type="http://schemas.openxmlformats.org/officeDocument/2006/relationships/tableStyles" Target="tableStyles.xml" /><Relationship Id="rId25" Type="http://schemas.openxmlformats.org/officeDocument/2006/relationships/theme" Target="theme/theme1.xml" /><Relationship Id="rId24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D9272C-EBA3-439B-9FBC-CB759BCF57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36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692FF77-EB2E-4A97-8418-D170E6986A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 b="0">
                <a:solidFill>
                  <a:srgbClr val="0F766E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3AE61F1-720A-4C21-B65B-4A3173A2C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C1111F-D4A6-4DDC-A3B6-DB854C09A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E00F29-6221-4882-B252-1E5B86612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0397973-2611-47C1-943B-471D9636F684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7827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4199D-F8B6-4376-AF86-1ED687BC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931AF5-90FD-42EA-9606-6F13AE9C3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0751E4-C413-4C31-916D-AB62A51B2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E3C44C-83FE-40C7-A9AC-6676312F0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195D92-E097-41F5-BBDA-309FAD9A0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AB2DA81-A7AC-4FA3-9E79-EA52F99DCEB9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83543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Exercise">
    <p:bg>
      <p:bgPr>
        <a:solidFill>
          <a:srgbClr val="17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4199D-F8B6-4376-AF86-1ED687BC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 b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931AF5-90FD-42EA-9606-6F13AE9C3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0751E4-C413-4C31-916D-AB62A51B2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E3C44C-83FE-40C7-A9AC-6676312F0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195D92-E097-41F5-BBDA-309FAD9A0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3D15491-48F6-48DC-A8A0-6ED609435487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6E432EE-5CB6-4863-B2FE-2722A5E85385}"/>
              </a:ext>
            </a:extLst>
          </p:cNvPr>
          <p:cNvSpPr/>
          <p:nvPr userDrawn="1"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2A3998-CCB3-4584-A130-14F2F23D1501}"/>
              </a:ext>
            </a:extLst>
          </p:cNvPr>
          <p:cNvSpPr txBox="1"/>
          <p:nvPr userDrawn="1"/>
        </p:nvSpPr>
        <p:spPr>
          <a:xfrm>
            <a:off x="508000" y="990600"/>
            <a:ext cx="228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100" b="1">
                <a:solidFill>
                  <a:srgbClr val="0F766E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PRACTICE</a:t>
            </a:r>
            <a:endParaRPr lang="ko-KR" altLang="en-US" sz="1100" b="1">
              <a:solidFill>
                <a:srgbClr val="0F766E"/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46355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de / Demonstration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4199D-F8B6-4376-AF86-1ED687BC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931AF5-90FD-42EA-9606-6F13AE9C3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0751E4-C413-4C31-916D-AB62A51B2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E3C44C-83FE-40C7-A9AC-6676312F0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195D92-E097-41F5-BBDA-309FAD9A0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93B7E7E-5A4C-4700-AE76-29AD4945D71B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962B536-2756-4475-B870-BA08607C731E}"/>
              </a:ext>
            </a:extLst>
          </p:cNvPr>
          <p:cNvSpPr/>
          <p:nvPr userDrawn="1"/>
        </p:nvSpPr>
        <p:spPr>
          <a:xfrm>
            <a:off x="457200" y="1422400"/>
            <a:ext cx="11277600" cy="457200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6854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EC3834-6561-4D02-93C1-AF78EEF81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D4036D5-7428-404C-AA58-099C3A1A0D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>
            <a:normAutofit/>
          </a:bodyPr>
          <a:lstStyle>
            <a:lvl1pPr marL="0" indent="0">
              <a:lnSpc>
                <a:spcPct val="108000"/>
              </a:lnSpc>
              <a:spcAft>
                <a:spcPts val="700"/>
              </a:spcAft>
              <a:buNone/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8F5C39C-67C1-44B4-9DC0-87890F2E8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DAB0A8-1703-40BE-B958-3AF10F150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B6EA6A-FC56-49B5-9E49-66A8A6585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521858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655F8304-2049-41FC-AAD9-BBD4A8F343F4}"/>
              </a:ext>
            </a:extLst>
          </p:cNvPr>
          <p:cNvSpPr/>
          <p:nvPr userDrawn="1"/>
        </p:nvSpPr>
        <p:spPr>
          <a:xfrm>
            <a:off x="457200" y="1219200"/>
            <a:ext cx="76200" cy="28448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B3710CA-8068-42D2-85EE-BD68F5F1BCA0}"/>
              </a:ext>
            </a:extLst>
          </p:cNvPr>
          <p:cNvSpPr/>
          <p:nvPr userDrawn="1"/>
        </p:nvSpPr>
        <p:spPr>
          <a:xfrm>
            <a:off x="457200" y="1219200"/>
            <a:ext cx="11277600" cy="28448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>
            <a:normAutofit/>
          </a:bodyPr>
          <a:lstStyle>
            <a:lvl1pPr>
              <a:defRPr sz="28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346200"/>
            <a:ext cx="10972800" cy="2565400"/>
          </a:xfrm>
        </p:spPr>
        <p:txBody>
          <a:bodyPr lIns="127000" tIns="101600" rIns="127000" bIns="101600"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4191000"/>
            <a:ext cx="10972800" cy="2133600"/>
          </a:xfrm>
        </p:spPr>
        <p:txBody>
          <a:bodyPr lIns="50800" tIns="50800" rIns="50800" bIns="50800"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73935DD-ACEE-45E4-B4BD-30A3D4277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3504E98-A62B-4D8C-99F6-C814548CD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A786A78-DB35-4F2F-9B87-1F1B7CD39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4AF2B1A-0DE5-485A-8240-C74CB4588F13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8738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3D97CC56-799F-4D9D-A45B-9371D2E101D6}"/>
              </a:ext>
            </a:extLst>
          </p:cNvPr>
          <p:cNvSpPr/>
          <p:nvPr userDrawn="1"/>
        </p:nvSpPr>
        <p:spPr>
          <a:xfrm>
            <a:off x="457200" y="1219200"/>
            <a:ext cx="76200" cy="28448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F53997F-2273-41DA-8EE8-A0580C37D1D4}"/>
              </a:ext>
            </a:extLst>
          </p:cNvPr>
          <p:cNvSpPr/>
          <p:nvPr userDrawn="1"/>
        </p:nvSpPr>
        <p:spPr>
          <a:xfrm>
            <a:off x="457200" y="1219200"/>
            <a:ext cx="11277600" cy="28448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75C9BF5-D4CA-4A9D-B3CC-3696C2D93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>
            <a:normAutofit/>
          </a:bodyPr>
          <a:lstStyle>
            <a:lvl1pPr>
              <a:defRPr sz="28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578CD79-4472-4851-AC47-52064FC300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599" y="1346200"/>
            <a:ext cx="10972800" cy="2565400"/>
          </a:xfrm>
        </p:spPr>
        <p:txBody>
          <a:bodyPr lIns="127000" tIns="101600" rIns="127000" bIns="101600" anchor="b">
            <a:normAutofit/>
          </a:bodyPr>
          <a:lstStyle>
            <a:lvl1pPr marL="0" indent="0">
              <a:lnSpc>
                <a:spcPct val="108000"/>
              </a:lnSpc>
              <a:spcAft>
                <a:spcPts val="700"/>
              </a:spcAft>
              <a:buNone/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B73B0A-7F59-43AC-9270-C8D4A2516F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599" y="4191000"/>
            <a:ext cx="10972800" cy="2133600"/>
          </a:xfrm>
        </p:spPr>
        <p:txBody>
          <a:bodyPr lIns="50800" tIns="50800" rIns="50800" bIns="50800"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F9A5DDC-261E-408E-BADA-468297FD91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lnSpc>
                <a:spcPct val="108000"/>
              </a:lnSpc>
              <a:spcAft>
                <a:spcPts val="700"/>
              </a:spcAft>
              <a:buNone/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8856005-C35C-4F30-A01E-196A8E43C0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F8CBD36-65BD-4C30-B17A-68E5F6877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8A2EF8E-2996-4A35-8C23-84C859128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053470C-DA9C-40AF-96D1-2A8D0EF20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82EC9CC-BF5B-4E49-A6C9-A08698C07BCD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8190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3C0489-8C81-4D6D-B4F9-EA760530F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648D865-27F4-495D-A14B-C12A33E75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F2FB284-B061-4C21-B170-7E66007B3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59104D2-2EA7-4CBD-B23E-93D72DC3A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B1121AD-A0CB-4A20-A461-5A3908089EC5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823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F2C04E2-1016-4EC9-9574-FE6DF2B2C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7B6236A-F372-438E-A07C-98AFC2C47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43BE033-D2B2-4FBA-A6A6-0E19F0688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24749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E4450C-D018-44C1-BF1C-753E0C5CC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83CC7B-F271-4AC1-9EBC-D504D6AE78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5E24BF8-9A5E-403C-A1BD-AD5AFCC795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lnSpc>
                <a:spcPct val="108000"/>
              </a:lnSpc>
              <a:spcAft>
                <a:spcPts val="700"/>
              </a:spcAft>
              <a:buNone/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2574247-A0BB-4FEA-9973-F0E5AD8ED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9E29ADC-9C2C-4ABB-B96B-8C4F0D2DA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A3613E9-8945-40A0-8AE9-B5D084C0E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FD7A986-9CE7-4C62-BE39-AB5D7A9A148F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9489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F5D591-4783-4DD1-BB9D-F95977F42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E6F4968-9ADA-494A-B384-CE62B10D5C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87E7F8D-E247-4863-9BFD-7C2911B3FA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lnSpc>
                <a:spcPct val="108000"/>
              </a:lnSpc>
              <a:spcAft>
                <a:spcPts val="700"/>
              </a:spcAft>
              <a:buNone/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554F979-D8CF-4A5F-8B60-F0EE50B15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8613FAA-406C-4B34-8790-CFCBEF6A8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F039A12-A651-4662-B40E-01F9A7081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CF12B4F-4BFE-41D8-9969-EDB74A3B708E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67329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ACF20E-706F-46A0-99C2-4FFA67BEE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C780F76-4475-4560-B091-7250390A72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48C844E-8C08-458B-8407-8DF80561B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F677E75-4ACA-4778-9FC7-7FD3DC325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ED23534-6728-491E-B8CE-2616A58E9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BC5A219-0890-49AF-A3E5-E99E3E47A6D6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46038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F077ED7-0604-4A79-A160-68FA9D6714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1C85836-7B81-414B-9733-503CB9C078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C41591-9FD7-48AB-87A6-0BEA46B0D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E6F33A1-2948-4A7E-AB5F-1532ED6FD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BE4748-2F81-4DE5-956A-B333238A5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C8C4CB4-E15A-4ACC-8111-C79334CE8D0D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5939681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theme/theme1.xml" Type="http://schemas.openxmlformats.org/officeDocument/2006/relationships/theme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E495588-4790-461A-B72E-3E4D7D347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altLang="en-US" lang="ko-KR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273A353-2D16-47F2-BB23-23C5D300AA04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altLang="en-US" lang="ko-KR"/>
              <a:t>마스터 텍스트 스타일을 편집하려면 클릭</a:t>
            </a:r>
          </a:p>
          <a:p>
            <a:pPr lvl="1"/>
            <a:r>
              <a:rPr altLang="en-US" lang="ko-KR"/>
              <a:t>두 번째 수준</a:t>
            </a:r>
          </a:p>
          <a:p>
            <a:pPr lvl="2"/>
            <a:r>
              <a:rPr altLang="en-US" lang="ko-KR"/>
              <a:t>세 번째 수준</a:t>
            </a:r>
          </a:p>
          <a:p>
            <a:pPr lvl="3"/>
            <a:r>
              <a:rPr altLang="en-US" lang="ko-KR"/>
              <a:t>네 번째 수준</a:t>
            </a:r>
          </a:p>
          <a:p>
            <a:pPr lvl="4"/>
            <a:r>
              <a:rPr altLang="en-US" lang="ko-KR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62BD76-130E-46EA-BF79-C98F1CC53903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b="0" sz="900">
                <a:solidFill>
                  <a:srgbClr val="526077"/>
                </a:solidFill>
                <a:latin charset="-127" panose="02000503000000020004" pitchFamily="50" typeface="Pretendard"/>
                <a:ea charset="-127" panose="02000503000000020004" pitchFamily="50" typeface="Pretendard"/>
              </a:defRPr>
            </a:lvl1pPr>
          </a:lstStyle>
          <a:p>
            <a:fld id="{9D35394C-156E-482D-9CB9-8B56DD9F82D9}" type="datetimeFigureOut">
              <a:rPr altLang="ko-KR" lang="en-US" smtClean="0"/>
              <a:pPr/>
              <a:t>2026-07-13</a:t>
            </a:fld>
            <a:endParaRPr altLang="ko-KR"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BD33F89-0CF3-4F77-AEF8-F1BC23221316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b="0" sz="900">
                <a:solidFill>
                  <a:srgbClr val="526077"/>
                </a:solidFill>
                <a:latin charset="-127" panose="02000503000000020004" pitchFamily="50" typeface="Pretendard"/>
                <a:ea charset="-127" panose="02000503000000020004" pitchFamily="50" typeface="Pretendard"/>
              </a:defRPr>
            </a:lvl1pPr>
          </a:lstStyle>
          <a:p>
            <a:endParaRPr altLang="en-US" 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479EA8-5A3E-4BA3-A094-1929D80D3EE9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b="0" sz="900">
                <a:solidFill>
                  <a:srgbClr val="526077"/>
                </a:solidFill>
                <a:latin charset="-127" panose="02000503000000020004" pitchFamily="50" typeface="Pretendard"/>
                <a:ea charset="-127" panose="02000503000000020004" pitchFamily="50" typeface="Pretendard"/>
              </a:defRPr>
            </a:lvl1pPr>
          </a:lstStyle>
          <a:p>
            <a:fld id="{31FD3EBB-2A0A-4C5A-9F34-FCE5E973995F}" type="slidenum">
              <a:rPr altLang="ko-KR" lang="en-US" smtClean="0"/>
              <a:pPr/>
              <a:t>‹#›</a:t>
            </a:fld>
            <a:endParaRPr altLang="ko-KR" lang="en-US"/>
          </a:p>
        </p:txBody>
      </p:sp>
    </p:spTree>
    <p:extLst>
      <p:ext uri="{BB962C8B-B14F-4D97-AF65-F5344CB8AC3E}">
        <p14:creationId xmlns:p14="http://schemas.microsoft.com/office/powerpoint/2010/main" val="87431097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61" r:id="rId3"/>
    <p:sldLayoutId id="214748366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txStyles>
    <p:titleStyle>
      <a:lvl1pPr algn="l" defTabSz="914400" eaLnBrk="1" hangingPunct="1" latinLnBrk="1" rtl="0">
        <a:lnSpc>
          <a:spcPct val="108000"/>
        </a:lnSpc>
        <a:spcBef>
          <a:spcPct val="0"/>
        </a:spcBef>
        <a:spcAft>
          <a:spcPts val="700"/>
        </a:spcAft>
        <a:buNone/>
        <a:defRPr b="0" kern="1200" sz="20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j-cs"/>
        </a:defRPr>
      </a:lvl1pPr>
    </p:titleStyle>
    <p:bodyStyle>
      <a:lvl1pPr algn="l" defTabSz="914400" eaLnBrk="1" hangingPunct="1" indent="-228600" latinLnBrk="1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b="0" kern="1200" sz="18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n-cs"/>
        </a:defRPr>
      </a:lvl1pPr>
      <a:lvl2pPr algn="l" defTabSz="914400" eaLnBrk="1" hangingPunct="1" indent="-228600" latinLnBrk="1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b="0" kern="1200" sz="18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n-cs"/>
        </a:defRPr>
      </a:lvl2pPr>
      <a:lvl3pPr algn="l" defTabSz="914400" eaLnBrk="1" hangingPunct="1" indent="-228600" latinLnBrk="1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b="0" kern="1200" sz="18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n-cs"/>
        </a:defRPr>
      </a:lvl3pPr>
      <a:lvl4pPr algn="l" defTabSz="914400" eaLnBrk="1" hangingPunct="1" indent="-228600" latinLnBrk="1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b="0" kern="1200" sz="18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n-cs"/>
        </a:defRPr>
      </a:lvl4pPr>
      <a:lvl5pPr algn="l" defTabSz="914400" eaLnBrk="1" hangingPunct="1" indent="-228600" latinLnBrk="1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b="0" kern="1200" sz="18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n-cs"/>
        </a:defRPr>
      </a:lvl5pPr>
      <a:lvl6pPr algn="l" defTabSz="914400" eaLnBrk="1" hangingPunct="1" indent="-228600" latinLnBrk="1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1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1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1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algn="l" defTabSz="914400" eaLnBrk="1" hangingPunct="1" latinLnBrk="1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1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1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1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1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1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1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1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1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D9272C-EBA3-439B-9FBC-CB759BCF57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05000"/>
            <a:ext cx="9144000" cy="14224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벡터와 벡터화 연산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692FF77-EB2E-4A97-8418-D170E6986AF0}"/>
              </a:ext>
            </a:extLst>
          </p:cNvPr>
          <p:cNvSpPr>
            <a:spLocks noGrp="1"/>
          </p:cNvSpPr>
          <p:nvPr>
            <p:ph idx="1" type="subTitle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pPr lvl="0" indent="0" marL="0">
              <a:buNone/>
            </a:pPr>
            <a:r>
              <a:rPr/>
              <a:t>유전자 목록과 세포별 QC 값 다루기</a:t>
            </a:r>
          </a:p>
        </p:txBody>
      </p:sp>
      <p:sp>
        <p:nvSpPr>
          <p:cNvPr id="4" name="Lesson Label"/>
          <p:cNvSpPr txBox="1"/>
          <p:nvPr/>
        </p:nvSpPr>
        <p:spPr>
          <a:xfrm>
            <a:off x="1524000" y="863600"/>
            <a:ext cx="9144000" cy="787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/>
          <a:p>
            <a:pPr algn="l"/>
            <a:r>
              <a:rPr lang="ko-KR" sz="3600" b="1">
                <a:solidFill>
                  <a:srgbClr val="2563EB"/>
                </a:solidFill>
                <a:latin typeface="Pretendard"/>
                <a:ea typeface="Pretendard"/>
                <a:cs typeface="Pretendard"/>
              </a:rPr>
              <a:t>4회차</a:t>
            </a:r>
            <a:endParaRPr lang="ko-KR" sz="3600"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4199D-F8B6-4376-AF86-1ED687BC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오늘의 학습 목표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931AF5-90FD-42EA-9606-6F13AE9C3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/>
              <a:t>벡터를 만들고 위치, 이름, 논리 조건으로 원소를 선택할 수 있다.</a:t>
            </a:r>
          </a:p>
          <a:p>
            <a:pPr lvl="0" indent="-457200" marL="457200">
              <a:buAutoNum type="arabicPeriod"/>
            </a:pPr>
            <a:r>
              <a:rPr/>
              <a:t>산술·비교·논리 연산을 벡터에 적용할 수 있다.</a:t>
            </a:r>
          </a:p>
          <a:p>
            <a:pPr lvl="0" indent="-457200" marL="457200">
              <a:buAutoNum type="arabicPeriod"/>
            </a:pPr>
            <a:r>
              <a:rPr/>
              <a:t>유전자 목록과 세포별 QC 값을 벡터로 해석하고 필터링할 수 있다.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1회차 코드에서 벡터를 사용했습니다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features &lt;- </a:t>
            </a:r>
            <a:r>
              <a:rPr>
                <a:solidFill>
                  <a:srgbClr val="4758AB"/>
                </a:solidFill>
                <a:latin typeface="Consolas"/>
              </a:rPr>
              <a:t>c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20794D"/>
                </a:solidFill>
                <a:latin typeface="Consolas"/>
              </a:rPr>
              <a:t>"nFeature_RNA"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20794D"/>
                </a:solidFill>
                <a:latin typeface="Consolas"/>
              </a:rPr>
              <a:t>"nCount_RNA"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20794D"/>
                </a:solidFill>
                <a:latin typeface="Consolas"/>
              </a:rPr>
              <a:t>"percent.mt"</a:t>
            </a:r>
            <a:r>
              <a:rPr>
                <a:solidFill>
                  <a:srgbClr val="003B4F"/>
                </a:solidFill>
                <a:latin typeface="Consolas"/>
              </a:rPr>
              <a:t>)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dims &lt;- </a:t>
            </a:r>
            <a:r>
              <a:rPr>
                <a:solidFill>
                  <a:srgbClr val="AD0000"/>
                </a:solidFill>
                <a:latin typeface="Consolas"/>
              </a:rPr>
              <a:t>1</a:t>
            </a:r>
            <a:r>
              <a:rPr>
                <a:solidFill>
                  <a:srgbClr val="5E5E5E"/>
                </a:solidFill>
                <a:latin typeface="Consolas"/>
              </a:rPr>
              <a:t>:</a:t>
            </a:r>
            <a:r>
              <a:rPr>
                <a:solidFill>
                  <a:srgbClr val="AD0000"/>
                </a:solidFill>
                <a:latin typeface="Consolas"/>
              </a:rPr>
              <a:t>10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markers &lt;- </a:t>
            </a:r>
            <a:r>
              <a:rPr>
                <a:solidFill>
                  <a:srgbClr val="4758AB"/>
                </a:solidFill>
                <a:latin typeface="Consolas"/>
              </a:rPr>
              <a:t>c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20794D"/>
                </a:solidFill>
                <a:latin typeface="Consolas"/>
              </a:rPr>
              <a:t>"MS4A1"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20794D"/>
                </a:solidFill>
                <a:latin typeface="Consolas"/>
              </a:rPr>
              <a:t>"GNLY"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20794D"/>
                </a:solidFill>
                <a:latin typeface="Consolas"/>
              </a:rPr>
              <a:t>"CD3E"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20794D"/>
                </a:solidFill>
                <a:latin typeface="Consolas"/>
              </a:rPr>
              <a:t>"CD14"</a:t>
            </a:r>
            <a:r>
              <a:rPr>
                <a:solidFill>
                  <a:srgbClr val="003B4F"/>
                </a:solidFill>
                <a:latin typeface="Consolas"/>
              </a:rPr>
              <a:t>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벡터는 </a:t>
            </a:r>
            <a:r>
              <a:rPr b="1"/>
              <a:t>같은 기본 자료형의 값 여러 개를 순서대로 저장</a:t>
            </a:r>
            <a:r>
              <a:rPr/>
              <a:t>합니다.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c()로 값을 결합합니다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marker_genes &lt;- </a:t>
            </a:r>
            <a:r>
              <a:rPr>
                <a:solidFill>
                  <a:srgbClr val="4758AB"/>
                </a:solidFill>
                <a:latin typeface="Consolas"/>
              </a:rPr>
              <a:t>c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20794D"/>
                </a:solidFill>
                <a:latin typeface="Consolas"/>
              </a:rPr>
              <a:t>"MS4A1"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20794D"/>
                </a:solidFill>
                <a:latin typeface="Consolas"/>
              </a:rPr>
              <a:t>"CD79A"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20794D"/>
                </a:solidFill>
                <a:latin typeface="Consolas"/>
              </a:rPr>
              <a:t>"CD37"</a:t>
            </a:r>
            <a:r>
              <a:rPr>
                <a:solidFill>
                  <a:srgbClr val="003B4F"/>
                </a:solidFill>
                <a:latin typeface="Consolas"/>
              </a:rPr>
              <a:t>)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qc_cutoffs &lt;- </a:t>
            </a:r>
            <a:r>
              <a:rPr>
                <a:solidFill>
                  <a:srgbClr val="4758AB"/>
                </a:solidFill>
                <a:latin typeface="Consolas"/>
              </a:rPr>
              <a:t>c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AD0000"/>
                </a:solidFill>
                <a:latin typeface="Consolas"/>
              </a:rPr>
              <a:t>200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AD0000"/>
                </a:solidFill>
                <a:latin typeface="Consolas"/>
              </a:rPr>
              <a:t>2500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AD0000"/>
                </a:solidFill>
                <a:latin typeface="Consolas"/>
              </a:rPr>
              <a:t>5</a:t>
            </a:r>
            <a:r>
              <a:rPr>
                <a:solidFill>
                  <a:srgbClr val="003B4F"/>
                </a:solidFill>
                <a:latin typeface="Consolas"/>
              </a:rPr>
              <a:t>)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nsolas"/>
              </a:rPr>
              <a:t>length</a:t>
            </a:r>
            <a:r>
              <a:rPr>
                <a:solidFill>
                  <a:srgbClr val="003B4F"/>
                </a:solidFill>
                <a:latin typeface="Consolas"/>
              </a:rPr>
              <a:t>(marker_genes)</a:t>
            </a:r>
            <a:br/>
            <a:r>
              <a:rPr>
                <a:solidFill>
                  <a:srgbClr val="4758AB"/>
                </a:solidFill>
                <a:latin typeface="Consolas"/>
              </a:rPr>
              <a:t>class</a:t>
            </a:r>
            <a:r>
              <a:rPr>
                <a:solidFill>
                  <a:srgbClr val="003B4F"/>
                </a:solidFill>
                <a:latin typeface="Consolas"/>
              </a:rPr>
              <a:t>(marker_genes)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nsolas"/>
              </a:rPr>
              <a:t>c</a:t>
            </a:r>
            <a:r>
              <a:rPr/>
              <a:t>는 combine 또는 concatenate를 뜻합니다.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한 벡터는 하나의 기본 자료형을 가집니다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mixed &lt;- </a:t>
            </a:r>
            <a:r>
              <a:rPr>
                <a:solidFill>
                  <a:srgbClr val="4758AB"/>
                </a:solidFill>
                <a:latin typeface="Consolas"/>
              </a:rPr>
              <a:t>c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AD0000"/>
                </a:solidFill>
                <a:latin typeface="Consolas"/>
              </a:rPr>
              <a:t>200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20794D"/>
                </a:solidFill>
                <a:latin typeface="Consolas"/>
              </a:rPr>
              <a:t>"MS4A1"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8F5902"/>
                </a:solidFill>
                <a:latin typeface="Consolas"/>
              </a:rPr>
              <a:t>TRUE</a:t>
            </a:r>
            <a:r>
              <a:rPr>
                <a:solidFill>
                  <a:srgbClr val="003B4F"/>
                </a:solidFill>
                <a:latin typeface="Consolas"/>
              </a:rPr>
              <a:t>)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mixed</a:t>
            </a:r>
            <a:br/>
            <a:r>
              <a:rPr>
                <a:solidFill>
                  <a:srgbClr val="4758AB"/>
                </a:solidFill>
                <a:latin typeface="Consolas"/>
              </a:rPr>
              <a:t>typeof</a:t>
            </a:r>
            <a:r>
              <a:rPr>
                <a:solidFill>
                  <a:srgbClr val="003B4F"/>
                </a:solidFill>
                <a:latin typeface="Consolas"/>
              </a:rPr>
              <a:t>(mixed)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서로 다른 자료형을 결합하면 더 넓게 표현할 수 있는 자료형으로 변환됩니다.</a:t>
            </a:r>
          </a:p>
          <a:p>
            <a:pPr lvl="0" indent="0" marL="0">
              <a:buNone/>
            </a:pPr>
            <a:r>
              <a:rPr/>
              <a:t>의도하지 않은 문자 변환은 이후 계산 오류의 원인이 됩니다.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연속된 숫자를 간단히 만듭니다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AD0000"/>
                </a:solidFill>
                <a:latin typeface="Consolas"/>
              </a:rPr>
              <a:t>1</a:t>
            </a:r>
            <a:r>
              <a:rPr>
                <a:solidFill>
                  <a:srgbClr val="5E5E5E"/>
                </a:solidFill>
                <a:latin typeface="Consolas"/>
              </a:rPr>
              <a:t>:</a:t>
            </a:r>
            <a:r>
              <a:rPr>
                <a:solidFill>
                  <a:srgbClr val="AD0000"/>
                </a:solidFill>
                <a:latin typeface="Consolas"/>
              </a:rPr>
              <a:t>10</a:t>
            </a:r>
            <a:br/>
            <a:r>
              <a:rPr>
                <a:solidFill>
                  <a:srgbClr val="4758AB"/>
                </a:solidFill>
                <a:latin typeface="Consolas"/>
              </a:rPr>
              <a:t>seq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657422"/>
                </a:solidFill>
                <a:latin typeface="Consolas"/>
              </a:rPr>
              <a:t>from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0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657422"/>
                </a:solidFill>
                <a:latin typeface="Consolas"/>
              </a:rPr>
              <a:t>to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1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657422"/>
                </a:solidFill>
                <a:latin typeface="Consolas"/>
              </a:rPr>
              <a:t>by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0.2</a:t>
            </a:r>
            <a:r>
              <a:rPr>
                <a:solidFill>
                  <a:srgbClr val="003B4F"/>
                </a:solidFill>
                <a:latin typeface="Consolas"/>
              </a:rPr>
              <a:t>)</a:t>
            </a:r>
            <a:br/>
            <a:r>
              <a:rPr>
                <a:solidFill>
                  <a:srgbClr val="4758AB"/>
                </a:solidFill>
                <a:latin typeface="Consolas"/>
              </a:rPr>
              <a:t>rep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AD0000"/>
                </a:solidFill>
                <a:latin typeface="Consolas"/>
              </a:rPr>
              <a:t>0.5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657422"/>
                </a:solidFill>
                <a:latin typeface="Consolas"/>
              </a:rPr>
              <a:t>times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4</a:t>
            </a:r>
            <a:r>
              <a:rPr>
                <a:solidFill>
                  <a:srgbClr val="003B4F"/>
                </a:solidFill>
                <a:latin typeface="Consolas"/>
              </a:rPr>
              <a:t>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>
                <a:latin typeface="Consolas"/>
              </a:rPr>
              <a:t>1:10</a:t>
            </a:r>
            <a:r>
              <a:rPr/>
              <a:t>: PC 1부터 PC 10까지</a:t>
            </a:r>
          </a:p>
          <a:p>
            <a:pPr lvl="0"/>
            <a:r>
              <a:rPr>
                <a:latin typeface="Consolas"/>
              </a:rPr>
              <a:t>seq()</a:t>
            </a:r>
            <a:r>
              <a:rPr/>
              <a:t>: 일정한 간격의 값</a:t>
            </a:r>
          </a:p>
          <a:p>
            <a:pPr lvl="0"/>
            <a:r>
              <a:rPr>
                <a:latin typeface="Consolas"/>
              </a:rPr>
              <a:t>rep()</a:t>
            </a:r>
            <a:r>
              <a:rPr/>
              <a:t>: 같은 값 반복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위치로 원소를 선택합니다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markers &lt;- </a:t>
            </a:r>
            <a:r>
              <a:rPr>
                <a:solidFill>
                  <a:srgbClr val="4758AB"/>
                </a:solidFill>
                <a:latin typeface="Consolas"/>
              </a:rPr>
              <a:t>c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20794D"/>
                </a:solidFill>
                <a:latin typeface="Consolas"/>
              </a:rPr>
              <a:t>"MS4A1"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20794D"/>
                </a:solidFill>
                <a:latin typeface="Consolas"/>
              </a:rPr>
              <a:t>"GNLY"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20794D"/>
                </a:solidFill>
                <a:latin typeface="Consolas"/>
              </a:rPr>
              <a:t>"CD3E"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20794D"/>
                </a:solidFill>
                <a:latin typeface="Consolas"/>
              </a:rPr>
              <a:t>"CD14"</a:t>
            </a:r>
            <a:r>
              <a:rPr>
                <a:solidFill>
                  <a:srgbClr val="003B4F"/>
                </a:solidFill>
                <a:latin typeface="Consolas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nsolas"/>
              </a:rPr>
              <a:t>markers[</a:t>
            </a:r>
            <a:r>
              <a:rPr>
                <a:solidFill>
                  <a:srgbClr val="AD0000"/>
                </a:solidFill>
                <a:latin typeface="Consolas"/>
              </a:rPr>
              <a:t>1</a:t>
            </a:r>
            <a:r>
              <a:rPr>
                <a:solidFill>
                  <a:srgbClr val="003B4F"/>
                </a:solidFill>
                <a:latin typeface="Consolas"/>
              </a:rPr>
              <a:t>]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markers[</a:t>
            </a:r>
            <a:r>
              <a:rPr>
                <a:solidFill>
                  <a:srgbClr val="4758AB"/>
                </a:solidFill>
                <a:latin typeface="Consolas"/>
              </a:rPr>
              <a:t>c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AD0000"/>
                </a:solidFill>
                <a:latin typeface="Consolas"/>
              </a:rPr>
              <a:t>1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AD0000"/>
                </a:solidFill>
                <a:latin typeface="Consolas"/>
              </a:rPr>
              <a:t>4</a:t>
            </a:r>
            <a:r>
              <a:rPr>
                <a:solidFill>
                  <a:srgbClr val="003B4F"/>
                </a:solidFill>
                <a:latin typeface="Consolas"/>
              </a:rPr>
              <a:t>)]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markers[</a:t>
            </a:r>
            <a:r>
              <a:rPr>
                <a:solidFill>
                  <a:srgbClr val="AD0000"/>
                </a:solidFill>
                <a:latin typeface="Consolas"/>
              </a:rPr>
              <a:t>2</a:t>
            </a:r>
            <a:r>
              <a:rPr>
                <a:solidFill>
                  <a:srgbClr val="5E5E5E"/>
                </a:solidFill>
                <a:latin typeface="Consolas"/>
              </a:rPr>
              <a:t>:</a:t>
            </a:r>
            <a:r>
              <a:rPr>
                <a:solidFill>
                  <a:srgbClr val="AD0000"/>
                </a:solidFill>
                <a:latin typeface="Consolas"/>
              </a:rPr>
              <a:t>3</a:t>
            </a:r>
            <a:r>
              <a:rPr>
                <a:solidFill>
                  <a:srgbClr val="003B4F"/>
                </a:solidFill>
                <a:latin typeface="Consolas"/>
              </a:rPr>
              <a:t>]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R의 첫 번째 위치는 0이 아니라 </a:t>
            </a:r>
            <a:r>
              <a:rPr b="1"/>
              <a:t>1</a:t>
            </a:r>
            <a:r>
              <a:rPr/>
              <a:t>입니다.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음수 위치는 원소를 제외합니다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markers[</a:t>
            </a:r>
            <a:r>
              <a:rPr>
                <a:solidFill>
                  <a:srgbClr val="5E5E5E"/>
                </a:solidFill>
                <a:latin typeface="Consolas"/>
              </a:rPr>
              <a:t>-</a:t>
            </a:r>
            <a:r>
              <a:rPr>
                <a:solidFill>
                  <a:srgbClr val="AD0000"/>
                </a:solidFill>
                <a:latin typeface="Consolas"/>
              </a:rPr>
              <a:t>1</a:t>
            </a:r>
            <a:r>
              <a:rPr>
                <a:solidFill>
                  <a:srgbClr val="003B4F"/>
                </a:solidFill>
                <a:latin typeface="Consolas"/>
              </a:rPr>
              <a:t>]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markers[</a:t>
            </a:r>
            <a:r>
              <a:rPr>
                <a:solidFill>
                  <a:srgbClr val="5E5E5E"/>
                </a:solidFill>
                <a:latin typeface="Consolas"/>
              </a:rPr>
              <a:t>-</a:t>
            </a:r>
            <a:r>
              <a:rPr>
                <a:solidFill>
                  <a:srgbClr val="4758AB"/>
                </a:solidFill>
                <a:latin typeface="Consolas"/>
              </a:rPr>
              <a:t>c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AD0000"/>
                </a:solidFill>
                <a:latin typeface="Consolas"/>
              </a:rPr>
              <a:t>2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AD0000"/>
                </a:solidFill>
                <a:latin typeface="Consolas"/>
              </a:rPr>
              <a:t>4</a:t>
            </a:r>
            <a:r>
              <a:rPr>
                <a:solidFill>
                  <a:srgbClr val="003B4F"/>
                </a:solidFill>
                <a:latin typeface="Consolas"/>
              </a:rPr>
              <a:t>)]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양수와 음수 인덱스를 한 번에 섞어 사용할 수 없습니다.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이름으로 원소를 선택합니다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qc_cutoffs &lt;- </a:t>
            </a:r>
            <a:r>
              <a:rPr>
                <a:solidFill>
                  <a:srgbClr val="4758AB"/>
                </a:solidFill>
                <a:latin typeface="Consolas"/>
              </a:rPr>
              <a:t>c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min_features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200</a:t>
            </a:r>
            <a:r>
              <a:rPr>
                <a:solidFill>
                  <a:srgbClr val="003B4F"/>
                </a:solidFill>
                <a:latin typeface="Consolas"/>
              </a:rPr>
              <a:t>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max_features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2500</a:t>
            </a:r>
            <a:r>
              <a:rPr>
                <a:solidFill>
                  <a:srgbClr val="003B4F"/>
                </a:solidFill>
                <a:latin typeface="Consolas"/>
              </a:rPr>
              <a:t>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max_percent_mt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5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nsolas"/>
              </a:rPr>
              <a:t>qc_cutoffs[</a:t>
            </a:r>
            <a:r>
              <a:rPr>
                <a:solidFill>
                  <a:srgbClr val="20794D"/>
                </a:solidFill>
                <a:latin typeface="Consolas"/>
              </a:rPr>
              <a:t>"max_percent_mt"</a:t>
            </a:r>
            <a:r>
              <a:rPr>
                <a:solidFill>
                  <a:srgbClr val="003B4F"/>
                </a:solidFill>
                <a:latin typeface="Consolas"/>
              </a:rPr>
              <a:t>]</a:t>
            </a:r>
            <a:br/>
            <a:r>
              <a:rPr>
                <a:solidFill>
                  <a:srgbClr val="4758AB"/>
                </a:solidFill>
                <a:latin typeface="Consolas"/>
              </a:rPr>
              <a:t>names</a:t>
            </a:r>
            <a:r>
              <a:rPr>
                <a:solidFill>
                  <a:srgbClr val="003B4F"/>
                </a:solidFill>
                <a:latin typeface="Consolas"/>
              </a:rPr>
              <a:t>(qc_cutoffs)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이름은 각 값의 의미를 코드 안에 남깁니다.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벡터 연산은 모든 원소에 적용됩니다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counts &lt;- </a:t>
            </a:r>
            <a:r>
              <a:rPr>
                <a:solidFill>
                  <a:srgbClr val="4758AB"/>
                </a:solidFill>
                <a:latin typeface="Consolas"/>
              </a:rPr>
              <a:t>c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AD0000"/>
                </a:solidFill>
                <a:latin typeface="Consolas"/>
              </a:rPr>
              <a:t>1000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AD0000"/>
                </a:solidFill>
                <a:latin typeface="Consolas"/>
              </a:rPr>
              <a:t>2500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AD0000"/>
                </a:solidFill>
                <a:latin typeface="Consolas"/>
              </a:rPr>
              <a:t>4000</a:t>
            </a:r>
            <a:r>
              <a:rPr>
                <a:solidFill>
                  <a:srgbClr val="003B4F"/>
                </a:solidFill>
                <a:latin typeface="Consolas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nsolas"/>
              </a:rPr>
              <a:t>counts </a:t>
            </a:r>
            <a:r>
              <a:rPr>
                <a:solidFill>
                  <a:srgbClr val="5E5E5E"/>
                </a:solidFill>
                <a:latin typeface="Consolas"/>
              </a:rPr>
              <a:t>/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1000</a:t>
            </a:r>
            <a:br/>
            <a:r>
              <a:rPr>
                <a:solidFill>
                  <a:srgbClr val="4758AB"/>
                </a:solidFill>
                <a:latin typeface="Consolas"/>
              </a:rPr>
              <a:t>log1p</a:t>
            </a:r>
            <a:r>
              <a:rPr>
                <a:solidFill>
                  <a:srgbClr val="003B4F"/>
                </a:solidFill>
                <a:latin typeface="Consolas"/>
              </a:rPr>
              <a:t>(counts)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counts </a:t>
            </a:r>
            <a:r>
              <a:rPr>
                <a:solidFill>
                  <a:srgbClr val="5E5E5E"/>
                </a:solidFill>
                <a:latin typeface="Consolas"/>
              </a:rPr>
              <a:t>&gt;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2000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반복문 없이도 여러 세포의 값에 같은 계산을 적용할 수 있습니다.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비교 결과는 logical 벡터입니다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n_features &lt;- </a:t>
            </a:r>
            <a:r>
              <a:rPr>
                <a:solidFill>
                  <a:srgbClr val="4758AB"/>
                </a:solidFill>
                <a:latin typeface="Consolas"/>
              </a:rPr>
              <a:t>c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AD0000"/>
                </a:solidFill>
                <a:latin typeface="Consolas"/>
              </a:rPr>
              <a:t>150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AD0000"/>
                </a:solidFill>
                <a:latin typeface="Consolas"/>
              </a:rPr>
              <a:t>500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AD0000"/>
                </a:solidFill>
                <a:latin typeface="Consolas"/>
              </a:rPr>
              <a:t>1200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AD0000"/>
                </a:solidFill>
                <a:latin typeface="Consolas"/>
              </a:rPr>
              <a:t>2800</a:t>
            </a:r>
            <a:r>
              <a:rPr>
                <a:solidFill>
                  <a:srgbClr val="003B4F"/>
                </a:solidFill>
                <a:latin typeface="Consolas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nsolas"/>
              </a:rPr>
              <a:t>n_features </a:t>
            </a:r>
            <a:r>
              <a:rPr>
                <a:solidFill>
                  <a:srgbClr val="5E5E5E"/>
                </a:solidFill>
                <a:latin typeface="Consolas"/>
              </a:rPr>
              <a:t>&gt;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200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n_features </a:t>
            </a:r>
            <a:r>
              <a:rPr>
                <a:solidFill>
                  <a:srgbClr val="5E5E5E"/>
                </a:solidFill>
                <a:latin typeface="Consolas"/>
              </a:rPr>
              <a:t>&lt;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2500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n_features </a:t>
            </a:r>
            <a:r>
              <a:rPr>
                <a:solidFill>
                  <a:srgbClr val="5E5E5E"/>
                </a:solidFill>
                <a:latin typeface="Consolas"/>
              </a:rPr>
              <a:t>&gt;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200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5E5E5E"/>
                </a:solidFill>
                <a:latin typeface="Consolas"/>
              </a:rPr>
              <a:t>&amp;</a:t>
            </a:r>
            <a:r>
              <a:rPr>
                <a:solidFill>
                  <a:srgbClr val="003B4F"/>
                </a:solidFill>
                <a:latin typeface="Consolas"/>
              </a:rPr>
              <a:t> n_features </a:t>
            </a:r>
            <a:r>
              <a:rPr>
                <a:solidFill>
                  <a:srgbClr val="5E5E5E"/>
                </a:solidFill>
                <a:latin typeface="Consolas"/>
              </a:rPr>
              <a:t>&lt;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2500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각 위치에서 조건을 만족하면 </a:t>
            </a:r>
            <a:r>
              <a:rPr>
                <a:latin typeface="Consolas"/>
              </a:rPr>
              <a:t>TRUE</a:t>
            </a:r>
            <a:r>
              <a:rPr/>
              <a:t>, 아니면 </a:t>
            </a:r>
            <a:r>
              <a:rPr>
                <a:latin typeface="Consolas"/>
              </a:rPr>
              <a:t>FALSE</a:t>
            </a:r>
            <a:r>
              <a:rPr/>
              <a:t>가 됩니다.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logical 벡터로 값을 필터링합니다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n_features &lt;- </a:t>
            </a:r>
            <a:r>
              <a:rPr>
                <a:solidFill>
                  <a:srgbClr val="4758AB"/>
                </a:solidFill>
                <a:latin typeface="Consolas"/>
              </a:rPr>
              <a:t>c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AD0000"/>
                </a:solidFill>
                <a:latin typeface="Consolas"/>
              </a:rPr>
              <a:t>150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AD0000"/>
                </a:solidFill>
                <a:latin typeface="Consolas"/>
              </a:rPr>
              <a:t>500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AD0000"/>
                </a:solidFill>
                <a:latin typeface="Consolas"/>
              </a:rPr>
              <a:t>1200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AD0000"/>
                </a:solidFill>
                <a:latin typeface="Consolas"/>
              </a:rPr>
              <a:t>2800</a:t>
            </a:r>
            <a:r>
              <a:rPr>
                <a:solidFill>
                  <a:srgbClr val="003B4F"/>
                </a:solidFill>
                <a:latin typeface="Consolas"/>
              </a:rPr>
              <a:t>)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keep &lt;- n_features </a:t>
            </a:r>
            <a:r>
              <a:rPr>
                <a:solidFill>
                  <a:srgbClr val="5E5E5E"/>
                </a:solidFill>
                <a:latin typeface="Consolas"/>
              </a:rPr>
              <a:t>&gt;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200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5E5E5E"/>
                </a:solidFill>
                <a:latin typeface="Consolas"/>
              </a:rPr>
              <a:t>&amp;</a:t>
            </a:r>
            <a:r>
              <a:rPr>
                <a:solidFill>
                  <a:srgbClr val="003B4F"/>
                </a:solidFill>
                <a:latin typeface="Consolas"/>
              </a:rPr>
              <a:t> n_features </a:t>
            </a:r>
            <a:r>
              <a:rPr>
                <a:solidFill>
                  <a:srgbClr val="5E5E5E"/>
                </a:solidFill>
                <a:latin typeface="Consolas"/>
              </a:rPr>
              <a:t>&lt;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2500</a:t>
            </a:r>
            <a:br/>
            <a:br/>
            <a:r>
              <a:rPr>
                <a:solidFill>
                  <a:srgbClr val="003B4F"/>
                </a:solidFill>
                <a:latin typeface="Consolas"/>
              </a:rPr>
              <a:t>n_features[keep]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이 패턴이 Seurat QC 필터링의 기초입니다.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%in%은 목록에 포함되는지 확인합니다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genes &lt;- </a:t>
            </a:r>
            <a:r>
              <a:rPr>
                <a:solidFill>
                  <a:srgbClr val="4758AB"/>
                </a:solidFill>
                <a:latin typeface="Consolas"/>
              </a:rPr>
              <a:t>c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20794D"/>
                </a:solidFill>
                <a:latin typeface="Consolas"/>
              </a:rPr>
              <a:t>"CD3D"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20794D"/>
                </a:solidFill>
                <a:latin typeface="Consolas"/>
              </a:rPr>
              <a:t>"MS4A1"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20794D"/>
                </a:solidFill>
                <a:latin typeface="Consolas"/>
              </a:rPr>
              <a:t>"GNLY"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20794D"/>
                </a:solidFill>
                <a:latin typeface="Consolas"/>
              </a:rPr>
              <a:t>"LYZ"</a:t>
            </a:r>
            <a:r>
              <a:rPr>
                <a:solidFill>
                  <a:srgbClr val="003B4F"/>
                </a:solidFill>
                <a:latin typeface="Consolas"/>
              </a:rPr>
              <a:t>)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b_cell_markers &lt;- </a:t>
            </a:r>
            <a:r>
              <a:rPr>
                <a:solidFill>
                  <a:srgbClr val="4758AB"/>
                </a:solidFill>
                <a:latin typeface="Consolas"/>
              </a:rPr>
              <a:t>c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20794D"/>
                </a:solidFill>
                <a:latin typeface="Consolas"/>
              </a:rPr>
              <a:t>"MS4A1"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20794D"/>
                </a:solidFill>
                <a:latin typeface="Consolas"/>
              </a:rPr>
              <a:t>"CD79A"</a:t>
            </a:r>
            <a:r>
              <a:rPr>
                <a:solidFill>
                  <a:srgbClr val="003B4F"/>
                </a:solidFill>
                <a:latin typeface="Consolas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nsolas"/>
              </a:rPr>
              <a:t>genes </a:t>
            </a:r>
            <a:r>
              <a:rPr>
                <a:solidFill>
                  <a:srgbClr val="5E5E5E"/>
                </a:solidFill>
                <a:latin typeface="Consolas"/>
              </a:rPr>
              <a:t>%in%</a:t>
            </a:r>
            <a:r>
              <a:rPr>
                <a:solidFill>
                  <a:srgbClr val="003B4F"/>
                </a:solidFill>
                <a:latin typeface="Consolas"/>
              </a:rPr>
              <a:t> b_cell_markers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genes[genes </a:t>
            </a:r>
            <a:r>
              <a:rPr>
                <a:solidFill>
                  <a:srgbClr val="5E5E5E"/>
                </a:solidFill>
                <a:latin typeface="Consolas"/>
              </a:rPr>
              <a:t>%in%</a:t>
            </a:r>
            <a:r>
              <a:rPr>
                <a:solidFill>
                  <a:srgbClr val="003B4F"/>
                </a:solidFill>
                <a:latin typeface="Consolas"/>
              </a:rPr>
              <a:t> b_cell_markers]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유전자 목록, 샘플 ID, cluster ID를 선택할 때 유용합니다.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which()는 TRUE의 위치를 반환합니다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percent_mt &lt;- </a:t>
            </a:r>
            <a:r>
              <a:rPr>
                <a:solidFill>
                  <a:srgbClr val="4758AB"/>
                </a:solidFill>
                <a:latin typeface="Consolas"/>
              </a:rPr>
              <a:t>c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AD0000"/>
                </a:solidFill>
                <a:latin typeface="Consolas"/>
              </a:rPr>
              <a:t>2.1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AD0000"/>
                </a:solidFill>
                <a:latin typeface="Consolas"/>
              </a:rPr>
              <a:t>7.3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AD0000"/>
                </a:solidFill>
                <a:latin typeface="Consolas"/>
              </a:rPr>
              <a:t>1.4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AD0000"/>
                </a:solidFill>
                <a:latin typeface="Consolas"/>
              </a:rPr>
              <a:t>6.2</a:t>
            </a:r>
            <a:r>
              <a:rPr>
                <a:solidFill>
                  <a:srgbClr val="003B4F"/>
                </a:solidFill>
                <a:latin typeface="Consolas"/>
              </a:rPr>
              <a:t>)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high_mt &lt;- percent_mt </a:t>
            </a:r>
            <a:r>
              <a:rPr>
                <a:solidFill>
                  <a:srgbClr val="5E5E5E"/>
                </a:solidFill>
                <a:latin typeface="Consolas"/>
              </a:rPr>
              <a:t>&gt;=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5</a:t>
            </a:r>
            <a:br/>
            <a:br/>
            <a:r>
              <a:rPr>
                <a:solidFill>
                  <a:srgbClr val="4758AB"/>
                </a:solidFill>
                <a:latin typeface="Consolas"/>
              </a:rPr>
              <a:t>which</a:t>
            </a:r>
            <a:r>
              <a:rPr>
                <a:solidFill>
                  <a:srgbClr val="003B4F"/>
                </a:solidFill>
                <a:latin typeface="Consolas"/>
              </a:rPr>
              <a:t>(high_mt)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percent_mt[high_mt]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필터링만 필요하면 logical 벡터를 직접 사용하는 편이 더 간단합니다.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결측값은 logical 조건에도 영향을 줍니다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percent_mt &lt;- </a:t>
            </a:r>
            <a:r>
              <a:rPr>
                <a:solidFill>
                  <a:srgbClr val="4758AB"/>
                </a:solidFill>
                <a:latin typeface="Consolas"/>
              </a:rPr>
              <a:t>c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AD0000"/>
                </a:solidFill>
                <a:latin typeface="Consolas"/>
              </a:rPr>
              <a:t>2.1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8F5902"/>
                </a:solidFill>
                <a:latin typeface="Consolas"/>
              </a:rPr>
              <a:t>NA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AD0000"/>
                </a:solidFill>
                <a:latin typeface="Consolas"/>
              </a:rPr>
              <a:t>1.4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AD0000"/>
                </a:solidFill>
                <a:latin typeface="Consolas"/>
              </a:rPr>
              <a:t>6.2</a:t>
            </a:r>
            <a:r>
              <a:rPr>
                <a:solidFill>
                  <a:srgbClr val="003B4F"/>
                </a:solidFill>
                <a:latin typeface="Consolas"/>
              </a:rPr>
              <a:t>)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percent_mt </a:t>
            </a:r>
            <a:r>
              <a:rPr>
                <a:solidFill>
                  <a:srgbClr val="5E5E5E"/>
                </a:solidFill>
                <a:latin typeface="Consolas"/>
              </a:rPr>
              <a:t>&lt;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5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keep &lt;- </a:t>
            </a:r>
            <a:r>
              <a:rPr>
                <a:solidFill>
                  <a:srgbClr val="5E5E5E"/>
                </a:solidFill>
                <a:latin typeface="Consolas"/>
              </a:rPr>
              <a:t>!</a:t>
            </a:r>
            <a:r>
              <a:rPr>
                <a:solidFill>
                  <a:srgbClr val="4758AB"/>
                </a:solidFill>
                <a:latin typeface="Consolas"/>
              </a:rPr>
              <a:t>is.na</a:t>
            </a:r>
            <a:r>
              <a:rPr>
                <a:solidFill>
                  <a:srgbClr val="003B4F"/>
                </a:solidFill>
                <a:latin typeface="Consolas"/>
              </a:rPr>
              <a:t>(percent_mt) </a:t>
            </a:r>
            <a:r>
              <a:rPr>
                <a:solidFill>
                  <a:srgbClr val="5E5E5E"/>
                </a:solidFill>
                <a:latin typeface="Consolas"/>
              </a:rPr>
              <a:t>&amp;</a:t>
            </a:r>
            <a:r>
              <a:rPr>
                <a:solidFill>
                  <a:srgbClr val="003B4F"/>
                </a:solidFill>
                <a:latin typeface="Consolas"/>
              </a:rPr>
              <a:t> percent_mt </a:t>
            </a:r>
            <a:r>
              <a:rPr>
                <a:solidFill>
                  <a:srgbClr val="5E5E5E"/>
                </a:solidFill>
                <a:latin typeface="Consolas"/>
              </a:rPr>
              <a:t>&lt;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5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percent_mt[keep]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nsolas"/>
              </a:rPr>
              <a:t>!</a:t>
            </a:r>
            <a:r>
              <a:rPr/>
              <a:t>는 logical 값을 반대로 바꿉니다.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벡터 길이가 다르면 recycling에 주의합니다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nsolas"/>
              </a:rPr>
              <a:t>c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AD0000"/>
                </a:solidFill>
                <a:latin typeface="Consolas"/>
              </a:rPr>
              <a:t>1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AD0000"/>
                </a:solidFill>
                <a:latin typeface="Consolas"/>
              </a:rPr>
              <a:t>2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AD0000"/>
                </a:solidFill>
                <a:latin typeface="Consolas"/>
              </a:rPr>
              <a:t>3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AD0000"/>
                </a:solidFill>
                <a:latin typeface="Consolas"/>
              </a:rPr>
              <a:t>4</a:t>
            </a:r>
            <a:r>
              <a:rPr>
                <a:solidFill>
                  <a:srgbClr val="003B4F"/>
                </a:solidFill>
                <a:latin typeface="Consolas"/>
              </a:rPr>
              <a:t>) </a:t>
            </a:r>
            <a:r>
              <a:rPr>
                <a:solidFill>
                  <a:srgbClr val="5E5E5E"/>
                </a:solidFill>
                <a:latin typeface="Consolas"/>
              </a:rPr>
              <a:t>+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4758AB"/>
                </a:solidFill>
                <a:latin typeface="Consolas"/>
              </a:rPr>
              <a:t>c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AD0000"/>
                </a:solidFill>
                <a:latin typeface="Consolas"/>
              </a:rPr>
              <a:t>10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AD0000"/>
                </a:solidFill>
                <a:latin typeface="Consolas"/>
              </a:rPr>
              <a:t>20</a:t>
            </a:r>
            <a:r>
              <a:rPr>
                <a:solidFill>
                  <a:srgbClr val="003B4F"/>
                </a:solidFill>
                <a:latin typeface="Consolas"/>
              </a:rPr>
              <a:t>)</a:t>
            </a:r>
            <a:br/>
            <a:r>
              <a:rPr>
                <a:solidFill>
                  <a:srgbClr val="4758AB"/>
                </a:solidFill>
                <a:latin typeface="Consolas"/>
              </a:rPr>
              <a:t>c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AD0000"/>
                </a:solidFill>
                <a:latin typeface="Consolas"/>
              </a:rPr>
              <a:t>1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AD0000"/>
                </a:solidFill>
                <a:latin typeface="Consolas"/>
              </a:rPr>
              <a:t>2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AD0000"/>
                </a:solidFill>
                <a:latin typeface="Consolas"/>
              </a:rPr>
              <a:t>3</a:t>
            </a:r>
            <a:r>
              <a:rPr>
                <a:solidFill>
                  <a:srgbClr val="003B4F"/>
                </a:solidFill>
                <a:latin typeface="Consolas"/>
              </a:rPr>
              <a:t>) </a:t>
            </a:r>
            <a:r>
              <a:rPr>
                <a:solidFill>
                  <a:srgbClr val="5E5E5E"/>
                </a:solidFill>
                <a:latin typeface="Consolas"/>
              </a:rPr>
              <a:t>+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4758AB"/>
                </a:solidFill>
                <a:latin typeface="Consolas"/>
              </a:rPr>
              <a:t>c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AD0000"/>
                </a:solidFill>
                <a:latin typeface="Consolas"/>
              </a:rPr>
              <a:t>10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AD0000"/>
                </a:solidFill>
                <a:latin typeface="Consolas"/>
              </a:rPr>
              <a:t>20</a:t>
            </a:r>
            <a:r>
              <a:rPr>
                <a:solidFill>
                  <a:srgbClr val="003B4F"/>
                </a:solidFill>
                <a:latin typeface="Consolas"/>
              </a:rPr>
              <a:t>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짧은 벡터가 반복되어 계산됩니다. 길이가 맞지 않으면 경고가 발생하거나 의도하지 않은 결과가 나올 수 있습니다.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실습 1: 유전자 목록 다루기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markers &lt;- </a:t>
            </a:r>
            <a:r>
              <a:rPr>
                <a:solidFill>
                  <a:srgbClr val="4758AB"/>
                </a:solidFill>
                <a:latin typeface="Consolas"/>
              </a:rPr>
              <a:t>c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20794D"/>
                </a:solidFill>
                <a:latin typeface="Consolas"/>
              </a:rPr>
              <a:t>"IL7R"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20794D"/>
                </a:solidFill>
                <a:latin typeface="Consolas"/>
              </a:rPr>
              <a:t>"CCR7"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20794D"/>
                </a:solidFill>
                <a:latin typeface="Consolas"/>
              </a:rPr>
              <a:t>"CD14"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20794D"/>
                </a:solidFill>
                <a:latin typeface="Consolas"/>
              </a:rPr>
              <a:t>"LYZ"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20794D"/>
                </a:solidFill>
                <a:latin typeface="Consolas"/>
              </a:rPr>
              <a:t>"MS4A1"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20794D"/>
                </a:solidFill>
                <a:latin typeface="Consolas"/>
              </a:rPr>
              <a:t>"NKG7"</a:t>
            </a:r>
            <a:r>
              <a:rPr>
                <a:solidFill>
                  <a:srgbClr val="003B4F"/>
                </a:solidFill>
                <a:latin typeface="Consolas"/>
              </a:rPr>
              <a:t>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/>
              <a:t>첫 번째와 세 번째 유전자를 선택하세요.</a:t>
            </a:r>
          </a:p>
          <a:p>
            <a:pPr lvl="0" indent="-457200" marL="457200">
              <a:buAutoNum type="arabicPeriod"/>
            </a:pPr>
            <a:r>
              <a:rPr/>
              <a:t>마지막 유전자를 제외하세요.</a:t>
            </a:r>
          </a:p>
          <a:p>
            <a:pPr lvl="0" indent="-457200" marL="457200">
              <a:buAutoNum type="arabicPeriod"/>
            </a:pPr>
            <a:r>
              <a:rPr>
                <a:latin typeface="Consolas"/>
              </a:rPr>
              <a:t>c("CD14", "MS4A1")</a:t>
            </a:r>
            <a:r>
              <a:rPr/>
              <a:t>에 포함되는 유전자만 선택하세요.</a:t>
            </a:r>
          </a:p>
          <a:p>
            <a:pPr lvl="0" indent="-457200" marL="457200">
              <a:buAutoNum type="arabicPeriod"/>
            </a:pPr>
            <a:r>
              <a:rPr/>
              <a:t>전체 원소 수를 확인하세요.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실습 2: QC 조건 만들기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n_feature &lt;- </a:t>
            </a:r>
            <a:r>
              <a:rPr>
                <a:solidFill>
                  <a:srgbClr val="4758AB"/>
                </a:solidFill>
                <a:latin typeface="Consolas"/>
              </a:rPr>
              <a:t>c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AD0000"/>
                </a:solidFill>
                <a:latin typeface="Consolas"/>
              </a:rPr>
              <a:t>150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AD0000"/>
                </a:solidFill>
                <a:latin typeface="Consolas"/>
              </a:rPr>
              <a:t>400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AD0000"/>
                </a:solidFill>
                <a:latin typeface="Consolas"/>
              </a:rPr>
              <a:t>1300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AD0000"/>
                </a:solidFill>
                <a:latin typeface="Consolas"/>
              </a:rPr>
              <a:t>2700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AD0000"/>
                </a:solidFill>
                <a:latin typeface="Consolas"/>
              </a:rPr>
              <a:t>800</a:t>
            </a:r>
            <a:r>
              <a:rPr>
                <a:solidFill>
                  <a:srgbClr val="003B4F"/>
                </a:solidFill>
                <a:latin typeface="Consolas"/>
              </a:rPr>
              <a:t>)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percent_mt &lt;- </a:t>
            </a:r>
            <a:r>
              <a:rPr>
                <a:solidFill>
                  <a:srgbClr val="4758AB"/>
                </a:solidFill>
                <a:latin typeface="Consolas"/>
              </a:rPr>
              <a:t>c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AD0000"/>
                </a:solidFill>
                <a:latin typeface="Consolas"/>
              </a:rPr>
              <a:t>3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AD0000"/>
                </a:solidFill>
                <a:latin typeface="Consolas"/>
              </a:rPr>
              <a:t>2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AD0000"/>
                </a:solidFill>
                <a:latin typeface="Consolas"/>
              </a:rPr>
              <a:t>7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AD0000"/>
                </a:solidFill>
                <a:latin typeface="Consolas"/>
              </a:rPr>
              <a:t>1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8F5902"/>
                </a:solidFill>
                <a:latin typeface="Consolas"/>
              </a:rPr>
              <a:t>NA</a:t>
            </a:r>
            <a:r>
              <a:rPr>
                <a:solidFill>
                  <a:srgbClr val="003B4F"/>
                </a:solidFill>
                <a:latin typeface="Consolas"/>
              </a:rPr>
              <a:t>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다음을 모두 만족하는 세포의 위치를 찾으세요.</a:t>
            </a:r>
          </a:p>
          <a:p>
            <a:pPr lvl="0"/>
            <a:r>
              <a:rPr>
                <a:latin typeface="Consolas"/>
              </a:rPr>
              <a:t>n_feature &gt; 200</a:t>
            </a:r>
          </a:p>
          <a:p>
            <a:pPr lvl="0"/>
            <a:r>
              <a:rPr>
                <a:latin typeface="Consolas"/>
              </a:rPr>
              <a:t>n_feature &lt; 2500</a:t>
            </a:r>
          </a:p>
          <a:p>
            <a:pPr lvl="0"/>
            <a:r>
              <a:rPr>
                <a:latin typeface="Consolas"/>
              </a:rPr>
              <a:t>percent_mt &lt; 5</a:t>
            </a:r>
          </a:p>
          <a:p>
            <a:pPr lvl="0"/>
            <a:r>
              <a:rPr>
                <a:latin typeface="Consolas"/>
              </a:rPr>
              <a:t>percent_mt</a:t>
            </a:r>
            <a:r>
              <a:rPr/>
              <a:t>가 결측값이 아님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4199D-F8B6-4376-AF86-1ED687BC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오늘의 핵심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931AF5-90FD-42EA-9606-6F13AE9C3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벡터는 같은 기본 자료형의 값을 순서대로 저장합니다.</a:t>
            </a:r>
          </a:p>
          <a:p>
            <a:pPr lvl="0"/>
            <a:r>
              <a:rPr>
                <a:latin typeface="Consolas"/>
              </a:rPr>
              <a:t>[ ]</a:t>
            </a:r>
            <a:r>
              <a:rPr/>
              <a:t> 안에 위치, 이름, logical 조건을 넣어 선택합니다.</a:t>
            </a:r>
          </a:p>
          <a:p>
            <a:pPr lvl="0"/>
            <a:r>
              <a:rPr/>
              <a:t>비교 연산은 logical 벡터를 반환합니다.</a:t>
            </a:r>
          </a:p>
          <a:p>
            <a:pPr lvl="0"/>
            <a:r>
              <a:rPr/>
              <a:t>벡터화 연산은 모든 원소에 같은 계산을 적용합니다.</a:t>
            </a:r>
          </a:p>
          <a:p>
            <a:pPr lvl="0"/>
            <a:r>
              <a:rPr>
                <a:latin typeface="Consolas"/>
              </a:rPr>
              <a:t>%in%</a:t>
            </a:r>
            <a:r>
              <a:rPr/>
              <a:t>, </a:t>
            </a:r>
            <a:r>
              <a:rPr>
                <a:latin typeface="Consolas"/>
              </a:rPr>
              <a:t>is.na()</a:t>
            </a:r>
            <a:r>
              <a:rPr/>
              <a:t>, </a:t>
            </a:r>
            <a:r>
              <a:rPr>
                <a:latin typeface="Consolas"/>
              </a:rPr>
              <a:t>!</a:t>
            </a:r>
            <a:r>
              <a:rPr/>
              <a:t>는 분석 대상을 고를 때 유용합니다.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4199D-F8B6-4376-AF86-1ED687BC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종료 점검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931AF5-90FD-42EA-9606-6F13AE9C3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/>
              <a:t>R의 첫 번째 벡터 위치는 몇 번인가요?</a:t>
            </a:r>
          </a:p>
          <a:p>
            <a:pPr lvl="0" indent="-457200" marL="457200">
              <a:buAutoNum type="arabicPeriod"/>
            </a:pPr>
            <a:r>
              <a:rPr>
                <a:latin typeface="Consolas"/>
              </a:rPr>
              <a:t>x[x &gt; 0]</a:t>
            </a:r>
            <a:r>
              <a:rPr/>
              <a:t>는 무엇을 반환하나요?</a:t>
            </a:r>
          </a:p>
          <a:p>
            <a:pPr lvl="0" indent="-457200" marL="457200">
              <a:buAutoNum type="arabicPeriod"/>
            </a:pPr>
            <a:r>
              <a:rPr>
                <a:latin typeface="Consolas"/>
              </a:rPr>
              <a:t>%in%</a:t>
            </a:r>
            <a:r>
              <a:rPr/>
              <a:t>은 어떤 질문에 답하나요?</a:t>
            </a:r>
          </a:p>
          <a:p>
            <a:pPr lvl="0" indent="-457200" marL="457200">
              <a:buAutoNum type="arabicPeriod"/>
            </a:pPr>
            <a:r>
              <a:rPr/>
              <a:t>길이가 다른 두 벡터를 계산할 때 무엇을 주의해야 하나요?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4199D-F8B6-4376-AF86-1ED687BC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다음 회차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931AF5-90FD-42EA-9606-6F13AE9C3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벡터를 함수에 전달하면 분석이 수행됩니다. 다음 시간에는 함수, 인자, 반환값을 읽는 법을 배웁니다.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Office PowerPoint</Application>
  <PresentationFormat>사용자 지정</PresentationFormat>
  <Paragraphs>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Pretendard</vt:lpstr>
      <vt:lpstr>맑은 고딕</vt:lpstr>
      <vt:lpstr>Arial</vt:lpstr>
      <vt:lpstr>Consolas</vt:lpstr>
      <vt:lpstr>Office 테마</vt:lpstr>
      <vt:lpstr>Seurat 분석을 위한 R 프로그래밍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벡터와 벡터화 연산</dc:title>
  <dc:creator>4회차</dc:creator>
  <cp:keywords/>
  <dcterms:created xsi:type="dcterms:W3CDTF">2026-07-13T14:36:50Z</dcterms:created>
  <dcterms:modified xsi:type="dcterms:W3CDTF">2026-07-13T14:36:50Z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subtitle">
    <vt:lpwstr>유전자 목록과 세포별 QC 값 다루기</vt:lpwstr>
  </property>
  <property fmtid="{D5CDD505-2E9C-101B-9397-08002B2CF9AE}" pid="10" name="toc-title">
    <vt:lpwstr>목차</vt:lpwstr>
  </property>
</Properties>
</file>